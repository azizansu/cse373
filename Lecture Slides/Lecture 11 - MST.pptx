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256" r:id="rId2"/>
    <p:sldId id="257" r:id="rId3"/>
    <p:sldId id="258" r:id="rId4"/>
    <p:sldId id="286" r:id="rId5"/>
    <p:sldId id="287" r:id="rId6"/>
    <p:sldId id="288" r:id="rId7"/>
    <p:sldId id="261" r:id="rId8"/>
    <p:sldId id="262" r:id="rId9"/>
    <p:sldId id="263" r:id="rId10"/>
    <p:sldId id="264" r:id="rId11"/>
    <p:sldId id="267" r:id="rId12"/>
    <p:sldId id="270" r:id="rId13"/>
    <p:sldId id="269" r:id="rId14"/>
    <p:sldId id="271" r:id="rId15"/>
    <p:sldId id="272" r:id="rId16"/>
    <p:sldId id="291" r:id="rId17"/>
    <p:sldId id="290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279" r:id="rId28"/>
    <p:sldId id="280" r:id="rId29"/>
    <p:sldId id="306" r:id="rId30"/>
    <p:sldId id="307" r:id="rId31"/>
    <p:sldId id="281" r:id="rId32"/>
    <p:sldId id="305" r:id="rId33"/>
    <p:sldId id="301" r:id="rId34"/>
    <p:sldId id="282" r:id="rId35"/>
    <p:sldId id="302" r:id="rId36"/>
    <p:sldId id="283" r:id="rId37"/>
    <p:sldId id="303" r:id="rId38"/>
    <p:sldId id="284" r:id="rId39"/>
    <p:sldId id="304" r:id="rId40"/>
    <p:sldId id="285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2C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707" autoAdjust="0"/>
  </p:normalViewPr>
  <p:slideViewPr>
    <p:cSldViewPr snapToGrid="0">
      <p:cViewPr varScale="1">
        <p:scale>
          <a:sx n="119" d="100"/>
          <a:sy n="119" d="100"/>
        </p:scale>
        <p:origin x="137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71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A3797-872C-47C4-85CC-A7A373325DBF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36E7A3-2378-4B71-B4BC-0FE0947082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78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6E7A3-2378-4B71-B4BC-0FE0947082E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463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CE5AFD-D0EA-4C92-8812-5A0DD3662FD4}" type="slidenum">
              <a:rPr lang="en-US"/>
              <a:pPr/>
              <a:t>30</a:t>
            </a:fld>
            <a:endParaRPr lang="en-US"/>
          </a:p>
        </p:txBody>
      </p:sp>
      <p:sp>
        <p:nvSpPr>
          <p:cNvPr id="15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 w="12700" cap="flat">
            <a:solidFill>
              <a:schemeClr val="tx1"/>
            </a:solidFill>
          </a:ln>
        </p:spPr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2066" tIns="46034" rIns="92066" bIns="46034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6E7A3-2378-4B71-B4BC-0FE0947082E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536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5575" y="2951163"/>
            <a:ext cx="7772400" cy="2387600"/>
          </a:xfrm>
        </p:spPr>
        <p:txBody>
          <a:bodyPr anchor="b">
            <a:noAutofit/>
          </a:bodyPr>
          <a:lstStyle>
            <a:lvl1pPr algn="l">
              <a:defRPr sz="6600" b="0">
                <a:solidFill>
                  <a:schemeClr val="tx1"/>
                </a:solidFill>
                <a:latin typeface="Impact" panose="020B0806030902050204" pitchFamily="34" charset="0"/>
                <a:ea typeface="Gungsuh" panose="02030600000101010101" pitchFamily="18" charset="-127"/>
              </a:defRPr>
            </a:lvl1pPr>
          </a:lstStyle>
          <a:p>
            <a:r>
              <a:rPr lang="en-US" dirty="0"/>
              <a:t>Lecture 01</a:t>
            </a:r>
            <a:br>
              <a:rPr lang="en-US" dirty="0"/>
            </a:b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574" y="5443538"/>
            <a:ext cx="4352925" cy="4111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Britannic Bold" panose="020B090306070302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5136-177F-4136-B2C3-285507DF2570}" type="datetime1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335" y="106136"/>
            <a:ext cx="4359729" cy="326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991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AC08-B571-477C-BD20-FFD36682D9AB}" type="datetime1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9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83C5D-064A-410E-8F77-253C1D6D6892}" type="datetime1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39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0D1A6-A076-4CAF-9BCC-01C7387BA29C}" type="datetime1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46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6A17A-A23D-4A8D-95EB-FAFDE24F4B48}" type="datetime1">
              <a:rPr lang="en-US" smtClean="0"/>
              <a:pPr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98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C010A-2413-4423-B821-9D1756BC60B1}" type="datetime1">
              <a:rPr lang="en-US" smtClean="0"/>
              <a:pPr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011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0A42B-EAC5-43E8-A6A1-BCE0C41F2E96}" type="datetime1">
              <a:rPr lang="en-US" smtClean="0"/>
              <a:pPr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2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4EA7-2EAA-4B0E-BB9C-490F1FA977A4}" type="datetime1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41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F80D-9B55-4C3E-B406-139613ECF2A8}" type="datetime1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81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9B530-E61E-41D0-87DF-D14DEA162983}" type="datetime1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32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34B5C-7A83-4E22-9C6B-322E88DC3E45}" type="datetime1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07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1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33524AA8-D094-4577-922C-314BE18CA6F9}" type="datetime1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A48B2152-2B3E-44A1-8FD0-4FF9B0873A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12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50838" y="1214438"/>
            <a:ext cx="8229600" cy="50768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53D12D-74AA-40D0-BE9D-6911DB6EFC5D}" type="datetime1">
              <a:rPr lang="en-US" smtClean="0"/>
              <a:pPr>
                <a:defRPr/>
              </a:pPr>
              <a:t>12/7/2025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F016DD-A2D6-41A3-94D4-B9B173881C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1761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557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92DF3-7997-4AEA-8D65-081168CC9ABD}" type="datetime1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00300" y="6356351"/>
            <a:ext cx="427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610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9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Lecture 11</a:t>
            </a:r>
            <a:br>
              <a:rPr lang="en-US" dirty="0"/>
            </a:br>
            <a:r>
              <a:rPr lang="en-US" sz="3200" dirty="0"/>
              <a:t>Graph-Based Algorithms</a:t>
            </a:r>
            <a:endParaRPr lang="en-US" sz="8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574" y="5443538"/>
            <a:ext cx="5008609" cy="41116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CSE373: Design and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4108247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>
                <a:ea typeface="PMingLiU" panose="02020500000000000000" pitchFamily="18" charset="-120"/>
              </a:rPr>
              <a:t>Definition of MST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1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ea typeface="PMingLiU" panose="02020500000000000000" pitchFamily="18" charset="-120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𝐺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=(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𝑉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,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𝐸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)</m:t>
                    </m:r>
                  </m:oMath>
                </a14:m>
                <a:r>
                  <a:rPr lang="en-US" altLang="zh-TW" sz="2400" dirty="0">
                    <a:ea typeface="PMingLiU" panose="02020500000000000000" pitchFamily="18" charset="-120"/>
                  </a:rPr>
                  <a:t> be  a connected, undirected graph.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ea typeface="PMingLiU" panose="02020500000000000000" pitchFamily="18" charset="-120"/>
                  </a:rPr>
                  <a:t>For each edge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(</m:t>
                    </m:r>
                    <m:r>
                      <a:rPr lang="en-US" altLang="zh-TW" sz="2400" i="1" dirty="0" err="1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𝑢</m:t>
                    </m:r>
                    <m:r>
                      <a:rPr lang="en-US" altLang="zh-TW" sz="2400" i="1" dirty="0" err="1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,</m:t>
                    </m:r>
                    <m:r>
                      <a:rPr lang="en-US" altLang="zh-TW" sz="2400" i="1" dirty="0" err="1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𝑣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)</m:t>
                    </m:r>
                  </m:oMath>
                </a14:m>
                <a:r>
                  <a:rPr lang="en-US" altLang="zh-TW" sz="2400" dirty="0">
                    <a:ea typeface="PMingLiU" panose="02020500000000000000" pitchFamily="18" charset="-120"/>
                  </a:rPr>
                  <a:t> in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𝐸</m:t>
                    </m:r>
                  </m:oMath>
                </a14:m>
                <a:r>
                  <a:rPr lang="en-US" altLang="zh-TW" sz="2400" dirty="0">
                    <a:ea typeface="PMingLiU" panose="02020500000000000000" pitchFamily="18" charset="-120"/>
                  </a:rPr>
                  <a:t>, we have a weight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𝑤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(</m:t>
                    </m:r>
                    <m:r>
                      <a:rPr lang="en-US" altLang="zh-TW" sz="2400" i="1" dirty="0" err="1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𝑢</m:t>
                    </m:r>
                    <m:r>
                      <a:rPr lang="en-US" altLang="zh-TW" sz="2400" i="1" dirty="0" err="1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,</m:t>
                    </m:r>
                    <m:r>
                      <a:rPr lang="en-US" altLang="zh-TW" sz="2400" i="1" dirty="0" err="1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𝑣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)</m:t>
                    </m:r>
                  </m:oMath>
                </a14:m>
                <a:r>
                  <a:rPr lang="en-US" altLang="zh-TW" sz="2400" dirty="0">
                    <a:ea typeface="PMingLiU" panose="02020500000000000000" pitchFamily="18" charset="-120"/>
                  </a:rPr>
                  <a:t> specifying the cost (length of edge) to connect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𝑢</m:t>
                    </m:r>
                  </m:oMath>
                </a14:m>
                <a:r>
                  <a:rPr lang="en-US" altLang="zh-TW" sz="2400" dirty="0">
                    <a:ea typeface="PMingLiU" panose="02020500000000000000" pitchFamily="18" charset="-12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𝑣</m:t>
                    </m:r>
                  </m:oMath>
                </a14:m>
                <a:r>
                  <a:rPr lang="en-US" altLang="zh-TW" sz="2400" dirty="0">
                    <a:ea typeface="PMingLiU" panose="02020500000000000000" pitchFamily="18" charset="-120"/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ea typeface="PMingLiU" panose="02020500000000000000" pitchFamily="18" charset="-120"/>
                  </a:rPr>
                  <a:t>We wish to find a (acyclic) subset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𝑇</m:t>
                    </m:r>
                  </m:oMath>
                </a14:m>
                <a:r>
                  <a:rPr lang="en-US" altLang="zh-TW" sz="2400" i="1" dirty="0">
                    <a:ea typeface="PMingLiU" panose="02020500000000000000" pitchFamily="18" charset="-120"/>
                  </a:rPr>
                  <a:t> </a:t>
                </a:r>
                <a:r>
                  <a:rPr lang="en-US" altLang="zh-TW" sz="2400" dirty="0">
                    <a:ea typeface="PMingLiU" panose="02020500000000000000" pitchFamily="18" charset="-120"/>
                  </a:rPr>
                  <a:t>of 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𝐸</m:t>
                    </m:r>
                  </m:oMath>
                </a14:m>
                <a:r>
                  <a:rPr lang="en-US" altLang="zh-TW" sz="2400" dirty="0">
                    <a:ea typeface="PMingLiU" panose="02020500000000000000" pitchFamily="18" charset="-120"/>
                  </a:rPr>
                  <a:t> that connects all of the vertices in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𝑉</m:t>
                    </m:r>
                  </m:oMath>
                </a14:m>
                <a:r>
                  <a:rPr lang="en-US" altLang="zh-TW" sz="2400" dirty="0">
                    <a:ea typeface="PMingLiU" panose="02020500000000000000" pitchFamily="18" charset="-120"/>
                  </a:rPr>
                  <a:t> and whose total weight is minimized.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ea typeface="PMingLiU" panose="02020500000000000000" pitchFamily="18" charset="-120"/>
                  </a:rPr>
                  <a:t>Since the total weight is minimized, the subset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𝑇</m:t>
                    </m:r>
                  </m:oMath>
                </a14:m>
                <a:r>
                  <a:rPr lang="en-US" altLang="zh-TW" sz="2400" dirty="0">
                    <a:ea typeface="PMingLiU" panose="02020500000000000000" pitchFamily="18" charset="-120"/>
                  </a:rPr>
                  <a:t> must be  acyclic (no circuit).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ea typeface="PMingLiU" panose="02020500000000000000" pitchFamily="18" charset="-120"/>
                  </a:rPr>
                  <a:t>Thus,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𝑇</m:t>
                    </m:r>
                  </m:oMath>
                </a14:m>
                <a:r>
                  <a:rPr lang="en-US" altLang="zh-TW" sz="2400" dirty="0">
                    <a:ea typeface="PMingLiU" panose="02020500000000000000" pitchFamily="18" charset="-120"/>
                  </a:rPr>
                  <a:t> is a tree. We call it a </a:t>
                </a:r>
                <a:r>
                  <a:rPr lang="en-US" altLang="zh-TW" sz="2400" dirty="0">
                    <a:solidFill>
                      <a:schemeClr val="accent2"/>
                    </a:solidFill>
                    <a:ea typeface="PMingLiU" panose="02020500000000000000" pitchFamily="18" charset="-120"/>
                  </a:rPr>
                  <a:t>spanning tree</a:t>
                </a:r>
                <a:r>
                  <a:rPr lang="en-US" altLang="zh-TW" sz="2400" dirty="0">
                    <a:ea typeface="PMingLiU" panose="02020500000000000000" pitchFamily="18" charset="-120"/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ea typeface="PMingLiU" panose="02020500000000000000" pitchFamily="18" charset="-120"/>
                  </a:rPr>
                  <a:t>The problem of determining the tree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𝑇</m:t>
                    </m:r>
                  </m:oMath>
                </a14:m>
                <a:r>
                  <a:rPr lang="en-US" altLang="zh-TW" sz="2400" dirty="0">
                    <a:ea typeface="PMingLiU" panose="02020500000000000000" pitchFamily="18" charset="-120"/>
                  </a:rPr>
                  <a:t> is called the </a:t>
                </a:r>
                <a:r>
                  <a:rPr lang="en-US" altLang="zh-TW" sz="2400" dirty="0">
                    <a:solidFill>
                      <a:schemeClr val="accent2"/>
                    </a:solidFill>
                    <a:ea typeface="PMingLiU" panose="02020500000000000000" pitchFamily="18" charset="-120"/>
                  </a:rPr>
                  <a:t>minimum-spanning-tree problem</a:t>
                </a:r>
                <a:r>
                  <a:rPr lang="en-US" altLang="zh-TW" sz="2400" dirty="0">
                    <a:ea typeface="PMingLiU" panose="02020500000000000000" pitchFamily="18" charset="-120"/>
                  </a:rPr>
                  <a:t>.</a:t>
                </a:r>
              </a:p>
            </p:txBody>
          </p:sp>
        </mc:Choice>
        <mc:Fallback xmlns="">
          <p:sp>
            <p:nvSpPr>
              <p:cNvPr id="71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970" t="-1630" r="-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1492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Application of MST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>
                <a:ea typeface="PMingLiU" panose="02020500000000000000" pitchFamily="18" charset="-120"/>
              </a:rPr>
              <a:t>In the design of electronic circuitry, it is often necessary to make a set of pins electrically equivalent by wiring them together.</a:t>
            </a:r>
          </a:p>
          <a:p>
            <a:r>
              <a:rPr lang="en-US" altLang="zh-TW" sz="2400" dirty="0">
                <a:ea typeface="PMingLiU" panose="02020500000000000000" pitchFamily="18" charset="-120"/>
              </a:rPr>
              <a:t>To interconnect n pins, we can use n-1 wires, each connecting two pins.</a:t>
            </a:r>
          </a:p>
          <a:p>
            <a:r>
              <a:rPr lang="en-US" altLang="zh-TW" sz="2400" dirty="0">
                <a:ea typeface="PMingLiU" panose="02020500000000000000" pitchFamily="18" charset="-120"/>
              </a:rPr>
              <a:t>We want to minimize the total length of the wires.</a:t>
            </a:r>
          </a:p>
          <a:p>
            <a:r>
              <a:rPr lang="en-US" altLang="zh-TW" sz="2400" dirty="0">
                <a:ea typeface="PMingLiU" panose="02020500000000000000" pitchFamily="18" charset="-120"/>
              </a:rPr>
              <a:t>Minimum Spanning Trees can be used to model this problem.</a:t>
            </a:r>
          </a:p>
          <a:p>
            <a:pPr>
              <a:buFontTx/>
              <a:buNone/>
            </a:pPr>
            <a:endParaRPr lang="en-US" altLang="zh-TW" sz="2400" dirty="0">
              <a:ea typeface="PMingLiU" panose="02020500000000000000" pitchFamily="18" charset="-120"/>
            </a:endParaRPr>
          </a:p>
        </p:txBody>
      </p:sp>
      <p:pic>
        <p:nvPicPr>
          <p:cNvPr id="1043" name="Picture 19" descr="Image result for circu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0465" y="3558381"/>
            <a:ext cx="2928144" cy="2928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5039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Application of MST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Problem: Laying Telephone Wire</a:t>
            </a:r>
            <a:endParaRPr lang="en-US" dirty="0"/>
          </a:p>
        </p:txBody>
      </p:sp>
      <p:grpSp>
        <p:nvGrpSpPr>
          <p:cNvPr id="4100" name="Group 3"/>
          <p:cNvGrpSpPr>
            <a:grpSpLocks/>
          </p:cNvGrpSpPr>
          <p:nvPr/>
        </p:nvGrpSpPr>
        <p:grpSpPr bwMode="auto">
          <a:xfrm>
            <a:off x="914400" y="3810000"/>
            <a:ext cx="533400" cy="533400"/>
            <a:chOff x="576" y="2400"/>
            <a:chExt cx="336" cy="336"/>
          </a:xfrm>
        </p:grpSpPr>
        <p:sp>
          <p:nvSpPr>
            <p:cNvPr id="4159" name="AutoShape 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60" name="Rectangle 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61" name="Rectangle 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62" name="Rectangle 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4101" name="Group 8"/>
          <p:cNvGrpSpPr>
            <a:grpSpLocks/>
          </p:cNvGrpSpPr>
          <p:nvPr/>
        </p:nvGrpSpPr>
        <p:grpSpPr bwMode="auto">
          <a:xfrm>
            <a:off x="4800600" y="4572000"/>
            <a:ext cx="533400" cy="533400"/>
            <a:chOff x="576" y="2400"/>
            <a:chExt cx="336" cy="336"/>
          </a:xfrm>
        </p:grpSpPr>
        <p:sp>
          <p:nvSpPr>
            <p:cNvPr id="4155" name="AutoShape 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56" name="Rectangle 1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57" name="Rectangle 1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58" name="Rectangle 1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4102" name="Group 13"/>
          <p:cNvGrpSpPr>
            <a:grpSpLocks/>
          </p:cNvGrpSpPr>
          <p:nvPr/>
        </p:nvGrpSpPr>
        <p:grpSpPr bwMode="auto">
          <a:xfrm>
            <a:off x="3352800" y="2133600"/>
            <a:ext cx="533400" cy="533400"/>
            <a:chOff x="576" y="2400"/>
            <a:chExt cx="336" cy="336"/>
          </a:xfrm>
        </p:grpSpPr>
        <p:sp>
          <p:nvSpPr>
            <p:cNvPr id="4151" name="AutoShape 1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52" name="Rectangle 1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53" name="Rectangle 1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54" name="Rectangle 1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4103" name="Group 18"/>
          <p:cNvGrpSpPr>
            <a:grpSpLocks/>
          </p:cNvGrpSpPr>
          <p:nvPr/>
        </p:nvGrpSpPr>
        <p:grpSpPr bwMode="auto">
          <a:xfrm>
            <a:off x="6019800" y="1905000"/>
            <a:ext cx="533400" cy="533400"/>
            <a:chOff x="576" y="2400"/>
            <a:chExt cx="336" cy="336"/>
          </a:xfrm>
        </p:grpSpPr>
        <p:sp>
          <p:nvSpPr>
            <p:cNvPr id="4147" name="AutoShape 1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48" name="Rectangle 2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49" name="Rectangle 2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50" name="Rectangle 2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4104" name="Group 23"/>
          <p:cNvGrpSpPr>
            <a:grpSpLocks/>
          </p:cNvGrpSpPr>
          <p:nvPr/>
        </p:nvGrpSpPr>
        <p:grpSpPr bwMode="auto">
          <a:xfrm>
            <a:off x="2362200" y="2971800"/>
            <a:ext cx="533400" cy="533400"/>
            <a:chOff x="576" y="2400"/>
            <a:chExt cx="336" cy="336"/>
          </a:xfrm>
        </p:grpSpPr>
        <p:sp>
          <p:nvSpPr>
            <p:cNvPr id="4143" name="AutoShape 2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44" name="Rectangle 2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45" name="Rectangle 2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46" name="Rectangle 2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4105" name="Group 28"/>
          <p:cNvGrpSpPr>
            <a:grpSpLocks/>
          </p:cNvGrpSpPr>
          <p:nvPr/>
        </p:nvGrpSpPr>
        <p:grpSpPr bwMode="auto">
          <a:xfrm>
            <a:off x="1143000" y="2209800"/>
            <a:ext cx="533400" cy="533400"/>
            <a:chOff x="576" y="2400"/>
            <a:chExt cx="336" cy="336"/>
          </a:xfrm>
        </p:grpSpPr>
        <p:sp>
          <p:nvSpPr>
            <p:cNvPr id="4139" name="AutoShape 2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40" name="Rectangle 3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41" name="Rectangle 3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42" name="Rectangle 3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4106" name="Group 33"/>
          <p:cNvGrpSpPr>
            <a:grpSpLocks/>
          </p:cNvGrpSpPr>
          <p:nvPr/>
        </p:nvGrpSpPr>
        <p:grpSpPr bwMode="auto">
          <a:xfrm>
            <a:off x="1828800" y="1524000"/>
            <a:ext cx="533400" cy="533400"/>
            <a:chOff x="576" y="2400"/>
            <a:chExt cx="336" cy="336"/>
          </a:xfrm>
        </p:grpSpPr>
        <p:sp>
          <p:nvSpPr>
            <p:cNvPr id="4135" name="AutoShape 3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36" name="Rectangle 3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37" name="Rectangle 3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38" name="Rectangle 3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4107" name="Group 38"/>
          <p:cNvGrpSpPr>
            <a:grpSpLocks/>
          </p:cNvGrpSpPr>
          <p:nvPr/>
        </p:nvGrpSpPr>
        <p:grpSpPr bwMode="auto">
          <a:xfrm>
            <a:off x="1981200" y="3962400"/>
            <a:ext cx="533400" cy="533400"/>
            <a:chOff x="576" y="2400"/>
            <a:chExt cx="336" cy="336"/>
          </a:xfrm>
        </p:grpSpPr>
        <p:sp>
          <p:nvSpPr>
            <p:cNvPr id="4131" name="AutoShape 3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32" name="Rectangle 4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33" name="Rectangle 4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34" name="Rectangle 4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4108" name="Group 43"/>
          <p:cNvGrpSpPr>
            <a:grpSpLocks/>
          </p:cNvGrpSpPr>
          <p:nvPr/>
        </p:nvGrpSpPr>
        <p:grpSpPr bwMode="auto">
          <a:xfrm>
            <a:off x="4267200" y="3048000"/>
            <a:ext cx="1371600" cy="762000"/>
            <a:chOff x="2688" y="2064"/>
            <a:chExt cx="864" cy="480"/>
          </a:xfrm>
        </p:grpSpPr>
        <p:sp>
          <p:nvSpPr>
            <p:cNvPr id="4120" name="Rectangle 44"/>
            <p:cNvSpPr>
              <a:spLocks noChangeArrowheads="1"/>
            </p:cNvSpPr>
            <p:nvPr/>
          </p:nvSpPr>
          <p:spPr bwMode="auto">
            <a:xfrm>
              <a:off x="2688" y="2064"/>
              <a:ext cx="864" cy="48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21" name="Rectangle 45" descr="Large grid"/>
            <p:cNvSpPr>
              <a:spLocks noChangeArrowheads="1"/>
            </p:cNvSpPr>
            <p:nvPr/>
          </p:nvSpPr>
          <p:spPr bwMode="auto">
            <a:xfrm>
              <a:off x="2784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22" name="Rectangle 46" descr="Large grid"/>
            <p:cNvSpPr>
              <a:spLocks noChangeArrowheads="1"/>
            </p:cNvSpPr>
            <p:nvPr/>
          </p:nvSpPr>
          <p:spPr bwMode="auto">
            <a:xfrm>
              <a:off x="2928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23" name="Rectangle 47" descr="Large grid"/>
            <p:cNvSpPr>
              <a:spLocks noChangeArrowheads="1"/>
            </p:cNvSpPr>
            <p:nvPr/>
          </p:nvSpPr>
          <p:spPr bwMode="auto">
            <a:xfrm>
              <a:off x="3072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24" name="Rectangle 48" descr="Large grid"/>
            <p:cNvSpPr>
              <a:spLocks noChangeArrowheads="1"/>
            </p:cNvSpPr>
            <p:nvPr/>
          </p:nvSpPr>
          <p:spPr bwMode="auto">
            <a:xfrm>
              <a:off x="3216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25" name="Rectangle 49" descr="Large grid"/>
            <p:cNvSpPr>
              <a:spLocks noChangeArrowheads="1"/>
            </p:cNvSpPr>
            <p:nvPr/>
          </p:nvSpPr>
          <p:spPr bwMode="auto">
            <a:xfrm>
              <a:off x="2784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26" name="Rectangle 50" descr="Large grid"/>
            <p:cNvSpPr>
              <a:spLocks noChangeArrowheads="1"/>
            </p:cNvSpPr>
            <p:nvPr/>
          </p:nvSpPr>
          <p:spPr bwMode="auto">
            <a:xfrm>
              <a:off x="2928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27" name="Rectangle 51" descr="Large grid"/>
            <p:cNvSpPr>
              <a:spLocks noChangeArrowheads="1"/>
            </p:cNvSpPr>
            <p:nvPr/>
          </p:nvSpPr>
          <p:spPr bwMode="auto">
            <a:xfrm>
              <a:off x="3072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28" name="Rectangle 52" descr="Large grid"/>
            <p:cNvSpPr>
              <a:spLocks noChangeArrowheads="1"/>
            </p:cNvSpPr>
            <p:nvPr/>
          </p:nvSpPr>
          <p:spPr bwMode="auto">
            <a:xfrm>
              <a:off x="3216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29" name="Rectangle 53" descr="Large grid"/>
            <p:cNvSpPr>
              <a:spLocks noChangeArrowheads="1"/>
            </p:cNvSpPr>
            <p:nvPr/>
          </p:nvSpPr>
          <p:spPr bwMode="auto">
            <a:xfrm>
              <a:off x="3360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30" name="Rectangle 54" descr="Large grid"/>
            <p:cNvSpPr>
              <a:spLocks noChangeArrowheads="1"/>
            </p:cNvSpPr>
            <p:nvPr/>
          </p:nvSpPr>
          <p:spPr bwMode="auto">
            <a:xfrm>
              <a:off x="3360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109" name="Text Box 55"/>
          <p:cNvSpPr txBox="1">
            <a:spLocks noChangeArrowheads="1"/>
          </p:cNvSpPr>
          <p:nvPr/>
        </p:nvSpPr>
        <p:spPr bwMode="auto">
          <a:xfrm>
            <a:off x="4191000" y="3810000"/>
            <a:ext cx="153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Central office</a:t>
            </a:r>
          </a:p>
        </p:txBody>
      </p:sp>
      <p:grpSp>
        <p:nvGrpSpPr>
          <p:cNvPr id="4110" name="Group 56"/>
          <p:cNvGrpSpPr>
            <a:grpSpLocks/>
          </p:cNvGrpSpPr>
          <p:nvPr/>
        </p:nvGrpSpPr>
        <p:grpSpPr bwMode="auto">
          <a:xfrm>
            <a:off x="6934200" y="4495800"/>
            <a:ext cx="533400" cy="533400"/>
            <a:chOff x="576" y="2400"/>
            <a:chExt cx="336" cy="336"/>
          </a:xfrm>
        </p:grpSpPr>
        <p:sp>
          <p:nvSpPr>
            <p:cNvPr id="4116" name="AutoShape 57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17" name="Rectangle 58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18" name="Rectangle 59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19" name="Rectangle 60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4111" name="Group 61"/>
          <p:cNvGrpSpPr>
            <a:grpSpLocks/>
          </p:cNvGrpSpPr>
          <p:nvPr/>
        </p:nvGrpSpPr>
        <p:grpSpPr bwMode="auto">
          <a:xfrm>
            <a:off x="6172200" y="4495800"/>
            <a:ext cx="533400" cy="533400"/>
            <a:chOff x="576" y="2400"/>
            <a:chExt cx="336" cy="336"/>
          </a:xfrm>
        </p:grpSpPr>
        <p:sp>
          <p:nvSpPr>
            <p:cNvPr id="4112" name="AutoShape 62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13" name="Rectangle 63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14" name="Rectangle 64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15" name="Rectangle 65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0912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Application of MST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Wiring: Naïve Approach</a:t>
            </a:r>
            <a:endParaRPr lang="en-US" dirty="0"/>
          </a:p>
        </p:txBody>
      </p:sp>
      <p:grpSp>
        <p:nvGrpSpPr>
          <p:cNvPr id="5124" name="Group 3"/>
          <p:cNvGrpSpPr>
            <a:grpSpLocks/>
          </p:cNvGrpSpPr>
          <p:nvPr/>
        </p:nvGrpSpPr>
        <p:grpSpPr bwMode="auto">
          <a:xfrm>
            <a:off x="914400" y="3810000"/>
            <a:ext cx="533400" cy="533400"/>
            <a:chOff x="576" y="2400"/>
            <a:chExt cx="336" cy="336"/>
          </a:xfrm>
        </p:grpSpPr>
        <p:sp>
          <p:nvSpPr>
            <p:cNvPr id="5194" name="AutoShape 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95" name="Rectangle 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96" name="Rectangle 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97" name="Rectangle 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5125" name="Group 8"/>
          <p:cNvGrpSpPr>
            <a:grpSpLocks/>
          </p:cNvGrpSpPr>
          <p:nvPr/>
        </p:nvGrpSpPr>
        <p:grpSpPr bwMode="auto">
          <a:xfrm>
            <a:off x="4800600" y="4572000"/>
            <a:ext cx="533400" cy="533400"/>
            <a:chOff x="576" y="2400"/>
            <a:chExt cx="336" cy="336"/>
          </a:xfrm>
        </p:grpSpPr>
        <p:sp>
          <p:nvSpPr>
            <p:cNvPr id="5190" name="AutoShape 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91" name="Rectangle 1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92" name="Rectangle 1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93" name="Rectangle 1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5126" name="Group 13"/>
          <p:cNvGrpSpPr>
            <a:grpSpLocks/>
          </p:cNvGrpSpPr>
          <p:nvPr/>
        </p:nvGrpSpPr>
        <p:grpSpPr bwMode="auto">
          <a:xfrm>
            <a:off x="3352800" y="2133600"/>
            <a:ext cx="533400" cy="533400"/>
            <a:chOff x="576" y="2400"/>
            <a:chExt cx="336" cy="336"/>
          </a:xfrm>
        </p:grpSpPr>
        <p:sp>
          <p:nvSpPr>
            <p:cNvPr id="5186" name="AutoShape 1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87" name="Rectangle 1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88" name="Rectangle 1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89" name="Rectangle 1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5127" name="Group 18"/>
          <p:cNvGrpSpPr>
            <a:grpSpLocks/>
          </p:cNvGrpSpPr>
          <p:nvPr/>
        </p:nvGrpSpPr>
        <p:grpSpPr bwMode="auto">
          <a:xfrm>
            <a:off x="6019800" y="1905000"/>
            <a:ext cx="533400" cy="533400"/>
            <a:chOff x="576" y="2400"/>
            <a:chExt cx="336" cy="336"/>
          </a:xfrm>
        </p:grpSpPr>
        <p:sp>
          <p:nvSpPr>
            <p:cNvPr id="5182" name="AutoShape 1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83" name="Rectangle 2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84" name="Rectangle 2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85" name="Rectangle 2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5128" name="Group 23"/>
          <p:cNvGrpSpPr>
            <a:grpSpLocks/>
          </p:cNvGrpSpPr>
          <p:nvPr/>
        </p:nvGrpSpPr>
        <p:grpSpPr bwMode="auto">
          <a:xfrm>
            <a:off x="2362200" y="2971800"/>
            <a:ext cx="533400" cy="533400"/>
            <a:chOff x="576" y="2400"/>
            <a:chExt cx="336" cy="336"/>
          </a:xfrm>
        </p:grpSpPr>
        <p:sp>
          <p:nvSpPr>
            <p:cNvPr id="5178" name="AutoShape 2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79" name="Rectangle 2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80" name="Rectangle 2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81" name="Rectangle 2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5129" name="Group 28"/>
          <p:cNvGrpSpPr>
            <a:grpSpLocks/>
          </p:cNvGrpSpPr>
          <p:nvPr/>
        </p:nvGrpSpPr>
        <p:grpSpPr bwMode="auto">
          <a:xfrm>
            <a:off x="1143000" y="2209800"/>
            <a:ext cx="533400" cy="533400"/>
            <a:chOff x="576" y="2400"/>
            <a:chExt cx="336" cy="336"/>
          </a:xfrm>
        </p:grpSpPr>
        <p:sp>
          <p:nvSpPr>
            <p:cNvPr id="5174" name="AutoShape 2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75" name="Rectangle 3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76" name="Rectangle 3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77" name="Rectangle 3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5130" name="Group 33"/>
          <p:cNvGrpSpPr>
            <a:grpSpLocks/>
          </p:cNvGrpSpPr>
          <p:nvPr/>
        </p:nvGrpSpPr>
        <p:grpSpPr bwMode="auto">
          <a:xfrm>
            <a:off x="1828800" y="1524000"/>
            <a:ext cx="533400" cy="533400"/>
            <a:chOff x="576" y="2400"/>
            <a:chExt cx="336" cy="336"/>
          </a:xfrm>
        </p:grpSpPr>
        <p:sp>
          <p:nvSpPr>
            <p:cNvPr id="5170" name="AutoShape 3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71" name="Rectangle 3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72" name="Rectangle 3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73" name="Rectangle 3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5131" name="Group 38"/>
          <p:cNvGrpSpPr>
            <a:grpSpLocks/>
          </p:cNvGrpSpPr>
          <p:nvPr/>
        </p:nvGrpSpPr>
        <p:grpSpPr bwMode="auto">
          <a:xfrm>
            <a:off x="1981200" y="3962400"/>
            <a:ext cx="533400" cy="533400"/>
            <a:chOff x="576" y="2400"/>
            <a:chExt cx="336" cy="336"/>
          </a:xfrm>
        </p:grpSpPr>
        <p:sp>
          <p:nvSpPr>
            <p:cNvPr id="5166" name="AutoShape 3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67" name="Rectangle 4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68" name="Rectangle 4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69" name="Rectangle 4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5132" name="Text Box 43"/>
          <p:cNvSpPr txBox="1">
            <a:spLocks noChangeArrowheads="1"/>
          </p:cNvSpPr>
          <p:nvPr/>
        </p:nvSpPr>
        <p:spPr bwMode="auto">
          <a:xfrm>
            <a:off x="4191000" y="3810000"/>
            <a:ext cx="153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Central office</a:t>
            </a:r>
          </a:p>
        </p:txBody>
      </p:sp>
      <p:grpSp>
        <p:nvGrpSpPr>
          <p:cNvPr id="5133" name="Group 44"/>
          <p:cNvGrpSpPr>
            <a:grpSpLocks/>
          </p:cNvGrpSpPr>
          <p:nvPr/>
        </p:nvGrpSpPr>
        <p:grpSpPr bwMode="auto">
          <a:xfrm>
            <a:off x="6934200" y="4495800"/>
            <a:ext cx="533400" cy="533400"/>
            <a:chOff x="576" y="2400"/>
            <a:chExt cx="336" cy="336"/>
          </a:xfrm>
        </p:grpSpPr>
        <p:sp>
          <p:nvSpPr>
            <p:cNvPr id="5162" name="AutoShape 45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63" name="Rectangle 46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64" name="Rectangle 47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65" name="Rectangle 48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5134" name="Group 49"/>
          <p:cNvGrpSpPr>
            <a:grpSpLocks/>
          </p:cNvGrpSpPr>
          <p:nvPr/>
        </p:nvGrpSpPr>
        <p:grpSpPr bwMode="auto">
          <a:xfrm>
            <a:off x="6172200" y="4495800"/>
            <a:ext cx="533400" cy="533400"/>
            <a:chOff x="576" y="2400"/>
            <a:chExt cx="336" cy="336"/>
          </a:xfrm>
        </p:grpSpPr>
        <p:sp>
          <p:nvSpPr>
            <p:cNvPr id="5158" name="AutoShape 50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59" name="Rectangle 51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60" name="Rectangle 52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61" name="Rectangle 53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cxnSp>
        <p:nvCxnSpPr>
          <p:cNvPr id="5135" name="AutoShape 54"/>
          <p:cNvCxnSpPr>
            <a:cxnSpLocks noChangeShapeType="1"/>
            <a:stCxn id="5154" idx="0"/>
            <a:endCxn id="5187" idx="2"/>
          </p:cNvCxnSpPr>
          <p:nvPr/>
        </p:nvCxnSpPr>
        <p:spPr bwMode="auto">
          <a:xfrm flipH="1" flipV="1">
            <a:off x="3619500" y="2667000"/>
            <a:ext cx="133350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6" name="AutoShape 55"/>
          <p:cNvCxnSpPr>
            <a:cxnSpLocks noChangeShapeType="1"/>
            <a:stCxn id="5154" idx="0"/>
            <a:endCxn id="5179" idx="3"/>
          </p:cNvCxnSpPr>
          <p:nvPr/>
        </p:nvCxnSpPr>
        <p:spPr bwMode="auto">
          <a:xfrm flipH="1" flipV="1">
            <a:off x="2822575" y="3390900"/>
            <a:ext cx="2130425" cy="114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7" name="AutoShape 56"/>
          <p:cNvCxnSpPr>
            <a:cxnSpLocks noChangeShapeType="1"/>
            <a:stCxn id="5154" idx="0"/>
            <a:endCxn id="5167" idx="3"/>
          </p:cNvCxnSpPr>
          <p:nvPr/>
        </p:nvCxnSpPr>
        <p:spPr bwMode="auto">
          <a:xfrm flipH="1">
            <a:off x="2441575" y="3505200"/>
            <a:ext cx="2511425" cy="876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8" name="AutoShape 57"/>
          <p:cNvCxnSpPr>
            <a:cxnSpLocks noChangeShapeType="1"/>
            <a:stCxn id="5154" idx="0"/>
            <a:endCxn id="5194" idx="5"/>
          </p:cNvCxnSpPr>
          <p:nvPr/>
        </p:nvCxnSpPr>
        <p:spPr bwMode="auto">
          <a:xfrm flipH="1">
            <a:off x="1314450" y="3505200"/>
            <a:ext cx="363855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9" name="AutoShape 58"/>
          <p:cNvCxnSpPr>
            <a:cxnSpLocks noChangeShapeType="1"/>
            <a:stCxn id="5175" idx="3"/>
            <a:endCxn id="5154" idx="0"/>
          </p:cNvCxnSpPr>
          <p:nvPr/>
        </p:nvCxnSpPr>
        <p:spPr bwMode="auto">
          <a:xfrm>
            <a:off x="1603375" y="2628900"/>
            <a:ext cx="3349625" cy="876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40" name="AutoShape 59"/>
          <p:cNvCxnSpPr>
            <a:cxnSpLocks noChangeShapeType="1"/>
            <a:stCxn id="5154" idx="0"/>
            <a:endCxn id="5171" idx="2"/>
          </p:cNvCxnSpPr>
          <p:nvPr/>
        </p:nvCxnSpPr>
        <p:spPr bwMode="auto">
          <a:xfrm flipH="1" flipV="1">
            <a:off x="2095500" y="2057400"/>
            <a:ext cx="2857500" cy="1447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41" name="AutoShape 60"/>
          <p:cNvCxnSpPr>
            <a:cxnSpLocks noChangeShapeType="1"/>
            <a:stCxn id="5154" idx="0"/>
            <a:endCxn id="5190" idx="0"/>
          </p:cNvCxnSpPr>
          <p:nvPr/>
        </p:nvCxnSpPr>
        <p:spPr bwMode="auto">
          <a:xfrm>
            <a:off x="4953000" y="3505200"/>
            <a:ext cx="114300" cy="1066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42" name="AutoShape 61"/>
          <p:cNvCxnSpPr>
            <a:cxnSpLocks noChangeShapeType="1"/>
            <a:stCxn id="5154" idx="0"/>
            <a:endCxn id="5158" idx="1"/>
          </p:cNvCxnSpPr>
          <p:nvPr/>
        </p:nvCxnSpPr>
        <p:spPr bwMode="auto">
          <a:xfrm>
            <a:off x="4953000" y="3505200"/>
            <a:ext cx="1352550" cy="1143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43" name="AutoShape 62"/>
          <p:cNvCxnSpPr>
            <a:cxnSpLocks noChangeShapeType="1"/>
            <a:stCxn id="5154" idx="0"/>
            <a:endCxn id="5162" idx="1"/>
          </p:cNvCxnSpPr>
          <p:nvPr/>
        </p:nvCxnSpPr>
        <p:spPr bwMode="auto">
          <a:xfrm>
            <a:off x="4953000" y="3505200"/>
            <a:ext cx="2114550" cy="1143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44" name="AutoShape 63"/>
          <p:cNvCxnSpPr>
            <a:cxnSpLocks noChangeShapeType="1"/>
            <a:stCxn id="5154" idx="0"/>
            <a:endCxn id="5183" idx="1"/>
          </p:cNvCxnSpPr>
          <p:nvPr/>
        </p:nvCxnSpPr>
        <p:spPr bwMode="auto">
          <a:xfrm flipV="1">
            <a:off x="4953000" y="2324100"/>
            <a:ext cx="1139825" cy="1181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5145" name="Group 64"/>
          <p:cNvGrpSpPr>
            <a:grpSpLocks/>
          </p:cNvGrpSpPr>
          <p:nvPr/>
        </p:nvGrpSpPr>
        <p:grpSpPr bwMode="auto">
          <a:xfrm>
            <a:off x="4267200" y="3048000"/>
            <a:ext cx="1371600" cy="762000"/>
            <a:chOff x="2688" y="2064"/>
            <a:chExt cx="864" cy="480"/>
          </a:xfrm>
        </p:grpSpPr>
        <p:sp>
          <p:nvSpPr>
            <p:cNvPr id="5147" name="Rectangle 65"/>
            <p:cNvSpPr>
              <a:spLocks noChangeArrowheads="1"/>
            </p:cNvSpPr>
            <p:nvPr/>
          </p:nvSpPr>
          <p:spPr bwMode="auto">
            <a:xfrm>
              <a:off x="2688" y="2064"/>
              <a:ext cx="864" cy="48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48" name="Rectangle 66" descr="Large grid"/>
            <p:cNvSpPr>
              <a:spLocks noChangeArrowheads="1"/>
            </p:cNvSpPr>
            <p:nvPr/>
          </p:nvSpPr>
          <p:spPr bwMode="auto">
            <a:xfrm>
              <a:off x="2784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9" name="Rectangle 67" descr="Large grid"/>
            <p:cNvSpPr>
              <a:spLocks noChangeArrowheads="1"/>
            </p:cNvSpPr>
            <p:nvPr/>
          </p:nvSpPr>
          <p:spPr bwMode="auto">
            <a:xfrm>
              <a:off x="2928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50" name="Rectangle 68" descr="Large grid"/>
            <p:cNvSpPr>
              <a:spLocks noChangeArrowheads="1"/>
            </p:cNvSpPr>
            <p:nvPr/>
          </p:nvSpPr>
          <p:spPr bwMode="auto">
            <a:xfrm>
              <a:off x="3072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51" name="Rectangle 69" descr="Large grid"/>
            <p:cNvSpPr>
              <a:spLocks noChangeArrowheads="1"/>
            </p:cNvSpPr>
            <p:nvPr/>
          </p:nvSpPr>
          <p:spPr bwMode="auto">
            <a:xfrm>
              <a:off x="3216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52" name="Rectangle 70" descr="Large grid"/>
            <p:cNvSpPr>
              <a:spLocks noChangeArrowheads="1"/>
            </p:cNvSpPr>
            <p:nvPr/>
          </p:nvSpPr>
          <p:spPr bwMode="auto">
            <a:xfrm>
              <a:off x="2784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53" name="Rectangle 71" descr="Large grid"/>
            <p:cNvSpPr>
              <a:spLocks noChangeArrowheads="1"/>
            </p:cNvSpPr>
            <p:nvPr/>
          </p:nvSpPr>
          <p:spPr bwMode="auto">
            <a:xfrm>
              <a:off x="2928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54" name="Rectangle 72" descr="Large grid"/>
            <p:cNvSpPr>
              <a:spLocks noChangeArrowheads="1"/>
            </p:cNvSpPr>
            <p:nvPr/>
          </p:nvSpPr>
          <p:spPr bwMode="auto">
            <a:xfrm>
              <a:off x="3072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55" name="Rectangle 73" descr="Large grid"/>
            <p:cNvSpPr>
              <a:spLocks noChangeArrowheads="1"/>
            </p:cNvSpPr>
            <p:nvPr/>
          </p:nvSpPr>
          <p:spPr bwMode="auto">
            <a:xfrm>
              <a:off x="3216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56" name="Rectangle 74" descr="Large grid"/>
            <p:cNvSpPr>
              <a:spLocks noChangeArrowheads="1"/>
            </p:cNvSpPr>
            <p:nvPr/>
          </p:nvSpPr>
          <p:spPr bwMode="auto">
            <a:xfrm>
              <a:off x="3360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57" name="Rectangle 75" descr="Large grid"/>
            <p:cNvSpPr>
              <a:spLocks noChangeArrowheads="1"/>
            </p:cNvSpPr>
            <p:nvPr/>
          </p:nvSpPr>
          <p:spPr bwMode="auto">
            <a:xfrm>
              <a:off x="3360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146" name="Text Box 76"/>
          <p:cNvSpPr txBox="1">
            <a:spLocks noChangeArrowheads="1"/>
          </p:cNvSpPr>
          <p:nvPr/>
        </p:nvSpPr>
        <p:spPr bwMode="auto">
          <a:xfrm>
            <a:off x="3609975" y="54102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7013" indent="-227013"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tx1"/>
                </a:solidFill>
              </a:rPr>
              <a:t>Expensive!</a:t>
            </a:r>
            <a:endParaRPr lang="en-US" altLang="en-US" sz="2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027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Application of MST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Wiring: Better Approach</a:t>
            </a:r>
            <a:endParaRPr lang="en-US" dirty="0"/>
          </a:p>
        </p:txBody>
      </p:sp>
      <p:grpSp>
        <p:nvGrpSpPr>
          <p:cNvPr id="6148" name="Group 3"/>
          <p:cNvGrpSpPr>
            <a:grpSpLocks/>
          </p:cNvGrpSpPr>
          <p:nvPr/>
        </p:nvGrpSpPr>
        <p:grpSpPr bwMode="auto">
          <a:xfrm>
            <a:off x="914400" y="3810000"/>
            <a:ext cx="533400" cy="533400"/>
            <a:chOff x="576" y="2400"/>
            <a:chExt cx="336" cy="336"/>
          </a:xfrm>
        </p:grpSpPr>
        <p:sp>
          <p:nvSpPr>
            <p:cNvPr id="6218" name="AutoShape 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19" name="Rectangle 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20" name="Rectangle 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21" name="Rectangle 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6149" name="Group 8"/>
          <p:cNvGrpSpPr>
            <a:grpSpLocks/>
          </p:cNvGrpSpPr>
          <p:nvPr/>
        </p:nvGrpSpPr>
        <p:grpSpPr bwMode="auto">
          <a:xfrm>
            <a:off x="4800600" y="4572000"/>
            <a:ext cx="533400" cy="533400"/>
            <a:chOff x="576" y="2400"/>
            <a:chExt cx="336" cy="336"/>
          </a:xfrm>
        </p:grpSpPr>
        <p:sp>
          <p:nvSpPr>
            <p:cNvPr id="6214" name="AutoShape 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15" name="Rectangle 1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16" name="Rectangle 1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17" name="Rectangle 1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6150" name="Group 13"/>
          <p:cNvGrpSpPr>
            <a:grpSpLocks/>
          </p:cNvGrpSpPr>
          <p:nvPr/>
        </p:nvGrpSpPr>
        <p:grpSpPr bwMode="auto">
          <a:xfrm>
            <a:off x="3352800" y="2133600"/>
            <a:ext cx="533400" cy="533400"/>
            <a:chOff x="576" y="2400"/>
            <a:chExt cx="336" cy="336"/>
          </a:xfrm>
        </p:grpSpPr>
        <p:sp>
          <p:nvSpPr>
            <p:cNvPr id="6210" name="AutoShape 1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11" name="Rectangle 1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12" name="Rectangle 1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13" name="Rectangle 1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6151" name="Group 18"/>
          <p:cNvGrpSpPr>
            <a:grpSpLocks/>
          </p:cNvGrpSpPr>
          <p:nvPr/>
        </p:nvGrpSpPr>
        <p:grpSpPr bwMode="auto">
          <a:xfrm>
            <a:off x="6019800" y="1905000"/>
            <a:ext cx="533400" cy="533400"/>
            <a:chOff x="576" y="2400"/>
            <a:chExt cx="336" cy="336"/>
          </a:xfrm>
        </p:grpSpPr>
        <p:sp>
          <p:nvSpPr>
            <p:cNvPr id="6206" name="AutoShape 1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07" name="Rectangle 2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08" name="Rectangle 2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09" name="Rectangle 2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6152" name="Group 23"/>
          <p:cNvGrpSpPr>
            <a:grpSpLocks/>
          </p:cNvGrpSpPr>
          <p:nvPr/>
        </p:nvGrpSpPr>
        <p:grpSpPr bwMode="auto">
          <a:xfrm>
            <a:off x="2362200" y="2971800"/>
            <a:ext cx="533400" cy="533400"/>
            <a:chOff x="576" y="2400"/>
            <a:chExt cx="336" cy="336"/>
          </a:xfrm>
        </p:grpSpPr>
        <p:sp>
          <p:nvSpPr>
            <p:cNvPr id="6202" name="AutoShape 2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03" name="Rectangle 2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04" name="Rectangle 2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05" name="Rectangle 2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6153" name="Group 28"/>
          <p:cNvGrpSpPr>
            <a:grpSpLocks/>
          </p:cNvGrpSpPr>
          <p:nvPr/>
        </p:nvGrpSpPr>
        <p:grpSpPr bwMode="auto">
          <a:xfrm>
            <a:off x="1143000" y="2209800"/>
            <a:ext cx="533400" cy="533400"/>
            <a:chOff x="576" y="2400"/>
            <a:chExt cx="336" cy="336"/>
          </a:xfrm>
        </p:grpSpPr>
        <p:sp>
          <p:nvSpPr>
            <p:cNvPr id="6198" name="AutoShape 2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199" name="Rectangle 3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00" name="Rectangle 3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01" name="Rectangle 3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6154" name="Group 33"/>
          <p:cNvGrpSpPr>
            <a:grpSpLocks/>
          </p:cNvGrpSpPr>
          <p:nvPr/>
        </p:nvGrpSpPr>
        <p:grpSpPr bwMode="auto">
          <a:xfrm>
            <a:off x="1828800" y="1524000"/>
            <a:ext cx="533400" cy="533400"/>
            <a:chOff x="576" y="2400"/>
            <a:chExt cx="336" cy="336"/>
          </a:xfrm>
        </p:grpSpPr>
        <p:sp>
          <p:nvSpPr>
            <p:cNvPr id="6194" name="AutoShape 3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195" name="Rectangle 3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196" name="Rectangle 3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197" name="Rectangle 3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6155" name="Group 38"/>
          <p:cNvGrpSpPr>
            <a:grpSpLocks/>
          </p:cNvGrpSpPr>
          <p:nvPr/>
        </p:nvGrpSpPr>
        <p:grpSpPr bwMode="auto">
          <a:xfrm>
            <a:off x="1981200" y="3962400"/>
            <a:ext cx="533400" cy="533400"/>
            <a:chOff x="576" y="2400"/>
            <a:chExt cx="336" cy="336"/>
          </a:xfrm>
        </p:grpSpPr>
        <p:sp>
          <p:nvSpPr>
            <p:cNvPr id="6190" name="AutoShape 3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191" name="Rectangle 4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192" name="Rectangle 4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193" name="Rectangle 4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6156" name="Text Box 43"/>
          <p:cNvSpPr txBox="1">
            <a:spLocks noChangeArrowheads="1"/>
          </p:cNvSpPr>
          <p:nvPr/>
        </p:nvSpPr>
        <p:spPr bwMode="auto">
          <a:xfrm>
            <a:off x="4191000" y="3810000"/>
            <a:ext cx="153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Central office</a:t>
            </a:r>
          </a:p>
        </p:txBody>
      </p:sp>
      <p:grpSp>
        <p:nvGrpSpPr>
          <p:cNvPr id="6157" name="Group 44"/>
          <p:cNvGrpSpPr>
            <a:grpSpLocks/>
          </p:cNvGrpSpPr>
          <p:nvPr/>
        </p:nvGrpSpPr>
        <p:grpSpPr bwMode="auto">
          <a:xfrm>
            <a:off x="6934200" y="4495800"/>
            <a:ext cx="533400" cy="533400"/>
            <a:chOff x="576" y="2400"/>
            <a:chExt cx="336" cy="336"/>
          </a:xfrm>
        </p:grpSpPr>
        <p:sp>
          <p:nvSpPr>
            <p:cNvPr id="6186" name="AutoShape 45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187" name="Rectangle 46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188" name="Rectangle 47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189" name="Rectangle 48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6158" name="Group 49"/>
          <p:cNvGrpSpPr>
            <a:grpSpLocks/>
          </p:cNvGrpSpPr>
          <p:nvPr/>
        </p:nvGrpSpPr>
        <p:grpSpPr bwMode="auto">
          <a:xfrm>
            <a:off x="6172200" y="4495800"/>
            <a:ext cx="533400" cy="533400"/>
            <a:chOff x="576" y="2400"/>
            <a:chExt cx="336" cy="336"/>
          </a:xfrm>
        </p:grpSpPr>
        <p:sp>
          <p:nvSpPr>
            <p:cNvPr id="6182" name="AutoShape 50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183" name="Rectangle 51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184" name="Rectangle 52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185" name="Rectangle 53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cxnSp>
        <p:nvCxnSpPr>
          <p:cNvPr id="6159" name="AutoShape 54"/>
          <p:cNvCxnSpPr>
            <a:cxnSpLocks noChangeShapeType="1"/>
            <a:stCxn id="6178" idx="0"/>
            <a:endCxn id="6207" idx="1"/>
          </p:cNvCxnSpPr>
          <p:nvPr/>
        </p:nvCxnSpPr>
        <p:spPr bwMode="auto">
          <a:xfrm flipV="1">
            <a:off x="4953000" y="2324100"/>
            <a:ext cx="1139825" cy="1181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60" name="AutoShape 55"/>
          <p:cNvCxnSpPr>
            <a:cxnSpLocks noChangeShapeType="1"/>
            <a:stCxn id="6178" idx="0"/>
            <a:endCxn id="6214" idx="0"/>
          </p:cNvCxnSpPr>
          <p:nvPr/>
        </p:nvCxnSpPr>
        <p:spPr bwMode="auto">
          <a:xfrm>
            <a:off x="4953000" y="3505200"/>
            <a:ext cx="114300" cy="1066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61" name="AutoShape 56"/>
          <p:cNvCxnSpPr>
            <a:cxnSpLocks noChangeShapeType="1"/>
            <a:stCxn id="6178" idx="0"/>
            <a:endCxn id="6211" idx="2"/>
          </p:cNvCxnSpPr>
          <p:nvPr/>
        </p:nvCxnSpPr>
        <p:spPr bwMode="auto">
          <a:xfrm flipH="1" flipV="1">
            <a:off x="3619500" y="2667000"/>
            <a:ext cx="133350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62" name="AutoShape 57"/>
          <p:cNvCxnSpPr>
            <a:cxnSpLocks noChangeShapeType="1"/>
            <a:stCxn id="6211" idx="2"/>
            <a:endCxn id="6202" idx="5"/>
          </p:cNvCxnSpPr>
          <p:nvPr/>
        </p:nvCxnSpPr>
        <p:spPr bwMode="auto">
          <a:xfrm flipH="1">
            <a:off x="2762250" y="2667000"/>
            <a:ext cx="85725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63" name="AutoShape 58"/>
          <p:cNvCxnSpPr>
            <a:cxnSpLocks noChangeShapeType="1"/>
            <a:stCxn id="6202" idx="1"/>
            <a:endCxn id="6199" idx="3"/>
          </p:cNvCxnSpPr>
          <p:nvPr/>
        </p:nvCxnSpPr>
        <p:spPr bwMode="auto">
          <a:xfrm flipH="1" flipV="1">
            <a:off x="1603375" y="2628900"/>
            <a:ext cx="892175" cy="495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64" name="AutoShape 59"/>
          <p:cNvCxnSpPr>
            <a:cxnSpLocks noChangeShapeType="1"/>
            <a:stCxn id="6199" idx="3"/>
            <a:endCxn id="6195" idx="2"/>
          </p:cNvCxnSpPr>
          <p:nvPr/>
        </p:nvCxnSpPr>
        <p:spPr bwMode="auto">
          <a:xfrm flipV="1">
            <a:off x="1603375" y="2057400"/>
            <a:ext cx="492125" cy="571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65" name="AutoShape 60"/>
          <p:cNvCxnSpPr>
            <a:cxnSpLocks noChangeShapeType="1"/>
            <a:stCxn id="6203" idx="2"/>
            <a:endCxn id="6190" idx="5"/>
          </p:cNvCxnSpPr>
          <p:nvPr/>
        </p:nvCxnSpPr>
        <p:spPr bwMode="auto">
          <a:xfrm flipH="1">
            <a:off x="2381250" y="3505200"/>
            <a:ext cx="24765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66" name="AutoShape 61"/>
          <p:cNvCxnSpPr>
            <a:cxnSpLocks noChangeShapeType="1"/>
            <a:stCxn id="6191" idx="1"/>
            <a:endCxn id="6219" idx="3"/>
          </p:cNvCxnSpPr>
          <p:nvPr/>
        </p:nvCxnSpPr>
        <p:spPr bwMode="auto">
          <a:xfrm flipH="1" flipV="1">
            <a:off x="1374775" y="4229100"/>
            <a:ext cx="67945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67" name="AutoShape 62"/>
          <p:cNvCxnSpPr>
            <a:cxnSpLocks noChangeShapeType="1"/>
            <a:stCxn id="6215" idx="3"/>
            <a:endCxn id="6183" idx="1"/>
          </p:cNvCxnSpPr>
          <p:nvPr/>
        </p:nvCxnSpPr>
        <p:spPr bwMode="auto">
          <a:xfrm flipV="1">
            <a:off x="5260975" y="4914900"/>
            <a:ext cx="984250" cy="76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68" name="AutoShape 63"/>
          <p:cNvCxnSpPr>
            <a:cxnSpLocks noChangeShapeType="1"/>
            <a:stCxn id="6183" idx="3"/>
            <a:endCxn id="6187" idx="1"/>
          </p:cNvCxnSpPr>
          <p:nvPr/>
        </p:nvCxnSpPr>
        <p:spPr bwMode="auto">
          <a:xfrm>
            <a:off x="6632575" y="4914900"/>
            <a:ext cx="3746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169" name="Group 64"/>
          <p:cNvGrpSpPr>
            <a:grpSpLocks/>
          </p:cNvGrpSpPr>
          <p:nvPr/>
        </p:nvGrpSpPr>
        <p:grpSpPr bwMode="auto">
          <a:xfrm>
            <a:off x="4267200" y="3048000"/>
            <a:ext cx="1371600" cy="762000"/>
            <a:chOff x="2688" y="2064"/>
            <a:chExt cx="864" cy="480"/>
          </a:xfrm>
        </p:grpSpPr>
        <p:sp>
          <p:nvSpPr>
            <p:cNvPr id="6171" name="Rectangle 65"/>
            <p:cNvSpPr>
              <a:spLocks noChangeArrowheads="1"/>
            </p:cNvSpPr>
            <p:nvPr/>
          </p:nvSpPr>
          <p:spPr bwMode="auto">
            <a:xfrm>
              <a:off x="2688" y="2064"/>
              <a:ext cx="864" cy="48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172" name="Rectangle 66" descr="Large grid"/>
            <p:cNvSpPr>
              <a:spLocks noChangeArrowheads="1"/>
            </p:cNvSpPr>
            <p:nvPr/>
          </p:nvSpPr>
          <p:spPr bwMode="auto">
            <a:xfrm>
              <a:off x="2784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73" name="Rectangle 67" descr="Large grid"/>
            <p:cNvSpPr>
              <a:spLocks noChangeArrowheads="1"/>
            </p:cNvSpPr>
            <p:nvPr/>
          </p:nvSpPr>
          <p:spPr bwMode="auto">
            <a:xfrm>
              <a:off x="2928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74" name="Rectangle 68" descr="Large grid"/>
            <p:cNvSpPr>
              <a:spLocks noChangeArrowheads="1"/>
            </p:cNvSpPr>
            <p:nvPr/>
          </p:nvSpPr>
          <p:spPr bwMode="auto">
            <a:xfrm>
              <a:off x="3072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75" name="Rectangle 69" descr="Large grid"/>
            <p:cNvSpPr>
              <a:spLocks noChangeArrowheads="1"/>
            </p:cNvSpPr>
            <p:nvPr/>
          </p:nvSpPr>
          <p:spPr bwMode="auto">
            <a:xfrm>
              <a:off x="3216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76" name="Rectangle 70" descr="Large grid"/>
            <p:cNvSpPr>
              <a:spLocks noChangeArrowheads="1"/>
            </p:cNvSpPr>
            <p:nvPr/>
          </p:nvSpPr>
          <p:spPr bwMode="auto">
            <a:xfrm>
              <a:off x="2784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77" name="Rectangle 71" descr="Large grid"/>
            <p:cNvSpPr>
              <a:spLocks noChangeArrowheads="1"/>
            </p:cNvSpPr>
            <p:nvPr/>
          </p:nvSpPr>
          <p:spPr bwMode="auto">
            <a:xfrm>
              <a:off x="2928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78" name="Rectangle 72" descr="Large grid"/>
            <p:cNvSpPr>
              <a:spLocks noChangeArrowheads="1"/>
            </p:cNvSpPr>
            <p:nvPr/>
          </p:nvSpPr>
          <p:spPr bwMode="auto">
            <a:xfrm>
              <a:off x="3072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79" name="Rectangle 73" descr="Large grid"/>
            <p:cNvSpPr>
              <a:spLocks noChangeArrowheads="1"/>
            </p:cNvSpPr>
            <p:nvPr/>
          </p:nvSpPr>
          <p:spPr bwMode="auto">
            <a:xfrm>
              <a:off x="3216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80" name="Rectangle 74" descr="Large grid"/>
            <p:cNvSpPr>
              <a:spLocks noChangeArrowheads="1"/>
            </p:cNvSpPr>
            <p:nvPr/>
          </p:nvSpPr>
          <p:spPr bwMode="auto">
            <a:xfrm>
              <a:off x="3360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81" name="Rectangle 75" descr="Large grid"/>
            <p:cNvSpPr>
              <a:spLocks noChangeArrowheads="1"/>
            </p:cNvSpPr>
            <p:nvPr/>
          </p:nvSpPr>
          <p:spPr bwMode="auto">
            <a:xfrm>
              <a:off x="3360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170" name="Text Box 76"/>
          <p:cNvSpPr txBox="1">
            <a:spLocks noChangeArrowheads="1"/>
          </p:cNvSpPr>
          <p:nvPr/>
        </p:nvSpPr>
        <p:spPr bwMode="auto">
          <a:xfrm>
            <a:off x="533400" y="5410200"/>
            <a:ext cx="8048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Minimize the total length of wire connecting the customers</a:t>
            </a:r>
          </a:p>
        </p:txBody>
      </p:sp>
    </p:spTree>
    <p:extLst>
      <p:ext uri="{BB962C8B-B14F-4D97-AF65-F5344CB8AC3E}">
        <p14:creationId xmlns:p14="http://schemas.microsoft.com/office/powerpoint/2010/main" val="3690589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ea typeface="PMingLiU" panose="02020500000000000000" pitchFamily="18" charset="-120"/>
              </a:rPr>
              <a:t>Here is an example of a connected graph and its minimum spanning tree:</a:t>
            </a:r>
          </a:p>
          <a:p>
            <a:endParaRPr lang="en-US" dirty="0"/>
          </a:p>
        </p:txBody>
      </p:sp>
      <p:grpSp>
        <p:nvGrpSpPr>
          <p:cNvPr id="8328" name="Group 136"/>
          <p:cNvGrpSpPr>
            <a:grpSpLocks/>
          </p:cNvGrpSpPr>
          <p:nvPr/>
        </p:nvGrpSpPr>
        <p:grpSpPr bwMode="auto">
          <a:xfrm>
            <a:off x="2124075" y="1747838"/>
            <a:ext cx="4608513" cy="2617787"/>
            <a:chOff x="657" y="965"/>
            <a:chExt cx="2903" cy="1649"/>
          </a:xfrm>
        </p:grpSpPr>
        <p:grpSp>
          <p:nvGrpSpPr>
            <p:cNvPr id="8209" name="Group 17"/>
            <p:cNvGrpSpPr>
              <a:grpSpLocks/>
            </p:cNvGrpSpPr>
            <p:nvPr/>
          </p:nvGrpSpPr>
          <p:grpSpPr bwMode="auto">
            <a:xfrm>
              <a:off x="657" y="1692"/>
              <a:ext cx="194" cy="250"/>
              <a:chOff x="2368" y="1750"/>
              <a:chExt cx="194" cy="250"/>
            </a:xfrm>
          </p:grpSpPr>
          <p:sp>
            <p:nvSpPr>
              <p:cNvPr id="8207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8208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10" name="Group 18"/>
            <p:cNvGrpSpPr>
              <a:grpSpLocks/>
            </p:cNvGrpSpPr>
            <p:nvPr/>
          </p:nvGrpSpPr>
          <p:grpSpPr bwMode="auto">
            <a:xfrm>
              <a:off x="1156" y="1193"/>
              <a:ext cx="196" cy="250"/>
              <a:chOff x="2368" y="1750"/>
              <a:chExt cx="196" cy="250"/>
            </a:xfrm>
          </p:grpSpPr>
          <p:sp>
            <p:nvSpPr>
              <p:cNvPr id="8211" name="Text Box 1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8212" name="Oval 2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13" name="Group 21"/>
            <p:cNvGrpSpPr>
              <a:grpSpLocks/>
            </p:cNvGrpSpPr>
            <p:nvPr/>
          </p:nvGrpSpPr>
          <p:grpSpPr bwMode="auto">
            <a:xfrm>
              <a:off x="1156" y="2182"/>
              <a:ext cx="196" cy="250"/>
              <a:chOff x="2368" y="1750"/>
              <a:chExt cx="196" cy="250"/>
            </a:xfrm>
          </p:grpSpPr>
          <p:sp>
            <p:nvSpPr>
              <p:cNvPr id="8214" name="Text Box 2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8215" name="Oval 2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16" name="Group 24"/>
            <p:cNvGrpSpPr>
              <a:grpSpLocks/>
            </p:cNvGrpSpPr>
            <p:nvPr/>
          </p:nvGrpSpPr>
          <p:grpSpPr bwMode="auto">
            <a:xfrm>
              <a:off x="2006" y="1162"/>
              <a:ext cx="194" cy="250"/>
              <a:chOff x="2368" y="1750"/>
              <a:chExt cx="194" cy="250"/>
            </a:xfrm>
          </p:grpSpPr>
          <p:sp>
            <p:nvSpPr>
              <p:cNvPr id="8217" name="Text Box 2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8218" name="Oval 2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19" name="Group 27"/>
            <p:cNvGrpSpPr>
              <a:grpSpLocks/>
            </p:cNvGrpSpPr>
            <p:nvPr/>
          </p:nvGrpSpPr>
          <p:grpSpPr bwMode="auto">
            <a:xfrm>
              <a:off x="2820" y="1162"/>
              <a:ext cx="196" cy="250"/>
              <a:chOff x="2368" y="1750"/>
              <a:chExt cx="196" cy="250"/>
            </a:xfrm>
          </p:grpSpPr>
          <p:sp>
            <p:nvSpPr>
              <p:cNvPr id="8220" name="Text Box 2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8221" name="Oval 2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22" name="Group 30"/>
            <p:cNvGrpSpPr>
              <a:grpSpLocks/>
            </p:cNvGrpSpPr>
            <p:nvPr/>
          </p:nvGrpSpPr>
          <p:grpSpPr bwMode="auto">
            <a:xfrm>
              <a:off x="3366" y="1661"/>
              <a:ext cx="194" cy="250"/>
              <a:chOff x="2368" y="1750"/>
              <a:chExt cx="194" cy="250"/>
            </a:xfrm>
          </p:grpSpPr>
          <p:sp>
            <p:nvSpPr>
              <p:cNvPr id="8223" name="Text Box 3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8224" name="Oval 3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25" name="Group 33"/>
            <p:cNvGrpSpPr>
              <a:grpSpLocks/>
            </p:cNvGrpSpPr>
            <p:nvPr/>
          </p:nvGrpSpPr>
          <p:grpSpPr bwMode="auto">
            <a:xfrm>
              <a:off x="2822" y="2182"/>
              <a:ext cx="194" cy="250"/>
              <a:chOff x="2368" y="1750"/>
              <a:chExt cx="194" cy="250"/>
            </a:xfrm>
          </p:grpSpPr>
          <p:sp>
            <p:nvSpPr>
              <p:cNvPr id="8226" name="Text Box 3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8227" name="Oval 3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28" name="Group 36"/>
            <p:cNvGrpSpPr>
              <a:grpSpLocks/>
            </p:cNvGrpSpPr>
            <p:nvPr/>
          </p:nvGrpSpPr>
          <p:grpSpPr bwMode="auto">
            <a:xfrm>
              <a:off x="2004" y="2182"/>
              <a:ext cx="196" cy="250"/>
              <a:chOff x="2368" y="1750"/>
              <a:chExt cx="196" cy="250"/>
            </a:xfrm>
          </p:grpSpPr>
          <p:sp>
            <p:nvSpPr>
              <p:cNvPr id="8229" name="Text Box 3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8230" name="Oval 3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34" name="Group 42"/>
            <p:cNvGrpSpPr>
              <a:grpSpLocks/>
            </p:cNvGrpSpPr>
            <p:nvPr/>
          </p:nvGrpSpPr>
          <p:grpSpPr bwMode="auto">
            <a:xfrm>
              <a:off x="1565" y="1706"/>
              <a:ext cx="182" cy="250"/>
              <a:chOff x="1519" y="1706"/>
              <a:chExt cx="182" cy="250"/>
            </a:xfrm>
          </p:grpSpPr>
          <p:sp>
            <p:nvSpPr>
              <p:cNvPr id="8232" name="Text Box 4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8233" name="Oval 4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35" name="Line 43"/>
            <p:cNvSpPr>
              <a:spLocks noChangeShapeType="1"/>
            </p:cNvSpPr>
            <p:nvPr/>
          </p:nvSpPr>
          <p:spPr bwMode="auto">
            <a:xfrm flipV="1">
              <a:off x="793" y="1389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3" name="Line 51"/>
            <p:cNvSpPr>
              <a:spLocks noChangeShapeType="1"/>
            </p:cNvSpPr>
            <p:nvPr/>
          </p:nvSpPr>
          <p:spPr bwMode="auto">
            <a:xfrm>
              <a:off x="793" y="1933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4" name="Line 52"/>
            <p:cNvSpPr>
              <a:spLocks noChangeShapeType="1"/>
            </p:cNvSpPr>
            <p:nvPr/>
          </p:nvSpPr>
          <p:spPr bwMode="auto">
            <a:xfrm>
              <a:off x="1247" y="1434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5" name="Line 53"/>
            <p:cNvSpPr>
              <a:spLocks noChangeShapeType="1"/>
            </p:cNvSpPr>
            <p:nvPr/>
          </p:nvSpPr>
          <p:spPr bwMode="auto">
            <a:xfrm>
              <a:off x="1338" y="1298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6" name="Line 54"/>
            <p:cNvSpPr>
              <a:spLocks noChangeShapeType="1"/>
            </p:cNvSpPr>
            <p:nvPr/>
          </p:nvSpPr>
          <p:spPr bwMode="auto">
            <a:xfrm>
              <a:off x="1338" y="2341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7" name="Line 55"/>
            <p:cNvSpPr>
              <a:spLocks noChangeShapeType="1"/>
            </p:cNvSpPr>
            <p:nvPr/>
          </p:nvSpPr>
          <p:spPr bwMode="auto">
            <a:xfrm>
              <a:off x="2200" y="2341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9" name="Line 57"/>
            <p:cNvSpPr>
              <a:spLocks noChangeShapeType="1"/>
            </p:cNvSpPr>
            <p:nvPr/>
          </p:nvSpPr>
          <p:spPr bwMode="auto">
            <a:xfrm>
              <a:off x="2154" y="1389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0" name="Line 58"/>
            <p:cNvSpPr>
              <a:spLocks noChangeShapeType="1"/>
            </p:cNvSpPr>
            <p:nvPr/>
          </p:nvSpPr>
          <p:spPr bwMode="auto">
            <a:xfrm>
              <a:off x="2200" y="1298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1" name="Line 59"/>
            <p:cNvSpPr>
              <a:spLocks noChangeShapeType="1"/>
            </p:cNvSpPr>
            <p:nvPr/>
          </p:nvSpPr>
          <p:spPr bwMode="auto">
            <a:xfrm>
              <a:off x="2925" y="1389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2" name="Line 60"/>
            <p:cNvSpPr>
              <a:spLocks noChangeShapeType="1"/>
            </p:cNvSpPr>
            <p:nvPr/>
          </p:nvSpPr>
          <p:spPr bwMode="auto">
            <a:xfrm>
              <a:off x="3016" y="1344"/>
              <a:ext cx="408" cy="3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3" name="Line 61"/>
            <p:cNvSpPr>
              <a:spLocks noChangeShapeType="1"/>
            </p:cNvSpPr>
            <p:nvPr/>
          </p:nvSpPr>
          <p:spPr bwMode="auto">
            <a:xfrm flipV="1">
              <a:off x="3016" y="1888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4" name="Line 62"/>
            <p:cNvSpPr>
              <a:spLocks noChangeShapeType="1"/>
            </p:cNvSpPr>
            <p:nvPr/>
          </p:nvSpPr>
          <p:spPr bwMode="auto">
            <a:xfrm>
              <a:off x="1746" y="1933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5" name="Line 63"/>
            <p:cNvSpPr>
              <a:spLocks noChangeShapeType="1"/>
            </p:cNvSpPr>
            <p:nvPr/>
          </p:nvSpPr>
          <p:spPr bwMode="auto">
            <a:xfrm flipV="1">
              <a:off x="1292" y="1933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6" name="Line 64"/>
            <p:cNvSpPr>
              <a:spLocks noChangeShapeType="1"/>
            </p:cNvSpPr>
            <p:nvPr/>
          </p:nvSpPr>
          <p:spPr bwMode="auto">
            <a:xfrm flipV="1">
              <a:off x="1701" y="1389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7" name="Text Box 65"/>
            <p:cNvSpPr txBox="1">
              <a:spLocks noChangeArrowheads="1"/>
            </p:cNvSpPr>
            <p:nvPr/>
          </p:nvSpPr>
          <p:spPr bwMode="auto">
            <a:xfrm>
              <a:off x="793" y="12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8258" name="Text Box 66"/>
            <p:cNvSpPr txBox="1">
              <a:spLocks noChangeArrowheads="1"/>
            </p:cNvSpPr>
            <p:nvPr/>
          </p:nvSpPr>
          <p:spPr bwMode="auto">
            <a:xfrm>
              <a:off x="1552" y="965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8259" name="Text Box 67"/>
            <p:cNvSpPr txBox="1">
              <a:spLocks noChangeArrowheads="1"/>
            </p:cNvSpPr>
            <p:nvPr/>
          </p:nvSpPr>
          <p:spPr bwMode="auto">
            <a:xfrm>
              <a:off x="2396" y="965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8260" name="Text Box 68"/>
            <p:cNvSpPr txBox="1">
              <a:spLocks noChangeArrowheads="1"/>
            </p:cNvSpPr>
            <p:nvPr/>
          </p:nvSpPr>
          <p:spPr bwMode="auto">
            <a:xfrm>
              <a:off x="3230" y="122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8261" name="Text Box 69"/>
            <p:cNvSpPr txBox="1">
              <a:spLocks noChangeArrowheads="1"/>
            </p:cNvSpPr>
            <p:nvPr/>
          </p:nvSpPr>
          <p:spPr bwMode="auto">
            <a:xfrm>
              <a:off x="3198" y="197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8262" name="Text Box 70"/>
            <p:cNvSpPr txBox="1">
              <a:spLocks noChangeArrowheads="1"/>
            </p:cNvSpPr>
            <p:nvPr/>
          </p:nvSpPr>
          <p:spPr bwMode="auto">
            <a:xfrm>
              <a:off x="2880" y="1661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8263" name="Text Box 71"/>
            <p:cNvSpPr txBox="1">
              <a:spLocks noChangeArrowheads="1"/>
            </p:cNvSpPr>
            <p:nvPr/>
          </p:nvSpPr>
          <p:spPr bwMode="auto">
            <a:xfrm>
              <a:off x="2245" y="1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8264" name="Text Box 72"/>
            <p:cNvSpPr txBox="1">
              <a:spLocks noChangeArrowheads="1"/>
            </p:cNvSpPr>
            <p:nvPr/>
          </p:nvSpPr>
          <p:spPr bwMode="auto">
            <a:xfrm>
              <a:off x="1852" y="150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8265" name="Text Box 73"/>
            <p:cNvSpPr txBox="1">
              <a:spLocks noChangeArrowheads="1"/>
            </p:cNvSpPr>
            <p:nvPr/>
          </p:nvSpPr>
          <p:spPr bwMode="auto">
            <a:xfrm>
              <a:off x="2426" y="232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8266" name="Text Box 74"/>
            <p:cNvSpPr txBox="1">
              <a:spLocks noChangeArrowheads="1"/>
            </p:cNvSpPr>
            <p:nvPr/>
          </p:nvSpPr>
          <p:spPr bwMode="auto">
            <a:xfrm>
              <a:off x="1869" y="1855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8267" name="Text Box 75"/>
            <p:cNvSpPr txBox="1">
              <a:spLocks noChangeArrowheads="1"/>
            </p:cNvSpPr>
            <p:nvPr/>
          </p:nvSpPr>
          <p:spPr bwMode="auto">
            <a:xfrm>
              <a:off x="1597" y="232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8268" name="Text Box 76"/>
            <p:cNvSpPr txBox="1">
              <a:spLocks noChangeArrowheads="1"/>
            </p:cNvSpPr>
            <p:nvPr/>
          </p:nvSpPr>
          <p:spPr bwMode="auto">
            <a:xfrm>
              <a:off x="1325" y="1855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8269" name="Text Box 77"/>
            <p:cNvSpPr txBox="1">
              <a:spLocks noChangeArrowheads="1"/>
            </p:cNvSpPr>
            <p:nvPr/>
          </p:nvSpPr>
          <p:spPr bwMode="auto">
            <a:xfrm>
              <a:off x="975" y="1645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8270" name="Text Box 78"/>
            <p:cNvSpPr txBox="1">
              <a:spLocks noChangeArrowheads="1"/>
            </p:cNvSpPr>
            <p:nvPr/>
          </p:nvSpPr>
          <p:spPr bwMode="auto">
            <a:xfrm>
              <a:off x="793" y="205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  <p:sp>
        <p:nvSpPr>
          <p:cNvPr id="8329" name="Text Box 137"/>
          <p:cNvSpPr txBox="1">
            <a:spLocks noChangeArrowheads="1"/>
          </p:cNvSpPr>
          <p:nvPr/>
        </p:nvSpPr>
        <p:spPr bwMode="auto">
          <a:xfrm>
            <a:off x="346869" y="4797425"/>
            <a:ext cx="829368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TW" dirty="0">
                <a:ea typeface="PMingLiU" panose="02020500000000000000" pitchFamily="18" charset="-120"/>
              </a:rPr>
              <a:t>Notice that the tree is not unique: </a:t>
            </a:r>
          </a:p>
          <a:p>
            <a:pPr algn="l"/>
            <a:r>
              <a:rPr lang="en-US" altLang="zh-TW" dirty="0">
                <a:ea typeface="PMingLiU" panose="02020500000000000000" pitchFamily="18" charset="-120"/>
              </a:rPr>
              <a:t>replacing (</a:t>
            </a:r>
            <a:r>
              <a:rPr lang="en-US" altLang="zh-TW" dirty="0" err="1">
                <a:ea typeface="PMingLiU" panose="02020500000000000000" pitchFamily="18" charset="-120"/>
              </a:rPr>
              <a:t>b,c</a:t>
            </a:r>
            <a:r>
              <a:rPr lang="en-US" altLang="zh-TW" dirty="0">
                <a:ea typeface="PMingLiU" panose="02020500000000000000" pitchFamily="18" charset="-120"/>
              </a:rPr>
              <a:t>) with (</a:t>
            </a:r>
            <a:r>
              <a:rPr lang="en-US" altLang="zh-TW" dirty="0" err="1">
                <a:ea typeface="PMingLiU" panose="02020500000000000000" pitchFamily="18" charset="-120"/>
              </a:rPr>
              <a:t>a,h</a:t>
            </a:r>
            <a:r>
              <a:rPr lang="en-US" altLang="zh-TW" dirty="0">
                <a:ea typeface="PMingLiU" panose="02020500000000000000" pitchFamily="18" charset="-120"/>
              </a:rPr>
              <a:t>) yields another spanning tree with the same minimum weight.</a:t>
            </a:r>
          </a:p>
        </p:txBody>
      </p:sp>
    </p:spTree>
    <p:extLst>
      <p:ext uri="{BB962C8B-B14F-4D97-AF65-F5344CB8AC3E}">
        <p14:creationId xmlns:p14="http://schemas.microsoft.com/office/powerpoint/2010/main" val="2427818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>
                <a:ea typeface="PMingLiU" panose="02020500000000000000" pitchFamily="18" charset="-120"/>
              </a:rPr>
              <a:t>Growing a MST(Generic Algorithm)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39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80000"/>
                  </a:lnSpc>
                </a:pPr>
                <a:r>
                  <a:rPr lang="en-US" altLang="zh-TW" sz="2400" dirty="0">
                    <a:ea typeface="PMingLiU" panose="02020500000000000000" pitchFamily="18" charset="-120"/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𝐴</m:t>
                    </m:r>
                  </m:oMath>
                </a14:m>
                <a:r>
                  <a:rPr lang="en-US" altLang="zh-TW" sz="2400" dirty="0">
                    <a:ea typeface="PMingLiU" panose="02020500000000000000" pitchFamily="18" charset="-120"/>
                  </a:rPr>
                  <a:t> is always a subset of some minimum spanning tree. This property is called the </a:t>
                </a:r>
                <a:r>
                  <a:rPr lang="en-US" altLang="zh-TW" sz="2400" dirty="0">
                    <a:solidFill>
                      <a:schemeClr val="accent2"/>
                    </a:solidFill>
                    <a:ea typeface="PMingLiU" panose="02020500000000000000" pitchFamily="18" charset="-120"/>
                  </a:rPr>
                  <a:t>invariant Property</a:t>
                </a:r>
                <a:r>
                  <a:rPr lang="en-US" altLang="zh-TW" sz="2400" dirty="0">
                    <a:ea typeface="PMingLiU" panose="02020500000000000000" pitchFamily="18" charset="-120"/>
                  </a:rPr>
                  <a:t>.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altLang="zh-TW" sz="2400" dirty="0">
                    <a:ea typeface="PMingLiU" panose="02020500000000000000" pitchFamily="18" charset="-120"/>
                  </a:rPr>
                  <a:t>An edge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(</m:t>
                    </m:r>
                    <m:r>
                      <a:rPr lang="en-US" altLang="zh-TW" sz="2400" i="1" dirty="0" err="1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𝑢</m:t>
                    </m:r>
                    <m:r>
                      <a:rPr lang="en-US" altLang="zh-TW" sz="2400" i="1" dirty="0" err="1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,</m:t>
                    </m:r>
                    <m:r>
                      <a:rPr lang="en-US" altLang="zh-TW" sz="2400" i="1" dirty="0" err="1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𝑣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)</m:t>
                    </m:r>
                  </m:oMath>
                </a14:m>
                <a:r>
                  <a:rPr lang="en-US" altLang="zh-TW" sz="2400" dirty="0">
                    <a:ea typeface="PMingLiU" panose="02020500000000000000" pitchFamily="18" charset="-120"/>
                  </a:rPr>
                  <a:t> is a </a:t>
                </a:r>
                <a:r>
                  <a:rPr lang="en-US" altLang="zh-TW" sz="2400" dirty="0">
                    <a:solidFill>
                      <a:schemeClr val="accent2"/>
                    </a:solidFill>
                    <a:ea typeface="PMingLiU" panose="02020500000000000000" pitchFamily="18" charset="-120"/>
                  </a:rPr>
                  <a:t>safe edge</a:t>
                </a:r>
                <a:r>
                  <a:rPr lang="en-US" altLang="zh-TW" sz="2400" dirty="0">
                    <a:ea typeface="PMingLiU" panose="02020500000000000000" pitchFamily="18" charset="-120"/>
                  </a:rPr>
                  <a:t> for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𝐴</m:t>
                    </m:r>
                  </m:oMath>
                </a14:m>
                <a:r>
                  <a:rPr lang="en-US" altLang="zh-TW" sz="2400" dirty="0">
                    <a:ea typeface="PMingLiU" panose="02020500000000000000" pitchFamily="18" charset="-120"/>
                  </a:rPr>
                  <a:t> if adding the edge to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𝐴</m:t>
                    </m:r>
                  </m:oMath>
                </a14:m>
                <a:r>
                  <a:rPr lang="en-US" altLang="zh-TW" sz="2400" dirty="0">
                    <a:ea typeface="PMingLiU" panose="02020500000000000000" pitchFamily="18" charset="-120"/>
                  </a:rPr>
                  <a:t> does not destroy the invariant.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altLang="zh-TW" sz="2400" dirty="0">
                    <a:ea typeface="PMingLiU" panose="02020500000000000000" pitchFamily="18" charset="-120"/>
                  </a:rPr>
                  <a:t>A </a:t>
                </a:r>
                <a:r>
                  <a:rPr lang="en-US" altLang="zh-TW" sz="2400" dirty="0">
                    <a:solidFill>
                      <a:schemeClr val="accent2"/>
                    </a:solidFill>
                    <a:ea typeface="PMingLiU" panose="02020500000000000000" pitchFamily="18" charset="-120"/>
                  </a:rPr>
                  <a:t>safe edge</a:t>
                </a:r>
                <a:r>
                  <a:rPr lang="en-US" altLang="zh-TW" sz="2400" dirty="0">
                    <a:ea typeface="PMingLiU" panose="02020500000000000000" pitchFamily="18" charset="-120"/>
                  </a:rPr>
                  <a:t> is just the CORRECT edge to choose to add to T. </a:t>
                </a:r>
              </a:p>
            </p:txBody>
          </p:sp>
        </mc:Choice>
        <mc:Fallback xmlns="">
          <p:sp>
            <p:nvSpPr>
              <p:cNvPr id="1433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109" t="-2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40" name="Text Box 4"/>
              <p:cNvSpPr txBox="1">
                <a:spLocks noChangeArrowheads="1"/>
              </p:cNvSpPr>
              <p:nvPr/>
            </p:nvSpPr>
            <p:spPr bwMode="auto">
              <a:xfrm>
                <a:off x="155575" y="3184620"/>
                <a:ext cx="7273925" cy="17543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GENERIC_MST(</a:t>
                </a:r>
                <a:r>
                  <a:rPr lang="en-US" altLang="zh-TW" dirty="0" err="1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G,w</a:t>
                </a:r>
                <a:r>
                  <a:rPr lang="en-US" altLang="zh-TW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)</a:t>
                </a:r>
              </a:p>
              <a:p>
                <a:pPr algn="l"/>
                <a:r>
                  <a:rPr lang="en-US" altLang="zh-TW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1	A =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∅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algn="l"/>
                <a:r>
                  <a:rPr lang="en-US" altLang="zh-TW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2	</a:t>
                </a:r>
                <a:r>
                  <a:rPr lang="en-US" altLang="zh-TW" b="1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while</a:t>
                </a:r>
                <a:r>
                  <a:rPr lang="en-US" altLang="zh-TW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 A does not form a spanning tree</a:t>
                </a:r>
              </a:p>
              <a:p>
                <a:pPr algn="l"/>
                <a:r>
                  <a:rPr lang="en-US" altLang="zh-TW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3		find an edge (</a:t>
                </a:r>
                <a:r>
                  <a:rPr lang="en-US" altLang="zh-TW" dirty="0" err="1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u,v</a:t>
                </a:r>
                <a:r>
                  <a:rPr lang="en-US" altLang="zh-TW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) that is safe for A</a:t>
                </a:r>
              </a:p>
              <a:p>
                <a:pPr algn="l"/>
                <a:r>
                  <a:rPr lang="en-US" altLang="zh-TW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4		A = A</a:t>
                </a:r>
                <a:r>
                  <a:rPr lang="en-US" altLang="zh-TW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∪</a:t>
                </a:r>
                <a:r>
                  <a:rPr lang="en-US" altLang="zh-TW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{(u,v)}</a:t>
                </a:r>
              </a:p>
              <a:p>
                <a:pPr algn="l"/>
                <a:r>
                  <a:rPr lang="en-US" altLang="zh-TW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5	</a:t>
                </a:r>
                <a:r>
                  <a:rPr lang="en-US" altLang="zh-TW" b="1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return</a:t>
                </a:r>
                <a:r>
                  <a:rPr lang="en-US" altLang="zh-TW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 A</a:t>
                </a:r>
              </a:p>
            </p:txBody>
          </p:sp>
        </mc:Choice>
        <mc:Fallback xmlns="">
          <p:sp>
            <p:nvSpPr>
              <p:cNvPr id="14340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575" y="3184620"/>
                <a:ext cx="7273925" cy="1754326"/>
              </a:xfrm>
              <a:prstGeom prst="rect">
                <a:avLst/>
              </a:prstGeom>
              <a:blipFill rotWithShape="0">
                <a:blip r:embed="rId3" cstate="print"/>
                <a:stretch>
                  <a:fillRect l="-669" t="-1379" b="-413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1367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How to Find a Safe Edge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Tx/>
                  <a:buNone/>
                </a:pPr>
                <a:r>
                  <a:rPr lang="en-US" altLang="zh-TW" sz="2800" dirty="0">
                    <a:ea typeface="PMingLiU" panose="02020500000000000000" pitchFamily="18" charset="-120"/>
                  </a:rPr>
                  <a:t>We need some definitions and a theorem.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TW" sz="2800" dirty="0">
                    <a:ea typeface="PMingLiU" panose="02020500000000000000" pitchFamily="18" charset="-120"/>
                  </a:rPr>
                  <a:t>A </a:t>
                </a:r>
                <a:r>
                  <a:rPr lang="en-US" altLang="zh-TW" sz="2800" dirty="0">
                    <a:solidFill>
                      <a:schemeClr val="accent2"/>
                    </a:solidFill>
                    <a:ea typeface="PMingLiU" panose="02020500000000000000" pitchFamily="18" charset="-120"/>
                  </a:rPr>
                  <a:t>cut</a:t>
                </a:r>
                <a:r>
                  <a:rPr lang="en-US" altLang="zh-TW" sz="2800" dirty="0">
                    <a:ea typeface="PMingLiU" panose="02020500000000000000" pitchFamily="18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(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𝑆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,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𝑉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−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𝑆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)</m:t>
                    </m:r>
                  </m:oMath>
                </a14:m>
                <a:r>
                  <a:rPr lang="en-US" altLang="zh-TW" sz="2800" dirty="0">
                    <a:ea typeface="PMingLiU" panose="02020500000000000000" pitchFamily="18" charset="-120"/>
                  </a:rPr>
                  <a:t> of an undirected graph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𝐺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=(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𝑉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,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𝐸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) </m:t>
                    </m:r>
                  </m:oMath>
                </a14:m>
                <a:r>
                  <a:rPr lang="en-US" altLang="zh-TW" sz="2800" dirty="0">
                    <a:ea typeface="PMingLiU" panose="02020500000000000000" pitchFamily="18" charset="-120"/>
                  </a:rPr>
                  <a:t>is a partition of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𝑉</m:t>
                    </m:r>
                  </m:oMath>
                </a14:m>
                <a:r>
                  <a:rPr lang="en-US" altLang="zh-TW" sz="2800" dirty="0">
                    <a:ea typeface="PMingLiU" panose="02020500000000000000" pitchFamily="18" charset="-120"/>
                  </a:rPr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TW" sz="2800" dirty="0">
                    <a:ea typeface="PMingLiU" panose="02020500000000000000" pitchFamily="18" charset="-120"/>
                  </a:rPr>
                  <a:t>An edge </a:t>
                </a:r>
                <a:r>
                  <a:rPr lang="en-US" altLang="zh-TW" sz="2800" dirty="0">
                    <a:solidFill>
                      <a:schemeClr val="accent2"/>
                    </a:solidFill>
                    <a:ea typeface="PMingLiU" panose="02020500000000000000" pitchFamily="18" charset="-120"/>
                  </a:rPr>
                  <a:t>crosses</a:t>
                </a:r>
                <a:r>
                  <a:rPr lang="en-US" altLang="zh-TW" sz="2800" dirty="0">
                    <a:ea typeface="PMingLiU" panose="02020500000000000000" pitchFamily="18" charset="-120"/>
                  </a:rPr>
                  <a:t> the cut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(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𝑆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,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𝑉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−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𝑆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)</m:t>
                    </m:r>
                  </m:oMath>
                </a14:m>
                <a:r>
                  <a:rPr lang="en-US" altLang="zh-TW" sz="2800" dirty="0">
                    <a:ea typeface="PMingLiU" panose="02020500000000000000" pitchFamily="18" charset="-120"/>
                  </a:rPr>
                  <a:t> if one of its endpoints is in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𝑆</m:t>
                    </m:r>
                  </m:oMath>
                </a14:m>
                <a:r>
                  <a:rPr lang="en-US" altLang="zh-TW" sz="2800" dirty="0">
                    <a:ea typeface="PMingLiU" panose="02020500000000000000" pitchFamily="18" charset="-120"/>
                  </a:rPr>
                  <a:t> and the other is in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𝑉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−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𝑆</m:t>
                    </m:r>
                  </m:oMath>
                </a14:m>
                <a:r>
                  <a:rPr lang="en-US" altLang="zh-TW" sz="2800" dirty="0">
                    <a:ea typeface="PMingLiU" panose="02020500000000000000" pitchFamily="18" charset="-120"/>
                  </a:rPr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TW" sz="2800" dirty="0">
                    <a:ea typeface="PMingLiU" panose="02020500000000000000" pitchFamily="18" charset="-120"/>
                  </a:rPr>
                  <a:t>An edge is a </a:t>
                </a:r>
                <a:r>
                  <a:rPr lang="en-US" altLang="zh-TW" sz="2800" dirty="0">
                    <a:solidFill>
                      <a:schemeClr val="accent2"/>
                    </a:solidFill>
                    <a:ea typeface="PMingLiU" panose="02020500000000000000" pitchFamily="18" charset="-120"/>
                  </a:rPr>
                  <a:t>light edge</a:t>
                </a:r>
                <a:r>
                  <a:rPr lang="en-US" altLang="zh-TW" sz="2800" dirty="0">
                    <a:ea typeface="PMingLiU" panose="02020500000000000000" pitchFamily="18" charset="-120"/>
                  </a:rPr>
                  <a:t> crossing a cut if its weight is the minimum of any edge crossing the cut.</a:t>
                </a:r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455" t="-18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715262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How to Find a Safe Edge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6454" name="Group 70"/>
          <p:cNvGrpSpPr>
            <a:grpSpLocks/>
          </p:cNvGrpSpPr>
          <p:nvPr/>
        </p:nvGrpSpPr>
        <p:grpSpPr bwMode="auto">
          <a:xfrm>
            <a:off x="1116013" y="981075"/>
            <a:ext cx="6700837" cy="2617788"/>
            <a:chOff x="68" y="965"/>
            <a:chExt cx="4221" cy="1649"/>
          </a:xfrm>
        </p:grpSpPr>
        <p:sp>
          <p:nvSpPr>
            <p:cNvPr id="16449" name="Text Box 65"/>
            <p:cNvSpPr txBox="1">
              <a:spLocks noChangeArrowheads="1"/>
            </p:cNvSpPr>
            <p:nvPr/>
          </p:nvSpPr>
          <p:spPr bwMode="auto">
            <a:xfrm>
              <a:off x="68" y="2205"/>
              <a:ext cx="6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V-S</a:t>
              </a:r>
              <a:r>
                <a:rPr lang="en-US" altLang="zh-TW">
                  <a:ea typeface="PMingLiU" panose="02020500000000000000" pitchFamily="18" charset="-120"/>
                  <a:cs typeface="Times New Roman" panose="02020603050405020304" pitchFamily="18" charset="0"/>
                </a:rPr>
                <a:t>↓</a:t>
              </a:r>
            </a:p>
          </p:txBody>
        </p:sp>
        <p:grpSp>
          <p:nvGrpSpPr>
            <p:cNvPr id="16444" name="Group 60"/>
            <p:cNvGrpSpPr>
              <a:grpSpLocks/>
            </p:cNvGrpSpPr>
            <p:nvPr/>
          </p:nvGrpSpPr>
          <p:grpSpPr bwMode="auto">
            <a:xfrm>
              <a:off x="657" y="965"/>
              <a:ext cx="2903" cy="1649"/>
              <a:chOff x="657" y="965"/>
              <a:chExt cx="2903" cy="1649"/>
            </a:xfrm>
          </p:grpSpPr>
          <p:grpSp>
            <p:nvGrpSpPr>
              <p:cNvPr id="16389" name="Group 5"/>
              <p:cNvGrpSpPr>
                <a:grpSpLocks/>
              </p:cNvGrpSpPr>
              <p:nvPr/>
            </p:nvGrpSpPr>
            <p:grpSpPr bwMode="auto">
              <a:xfrm>
                <a:off x="657" y="1692"/>
                <a:ext cx="194" cy="250"/>
                <a:chOff x="2368" y="1750"/>
                <a:chExt cx="194" cy="250"/>
              </a:xfrm>
            </p:grpSpPr>
            <p:sp>
              <p:nvSpPr>
                <p:cNvPr id="16390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2368" y="1750"/>
                  <a:ext cx="187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zh-TW" sz="2000">
                      <a:ea typeface="PMingLiU" panose="02020500000000000000" pitchFamily="18" charset="-120"/>
                    </a:rPr>
                    <a:t>a</a:t>
                  </a:r>
                </a:p>
              </p:txBody>
            </p:sp>
            <p:sp>
              <p:nvSpPr>
                <p:cNvPr id="16391" name="Oval 7"/>
                <p:cNvSpPr>
                  <a:spLocks noChangeArrowheads="1"/>
                </p:cNvSpPr>
                <p:nvPr/>
              </p:nvSpPr>
              <p:spPr bwMode="auto">
                <a:xfrm>
                  <a:off x="2381" y="1797"/>
                  <a:ext cx="181" cy="1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392" name="Group 8"/>
              <p:cNvGrpSpPr>
                <a:grpSpLocks/>
              </p:cNvGrpSpPr>
              <p:nvPr/>
            </p:nvGrpSpPr>
            <p:grpSpPr bwMode="auto">
              <a:xfrm>
                <a:off x="1156" y="1193"/>
                <a:ext cx="196" cy="250"/>
                <a:chOff x="2368" y="1750"/>
                <a:chExt cx="196" cy="250"/>
              </a:xfrm>
            </p:grpSpPr>
            <p:sp>
              <p:nvSpPr>
                <p:cNvPr id="16393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368" y="1750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zh-TW" sz="2000">
                      <a:ea typeface="PMingLiU" panose="02020500000000000000" pitchFamily="18" charset="-120"/>
                    </a:rPr>
                    <a:t>b</a:t>
                  </a:r>
                </a:p>
              </p:txBody>
            </p:sp>
            <p:sp>
              <p:nvSpPr>
                <p:cNvPr id="16394" name="Oval 10"/>
                <p:cNvSpPr>
                  <a:spLocks noChangeArrowheads="1"/>
                </p:cNvSpPr>
                <p:nvPr/>
              </p:nvSpPr>
              <p:spPr bwMode="auto">
                <a:xfrm>
                  <a:off x="2381" y="1797"/>
                  <a:ext cx="181" cy="1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395" name="Group 11"/>
              <p:cNvGrpSpPr>
                <a:grpSpLocks/>
              </p:cNvGrpSpPr>
              <p:nvPr/>
            </p:nvGrpSpPr>
            <p:grpSpPr bwMode="auto">
              <a:xfrm>
                <a:off x="1156" y="2182"/>
                <a:ext cx="196" cy="250"/>
                <a:chOff x="2368" y="1750"/>
                <a:chExt cx="196" cy="250"/>
              </a:xfrm>
            </p:grpSpPr>
            <p:sp>
              <p:nvSpPr>
                <p:cNvPr id="16396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2368" y="1750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zh-TW" sz="2000">
                      <a:ea typeface="PMingLiU" panose="02020500000000000000" pitchFamily="18" charset="-120"/>
                    </a:rPr>
                    <a:t>h</a:t>
                  </a:r>
                </a:p>
              </p:txBody>
            </p:sp>
            <p:sp>
              <p:nvSpPr>
                <p:cNvPr id="16397" name="Oval 13"/>
                <p:cNvSpPr>
                  <a:spLocks noChangeArrowheads="1"/>
                </p:cNvSpPr>
                <p:nvPr/>
              </p:nvSpPr>
              <p:spPr bwMode="auto">
                <a:xfrm>
                  <a:off x="2381" y="1797"/>
                  <a:ext cx="181" cy="1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398" name="Group 14"/>
              <p:cNvGrpSpPr>
                <a:grpSpLocks/>
              </p:cNvGrpSpPr>
              <p:nvPr/>
            </p:nvGrpSpPr>
            <p:grpSpPr bwMode="auto">
              <a:xfrm>
                <a:off x="2006" y="1162"/>
                <a:ext cx="194" cy="250"/>
                <a:chOff x="2368" y="1750"/>
                <a:chExt cx="194" cy="250"/>
              </a:xfrm>
            </p:grpSpPr>
            <p:sp>
              <p:nvSpPr>
                <p:cNvPr id="16399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2368" y="1750"/>
                  <a:ext cx="187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zh-TW" sz="2000">
                      <a:ea typeface="PMingLiU" panose="02020500000000000000" pitchFamily="18" charset="-120"/>
                    </a:rPr>
                    <a:t>c</a:t>
                  </a:r>
                </a:p>
              </p:txBody>
            </p:sp>
            <p:sp>
              <p:nvSpPr>
                <p:cNvPr id="16400" name="Oval 16"/>
                <p:cNvSpPr>
                  <a:spLocks noChangeArrowheads="1"/>
                </p:cNvSpPr>
                <p:nvPr/>
              </p:nvSpPr>
              <p:spPr bwMode="auto">
                <a:xfrm>
                  <a:off x="2381" y="1797"/>
                  <a:ext cx="181" cy="1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401" name="Group 17"/>
              <p:cNvGrpSpPr>
                <a:grpSpLocks/>
              </p:cNvGrpSpPr>
              <p:nvPr/>
            </p:nvGrpSpPr>
            <p:grpSpPr bwMode="auto">
              <a:xfrm>
                <a:off x="2820" y="1162"/>
                <a:ext cx="196" cy="250"/>
                <a:chOff x="2368" y="1750"/>
                <a:chExt cx="196" cy="250"/>
              </a:xfrm>
            </p:grpSpPr>
            <p:sp>
              <p:nvSpPr>
                <p:cNvPr id="16402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2368" y="1750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zh-TW" sz="2000">
                      <a:ea typeface="PMingLiU" panose="02020500000000000000" pitchFamily="18" charset="-120"/>
                    </a:rPr>
                    <a:t>d</a:t>
                  </a:r>
                </a:p>
              </p:txBody>
            </p:sp>
            <p:sp>
              <p:nvSpPr>
                <p:cNvPr id="16403" name="Oval 19"/>
                <p:cNvSpPr>
                  <a:spLocks noChangeArrowheads="1"/>
                </p:cNvSpPr>
                <p:nvPr/>
              </p:nvSpPr>
              <p:spPr bwMode="auto">
                <a:xfrm>
                  <a:off x="2381" y="1797"/>
                  <a:ext cx="181" cy="1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404" name="Group 20"/>
              <p:cNvGrpSpPr>
                <a:grpSpLocks/>
              </p:cNvGrpSpPr>
              <p:nvPr/>
            </p:nvGrpSpPr>
            <p:grpSpPr bwMode="auto">
              <a:xfrm>
                <a:off x="3366" y="1661"/>
                <a:ext cx="194" cy="250"/>
                <a:chOff x="2368" y="1750"/>
                <a:chExt cx="194" cy="250"/>
              </a:xfrm>
            </p:grpSpPr>
            <p:sp>
              <p:nvSpPr>
                <p:cNvPr id="16405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2368" y="1750"/>
                  <a:ext cx="187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zh-TW" sz="2000">
                      <a:ea typeface="PMingLiU" panose="02020500000000000000" pitchFamily="18" charset="-120"/>
                    </a:rPr>
                    <a:t>e</a:t>
                  </a:r>
                </a:p>
              </p:txBody>
            </p:sp>
            <p:sp>
              <p:nvSpPr>
                <p:cNvPr id="16406" name="Oval 22"/>
                <p:cNvSpPr>
                  <a:spLocks noChangeArrowheads="1"/>
                </p:cNvSpPr>
                <p:nvPr/>
              </p:nvSpPr>
              <p:spPr bwMode="auto">
                <a:xfrm>
                  <a:off x="2381" y="1797"/>
                  <a:ext cx="181" cy="1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407" name="Group 23"/>
              <p:cNvGrpSpPr>
                <a:grpSpLocks/>
              </p:cNvGrpSpPr>
              <p:nvPr/>
            </p:nvGrpSpPr>
            <p:grpSpPr bwMode="auto">
              <a:xfrm>
                <a:off x="2822" y="2182"/>
                <a:ext cx="194" cy="250"/>
                <a:chOff x="2368" y="1750"/>
                <a:chExt cx="194" cy="250"/>
              </a:xfrm>
            </p:grpSpPr>
            <p:sp>
              <p:nvSpPr>
                <p:cNvPr id="16408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2368" y="1750"/>
                  <a:ext cx="169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zh-TW" sz="2000">
                      <a:ea typeface="PMingLiU" panose="02020500000000000000" pitchFamily="18" charset="-120"/>
                    </a:rPr>
                    <a:t>f</a:t>
                  </a:r>
                </a:p>
              </p:txBody>
            </p:sp>
            <p:sp>
              <p:nvSpPr>
                <p:cNvPr id="16409" name="Oval 25"/>
                <p:cNvSpPr>
                  <a:spLocks noChangeArrowheads="1"/>
                </p:cNvSpPr>
                <p:nvPr/>
              </p:nvSpPr>
              <p:spPr bwMode="auto">
                <a:xfrm>
                  <a:off x="2381" y="1797"/>
                  <a:ext cx="181" cy="1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410" name="Group 26"/>
              <p:cNvGrpSpPr>
                <a:grpSpLocks/>
              </p:cNvGrpSpPr>
              <p:nvPr/>
            </p:nvGrpSpPr>
            <p:grpSpPr bwMode="auto">
              <a:xfrm>
                <a:off x="2004" y="2182"/>
                <a:ext cx="196" cy="250"/>
                <a:chOff x="2368" y="1750"/>
                <a:chExt cx="196" cy="250"/>
              </a:xfrm>
            </p:grpSpPr>
            <p:sp>
              <p:nvSpPr>
                <p:cNvPr id="16411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368" y="1750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zh-TW" sz="2000">
                      <a:ea typeface="PMingLiU" panose="02020500000000000000" pitchFamily="18" charset="-120"/>
                    </a:rPr>
                    <a:t>g</a:t>
                  </a:r>
                </a:p>
              </p:txBody>
            </p:sp>
            <p:sp>
              <p:nvSpPr>
                <p:cNvPr id="16412" name="Oval 28"/>
                <p:cNvSpPr>
                  <a:spLocks noChangeArrowheads="1"/>
                </p:cNvSpPr>
                <p:nvPr/>
              </p:nvSpPr>
              <p:spPr bwMode="auto">
                <a:xfrm>
                  <a:off x="2381" y="1797"/>
                  <a:ext cx="181" cy="1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413" name="Group 29"/>
              <p:cNvGrpSpPr>
                <a:grpSpLocks/>
              </p:cNvGrpSpPr>
              <p:nvPr/>
            </p:nvGrpSpPr>
            <p:grpSpPr bwMode="auto">
              <a:xfrm>
                <a:off x="1565" y="1706"/>
                <a:ext cx="182" cy="250"/>
                <a:chOff x="1519" y="1706"/>
                <a:chExt cx="182" cy="250"/>
              </a:xfrm>
            </p:grpSpPr>
            <p:sp>
              <p:nvSpPr>
                <p:cNvPr id="16414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1519" y="1706"/>
                  <a:ext cx="160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en-US" altLang="zh-TW" sz="2000">
                      <a:ea typeface="PMingLiU" panose="02020500000000000000" pitchFamily="18" charset="-120"/>
                    </a:rPr>
                    <a:t>i</a:t>
                  </a:r>
                </a:p>
              </p:txBody>
            </p:sp>
            <p:sp>
              <p:nvSpPr>
                <p:cNvPr id="16415" name="Oval 31"/>
                <p:cNvSpPr>
                  <a:spLocks noChangeArrowheads="1"/>
                </p:cNvSpPr>
                <p:nvPr/>
              </p:nvSpPr>
              <p:spPr bwMode="auto">
                <a:xfrm>
                  <a:off x="1520" y="1753"/>
                  <a:ext cx="181" cy="1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6416" name="Line 32"/>
              <p:cNvSpPr>
                <a:spLocks noChangeShapeType="1"/>
              </p:cNvSpPr>
              <p:nvPr/>
            </p:nvSpPr>
            <p:spPr bwMode="auto">
              <a:xfrm flipV="1">
                <a:off x="793" y="1389"/>
                <a:ext cx="409" cy="363"/>
              </a:xfrm>
              <a:prstGeom prst="lin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17" name="Line 33"/>
              <p:cNvSpPr>
                <a:spLocks noChangeShapeType="1"/>
              </p:cNvSpPr>
              <p:nvPr/>
            </p:nvSpPr>
            <p:spPr bwMode="auto">
              <a:xfrm>
                <a:off x="793" y="1933"/>
                <a:ext cx="409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18" name="Line 34"/>
              <p:cNvSpPr>
                <a:spLocks noChangeShapeType="1"/>
              </p:cNvSpPr>
              <p:nvPr/>
            </p:nvSpPr>
            <p:spPr bwMode="auto">
              <a:xfrm>
                <a:off x="1247" y="1434"/>
                <a:ext cx="0" cy="8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19" name="Line 35"/>
              <p:cNvSpPr>
                <a:spLocks noChangeShapeType="1"/>
              </p:cNvSpPr>
              <p:nvPr/>
            </p:nvSpPr>
            <p:spPr bwMode="auto">
              <a:xfrm>
                <a:off x="1338" y="1298"/>
                <a:ext cx="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20" name="Line 36"/>
              <p:cNvSpPr>
                <a:spLocks noChangeShapeType="1"/>
              </p:cNvSpPr>
              <p:nvPr/>
            </p:nvSpPr>
            <p:spPr bwMode="auto">
              <a:xfrm>
                <a:off x="1338" y="2341"/>
                <a:ext cx="680" cy="0"/>
              </a:xfrm>
              <a:prstGeom prst="lin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21" name="Line 37"/>
              <p:cNvSpPr>
                <a:spLocks noChangeShapeType="1"/>
              </p:cNvSpPr>
              <p:nvPr/>
            </p:nvSpPr>
            <p:spPr bwMode="auto">
              <a:xfrm>
                <a:off x="2200" y="2341"/>
                <a:ext cx="635" cy="0"/>
              </a:xfrm>
              <a:prstGeom prst="lin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22" name="Line 38"/>
              <p:cNvSpPr>
                <a:spLocks noChangeShapeType="1"/>
              </p:cNvSpPr>
              <p:nvPr/>
            </p:nvSpPr>
            <p:spPr bwMode="auto">
              <a:xfrm>
                <a:off x="2154" y="1389"/>
                <a:ext cx="681" cy="862"/>
              </a:xfrm>
              <a:prstGeom prst="lin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23" name="Line 39"/>
              <p:cNvSpPr>
                <a:spLocks noChangeShapeType="1"/>
              </p:cNvSpPr>
              <p:nvPr/>
            </p:nvSpPr>
            <p:spPr bwMode="auto">
              <a:xfrm>
                <a:off x="2200" y="1298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24" name="Line 40"/>
              <p:cNvSpPr>
                <a:spLocks noChangeShapeType="1"/>
              </p:cNvSpPr>
              <p:nvPr/>
            </p:nvSpPr>
            <p:spPr bwMode="auto">
              <a:xfrm>
                <a:off x="2925" y="1389"/>
                <a:ext cx="0" cy="8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25" name="Line 41"/>
              <p:cNvSpPr>
                <a:spLocks noChangeShapeType="1"/>
              </p:cNvSpPr>
              <p:nvPr/>
            </p:nvSpPr>
            <p:spPr bwMode="auto">
              <a:xfrm>
                <a:off x="3016" y="1344"/>
                <a:ext cx="408" cy="3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26" name="Line 42"/>
              <p:cNvSpPr>
                <a:spLocks noChangeShapeType="1"/>
              </p:cNvSpPr>
              <p:nvPr/>
            </p:nvSpPr>
            <p:spPr bwMode="auto">
              <a:xfrm flipV="1">
                <a:off x="3016" y="1888"/>
                <a:ext cx="408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27" name="Line 43"/>
              <p:cNvSpPr>
                <a:spLocks noChangeShapeType="1"/>
              </p:cNvSpPr>
              <p:nvPr/>
            </p:nvSpPr>
            <p:spPr bwMode="auto">
              <a:xfrm>
                <a:off x="1746" y="1933"/>
                <a:ext cx="318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28" name="Line 44"/>
              <p:cNvSpPr>
                <a:spLocks noChangeShapeType="1"/>
              </p:cNvSpPr>
              <p:nvPr/>
            </p:nvSpPr>
            <p:spPr bwMode="auto">
              <a:xfrm flipV="1">
                <a:off x="1292" y="1933"/>
                <a:ext cx="273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29" name="Line 45"/>
              <p:cNvSpPr>
                <a:spLocks noChangeShapeType="1"/>
              </p:cNvSpPr>
              <p:nvPr/>
            </p:nvSpPr>
            <p:spPr bwMode="auto">
              <a:xfrm flipV="1">
                <a:off x="1701" y="1389"/>
                <a:ext cx="317" cy="363"/>
              </a:xfrm>
              <a:prstGeom prst="lin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30" name="Text Box 46"/>
              <p:cNvSpPr txBox="1">
                <a:spLocks noChangeArrowheads="1"/>
              </p:cNvSpPr>
              <p:nvPr/>
            </p:nvSpPr>
            <p:spPr bwMode="auto">
              <a:xfrm>
                <a:off x="793" y="129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>
                    <a:ea typeface="PMingLiU" panose="02020500000000000000" pitchFamily="18" charset="-120"/>
                  </a:rPr>
                  <a:t>4</a:t>
                </a:r>
              </a:p>
            </p:txBody>
          </p:sp>
          <p:sp>
            <p:nvSpPr>
              <p:cNvPr id="16431" name="Text Box 47"/>
              <p:cNvSpPr txBox="1">
                <a:spLocks noChangeArrowheads="1"/>
              </p:cNvSpPr>
              <p:nvPr/>
            </p:nvSpPr>
            <p:spPr bwMode="auto">
              <a:xfrm>
                <a:off x="1552" y="965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>
                    <a:ea typeface="PMingLiU" panose="02020500000000000000" pitchFamily="18" charset="-120"/>
                  </a:rPr>
                  <a:t>8</a:t>
                </a:r>
              </a:p>
            </p:txBody>
          </p:sp>
          <p:sp>
            <p:nvSpPr>
              <p:cNvPr id="16432" name="Text Box 48"/>
              <p:cNvSpPr txBox="1">
                <a:spLocks noChangeArrowheads="1"/>
              </p:cNvSpPr>
              <p:nvPr/>
            </p:nvSpPr>
            <p:spPr bwMode="auto">
              <a:xfrm>
                <a:off x="2396" y="965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>
                    <a:ea typeface="PMingLiU" panose="02020500000000000000" pitchFamily="18" charset="-120"/>
                  </a:rPr>
                  <a:t>7</a:t>
                </a:r>
              </a:p>
            </p:txBody>
          </p:sp>
          <p:sp>
            <p:nvSpPr>
              <p:cNvPr id="16433" name="Text Box 49"/>
              <p:cNvSpPr txBox="1">
                <a:spLocks noChangeArrowheads="1"/>
              </p:cNvSpPr>
              <p:nvPr/>
            </p:nvSpPr>
            <p:spPr bwMode="auto">
              <a:xfrm>
                <a:off x="3230" y="122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>
                    <a:ea typeface="PMingLiU" panose="02020500000000000000" pitchFamily="18" charset="-120"/>
                  </a:rPr>
                  <a:t>9</a:t>
                </a:r>
              </a:p>
            </p:txBody>
          </p:sp>
          <p:sp>
            <p:nvSpPr>
              <p:cNvPr id="16434" name="Text Box 50"/>
              <p:cNvSpPr txBox="1">
                <a:spLocks noChangeArrowheads="1"/>
              </p:cNvSpPr>
              <p:nvPr/>
            </p:nvSpPr>
            <p:spPr bwMode="auto">
              <a:xfrm>
                <a:off x="3198" y="1979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>
                    <a:ea typeface="PMingLiU" panose="02020500000000000000" pitchFamily="18" charset="-120"/>
                  </a:rPr>
                  <a:t>10</a:t>
                </a:r>
              </a:p>
            </p:txBody>
          </p:sp>
          <p:sp>
            <p:nvSpPr>
              <p:cNvPr id="16435" name="Text Box 51"/>
              <p:cNvSpPr txBox="1">
                <a:spLocks noChangeArrowheads="1"/>
              </p:cNvSpPr>
              <p:nvPr/>
            </p:nvSpPr>
            <p:spPr bwMode="auto">
              <a:xfrm>
                <a:off x="2880" y="1661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>
                    <a:ea typeface="PMingLiU" panose="02020500000000000000" pitchFamily="18" charset="-120"/>
                  </a:rPr>
                  <a:t>14</a:t>
                </a:r>
              </a:p>
            </p:txBody>
          </p:sp>
          <p:sp>
            <p:nvSpPr>
              <p:cNvPr id="16436" name="Text Box 52"/>
              <p:cNvSpPr txBox="1">
                <a:spLocks noChangeArrowheads="1"/>
              </p:cNvSpPr>
              <p:nvPr/>
            </p:nvSpPr>
            <p:spPr bwMode="auto">
              <a:xfrm>
                <a:off x="2245" y="173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>
                    <a:ea typeface="PMingLiU" panose="02020500000000000000" pitchFamily="18" charset="-120"/>
                  </a:rPr>
                  <a:t>4</a:t>
                </a:r>
              </a:p>
            </p:txBody>
          </p:sp>
          <p:sp>
            <p:nvSpPr>
              <p:cNvPr id="16437" name="Text Box 53"/>
              <p:cNvSpPr txBox="1">
                <a:spLocks noChangeArrowheads="1"/>
              </p:cNvSpPr>
              <p:nvPr/>
            </p:nvSpPr>
            <p:spPr bwMode="auto">
              <a:xfrm>
                <a:off x="1852" y="1509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>
                    <a:ea typeface="PMingLiU" panose="02020500000000000000" pitchFamily="18" charset="-120"/>
                  </a:rPr>
                  <a:t>2</a:t>
                </a:r>
              </a:p>
            </p:txBody>
          </p:sp>
          <p:sp>
            <p:nvSpPr>
              <p:cNvPr id="16438" name="Text Box 54"/>
              <p:cNvSpPr txBox="1">
                <a:spLocks noChangeArrowheads="1"/>
              </p:cNvSpPr>
              <p:nvPr/>
            </p:nvSpPr>
            <p:spPr bwMode="auto">
              <a:xfrm>
                <a:off x="2426" y="232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>
                    <a:ea typeface="PMingLiU" panose="02020500000000000000" pitchFamily="18" charset="-120"/>
                  </a:rPr>
                  <a:t>2</a:t>
                </a:r>
              </a:p>
            </p:txBody>
          </p:sp>
          <p:sp>
            <p:nvSpPr>
              <p:cNvPr id="16439" name="Text Box 55"/>
              <p:cNvSpPr txBox="1">
                <a:spLocks noChangeArrowheads="1"/>
              </p:cNvSpPr>
              <p:nvPr/>
            </p:nvSpPr>
            <p:spPr bwMode="auto">
              <a:xfrm>
                <a:off x="1869" y="1855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>
                    <a:ea typeface="PMingLiU" panose="02020500000000000000" pitchFamily="18" charset="-120"/>
                  </a:rPr>
                  <a:t>6</a:t>
                </a:r>
              </a:p>
            </p:txBody>
          </p:sp>
          <p:sp>
            <p:nvSpPr>
              <p:cNvPr id="16440" name="Text Box 56"/>
              <p:cNvSpPr txBox="1">
                <a:spLocks noChangeArrowheads="1"/>
              </p:cNvSpPr>
              <p:nvPr/>
            </p:nvSpPr>
            <p:spPr bwMode="auto">
              <a:xfrm>
                <a:off x="1597" y="232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>
                    <a:ea typeface="PMingLiU" panose="02020500000000000000" pitchFamily="18" charset="-120"/>
                  </a:rPr>
                  <a:t>1</a:t>
                </a:r>
              </a:p>
            </p:txBody>
          </p:sp>
          <p:sp>
            <p:nvSpPr>
              <p:cNvPr id="16441" name="Text Box 57"/>
              <p:cNvSpPr txBox="1">
                <a:spLocks noChangeArrowheads="1"/>
              </p:cNvSpPr>
              <p:nvPr/>
            </p:nvSpPr>
            <p:spPr bwMode="auto">
              <a:xfrm>
                <a:off x="1325" y="1855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>
                    <a:ea typeface="PMingLiU" panose="02020500000000000000" pitchFamily="18" charset="-120"/>
                  </a:rPr>
                  <a:t>7</a:t>
                </a:r>
              </a:p>
            </p:txBody>
          </p:sp>
          <p:sp>
            <p:nvSpPr>
              <p:cNvPr id="16442" name="Text Box 58"/>
              <p:cNvSpPr txBox="1">
                <a:spLocks noChangeArrowheads="1"/>
              </p:cNvSpPr>
              <p:nvPr/>
            </p:nvSpPr>
            <p:spPr bwMode="auto">
              <a:xfrm>
                <a:off x="975" y="1645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>
                    <a:ea typeface="PMingLiU" panose="02020500000000000000" pitchFamily="18" charset="-120"/>
                  </a:rPr>
                  <a:t>11</a:t>
                </a:r>
              </a:p>
            </p:txBody>
          </p:sp>
          <p:sp>
            <p:nvSpPr>
              <p:cNvPr id="16443" name="Text Box 59"/>
              <p:cNvSpPr txBox="1">
                <a:spLocks noChangeArrowheads="1"/>
              </p:cNvSpPr>
              <p:nvPr/>
            </p:nvSpPr>
            <p:spPr bwMode="auto">
              <a:xfrm>
                <a:off x="793" y="2053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>
                    <a:ea typeface="PMingLiU" panose="02020500000000000000" pitchFamily="18" charset="-120"/>
                  </a:rPr>
                  <a:t>8</a:t>
                </a:r>
              </a:p>
            </p:txBody>
          </p:sp>
        </p:grpSp>
        <p:sp>
          <p:nvSpPr>
            <p:cNvPr id="16447" name="Freeform 63"/>
            <p:cNvSpPr>
              <a:spLocks/>
            </p:cNvSpPr>
            <p:nvPr/>
          </p:nvSpPr>
          <p:spPr bwMode="auto">
            <a:xfrm>
              <a:off x="295" y="966"/>
              <a:ext cx="3810" cy="1323"/>
            </a:xfrm>
            <a:custGeom>
              <a:avLst/>
              <a:gdLst>
                <a:gd name="T0" fmla="*/ 0 w 3810"/>
                <a:gd name="T1" fmla="*/ 1058 h 1323"/>
                <a:gd name="T2" fmla="*/ 816 w 3810"/>
                <a:gd name="T3" fmla="*/ 1058 h 1323"/>
                <a:gd name="T4" fmla="*/ 1769 w 3810"/>
                <a:gd name="T5" fmla="*/ 15 h 1323"/>
                <a:gd name="T6" fmla="*/ 2766 w 3810"/>
                <a:gd name="T7" fmla="*/ 1149 h 1323"/>
                <a:gd name="T8" fmla="*/ 3810 w 3810"/>
                <a:gd name="T9" fmla="*/ 1058 h 1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10" h="1323">
                  <a:moveTo>
                    <a:pt x="0" y="1058"/>
                  </a:moveTo>
                  <a:cubicBezTo>
                    <a:pt x="260" y="1145"/>
                    <a:pt x="521" y="1232"/>
                    <a:pt x="816" y="1058"/>
                  </a:cubicBezTo>
                  <a:cubicBezTo>
                    <a:pt x="1111" y="884"/>
                    <a:pt x="1444" y="0"/>
                    <a:pt x="1769" y="15"/>
                  </a:cubicBezTo>
                  <a:cubicBezTo>
                    <a:pt x="2094" y="30"/>
                    <a:pt x="2426" y="975"/>
                    <a:pt x="2766" y="1149"/>
                  </a:cubicBezTo>
                  <a:cubicBezTo>
                    <a:pt x="3106" y="1323"/>
                    <a:pt x="3458" y="1190"/>
                    <a:pt x="3810" y="105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8" name="Text Box 64"/>
            <p:cNvSpPr txBox="1">
              <a:spLocks noChangeArrowheads="1"/>
            </p:cNvSpPr>
            <p:nvPr/>
          </p:nvSpPr>
          <p:spPr bwMode="auto">
            <a:xfrm>
              <a:off x="282" y="1628"/>
              <a:ext cx="4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S</a:t>
              </a:r>
              <a:r>
                <a:rPr lang="en-US" altLang="zh-TW">
                  <a:ea typeface="PMingLiU" panose="02020500000000000000" pitchFamily="18" charset="-120"/>
                  <a:cs typeface="Times New Roman" panose="02020603050405020304" pitchFamily="18" charset="0"/>
                </a:rPr>
                <a:t>↑</a:t>
              </a:r>
            </a:p>
          </p:txBody>
        </p:sp>
        <p:sp>
          <p:nvSpPr>
            <p:cNvPr id="16451" name="Text Box 67"/>
            <p:cNvSpPr txBox="1">
              <a:spLocks noChangeArrowheads="1"/>
            </p:cNvSpPr>
            <p:nvPr/>
          </p:nvSpPr>
          <p:spPr bwMode="auto">
            <a:xfrm>
              <a:off x="3742" y="1661"/>
              <a:ext cx="3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↑ S</a:t>
              </a:r>
            </a:p>
          </p:txBody>
        </p:sp>
        <p:sp>
          <p:nvSpPr>
            <p:cNvPr id="16452" name="Text Box 68"/>
            <p:cNvSpPr txBox="1">
              <a:spLocks noChangeArrowheads="1"/>
            </p:cNvSpPr>
            <p:nvPr/>
          </p:nvSpPr>
          <p:spPr bwMode="auto">
            <a:xfrm>
              <a:off x="3719" y="2205"/>
              <a:ext cx="57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↓ V-S</a:t>
              </a:r>
            </a:p>
          </p:txBody>
        </p:sp>
      </p:grpSp>
      <p:sp>
        <p:nvSpPr>
          <p:cNvPr id="16455" name="Text Box 71"/>
          <p:cNvSpPr txBox="1">
            <a:spLocks noChangeArrowheads="1"/>
          </p:cNvSpPr>
          <p:nvPr/>
        </p:nvSpPr>
        <p:spPr bwMode="auto">
          <a:xfrm>
            <a:off x="1763713" y="4772025"/>
            <a:ext cx="5832475" cy="1370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Tx/>
              <a:buChar char="•"/>
            </a:pPr>
            <a:r>
              <a:rPr lang="en-US" altLang="zh-TW">
                <a:ea typeface="PMingLiU" panose="02020500000000000000" pitchFamily="18" charset="-120"/>
              </a:rPr>
              <a:t> This figure shows a cut (S,V-S) of the graph.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altLang="zh-TW">
                <a:ea typeface="PMingLiU" panose="02020500000000000000" pitchFamily="18" charset="-120"/>
              </a:rPr>
              <a:t> The edge (d,c) is the unique light edge crossing the cut.</a:t>
            </a:r>
            <a:endParaRPr lang="en-US" altLang="zh-TW"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34634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>
                <a:ea typeface="PMingLiU" panose="02020500000000000000" pitchFamily="18" charset="-120"/>
              </a:rPr>
              <a:t>The Algorithms of </a:t>
            </a:r>
            <a:r>
              <a:rPr lang="en-US" altLang="zh-TW" sz="4000" dirty="0" err="1">
                <a:ea typeface="PMingLiU" panose="02020500000000000000" pitchFamily="18" charset="-120"/>
              </a:rPr>
              <a:t>Kruskal</a:t>
            </a:r>
            <a:r>
              <a:rPr lang="en-US" altLang="zh-TW" sz="4000" dirty="0">
                <a:ea typeface="PMingLiU" panose="02020500000000000000" pitchFamily="18" charset="-120"/>
              </a:rPr>
              <a:t> and Prim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3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indent="-45720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800" dirty="0">
                    <a:ea typeface="PMingLiU" panose="02020500000000000000" pitchFamily="18" charset="-120"/>
                  </a:rPr>
                  <a:t>The two algorithms are elaborations of the generic algorithm.</a:t>
                </a:r>
              </a:p>
              <a:p>
                <a:pPr marL="457200" indent="-45720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800" dirty="0">
                    <a:ea typeface="PMingLiU" panose="02020500000000000000" pitchFamily="18" charset="-120"/>
                  </a:rPr>
                  <a:t>They each use a specific rule to determine a safe edge in line 3 of GENERIC_MST.</a:t>
                </a:r>
              </a:p>
              <a:p>
                <a:pPr marL="457200" indent="-45720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800" dirty="0">
                    <a:ea typeface="PMingLiU" panose="02020500000000000000" pitchFamily="18" charset="-120"/>
                  </a:rPr>
                  <a:t>In </a:t>
                </a:r>
                <a:r>
                  <a:rPr lang="en-US" altLang="zh-TW" sz="2800" dirty="0" err="1">
                    <a:ea typeface="PMingLiU" panose="02020500000000000000" pitchFamily="18" charset="-120"/>
                  </a:rPr>
                  <a:t>Kruskal's</a:t>
                </a:r>
                <a:r>
                  <a:rPr lang="en-US" altLang="zh-TW" sz="2800" dirty="0">
                    <a:ea typeface="PMingLiU" panose="02020500000000000000" pitchFamily="18" charset="-120"/>
                  </a:rPr>
                  <a:t> algorithm, </a:t>
                </a:r>
              </a:p>
              <a:p>
                <a:pPr marL="800100" lvl="1" indent="-34290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ea typeface="PMingLiU" panose="02020500000000000000" pitchFamily="18" charset="-120"/>
                  </a:rPr>
                  <a:t>The set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𝐴</m:t>
                    </m:r>
                  </m:oMath>
                </a14:m>
                <a:r>
                  <a:rPr lang="en-US" altLang="zh-TW" sz="2400" dirty="0">
                    <a:ea typeface="PMingLiU" panose="02020500000000000000" pitchFamily="18" charset="-120"/>
                  </a:rPr>
                  <a:t> is a forest.</a:t>
                </a:r>
              </a:p>
              <a:p>
                <a:pPr marL="800100" lvl="1" indent="-34290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ea typeface="PMingLiU" panose="02020500000000000000" pitchFamily="18" charset="-120"/>
                  </a:rPr>
                  <a:t>The safe edge added to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𝐴</m:t>
                    </m:r>
                  </m:oMath>
                </a14:m>
                <a:r>
                  <a:rPr lang="en-US" altLang="zh-TW" sz="2400" dirty="0">
                    <a:ea typeface="PMingLiU" panose="02020500000000000000" pitchFamily="18" charset="-120"/>
                  </a:rPr>
                  <a:t> is always a least-weight edge in the graph that connects two distinct components.</a:t>
                </a:r>
              </a:p>
              <a:p>
                <a:pPr marL="457200" indent="-45720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800" dirty="0">
                    <a:ea typeface="PMingLiU" panose="02020500000000000000" pitchFamily="18" charset="-120"/>
                  </a:rPr>
                  <a:t>In Prim's algorithm, </a:t>
                </a:r>
              </a:p>
              <a:p>
                <a:pPr marL="800100" lvl="1" indent="-34290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ea typeface="PMingLiU" panose="02020500000000000000" pitchFamily="18" charset="-120"/>
                  </a:rPr>
                  <a:t>The set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𝐴</m:t>
                    </m:r>
                  </m:oMath>
                </a14:m>
                <a:r>
                  <a:rPr lang="en-US" altLang="zh-TW" sz="2400" dirty="0">
                    <a:ea typeface="PMingLiU" panose="02020500000000000000" pitchFamily="18" charset="-120"/>
                  </a:rPr>
                  <a:t> forms a single tree.</a:t>
                </a:r>
              </a:p>
              <a:p>
                <a:pPr marL="800100" lvl="1" indent="-342900">
                  <a:lnSpc>
                    <a:spcPct val="8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ea typeface="PMingLiU" panose="02020500000000000000" pitchFamily="18" charset="-120"/>
                  </a:rPr>
                  <a:t>The safe edge added to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𝐴</m:t>
                    </m:r>
                  </m:oMath>
                </a14:m>
                <a:r>
                  <a:rPr lang="en-US" altLang="zh-TW" sz="2400" dirty="0">
                    <a:ea typeface="PMingLiU" panose="02020500000000000000" pitchFamily="18" charset="-120"/>
                  </a:rPr>
                  <a:t> is always a least-weight edge connecting the tree to a vertex not in the tree.</a:t>
                </a:r>
              </a:p>
            </p:txBody>
          </p:sp>
        </mc:Choice>
        <mc:Fallback xmlns="">
          <p:sp>
            <p:nvSpPr>
              <p:cNvPr id="2048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247" t="-2561" r="-1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2901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Related Topics</a:t>
            </a:r>
          </a:p>
        </p:txBody>
      </p:sp>
      <p:sp>
        <p:nvSpPr>
          <p:cNvPr id="62466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 b="1" dirty="0">
                <a:ea typeface="PMingLiU" panose="02020500000000000000" pitchFamily="18" charset="-120"/>
              </a:rPr>
              <a:t>Disjoint-Set (Chapter 21, Page 571)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Keep a collection of </a:t>
            </a:r>
            <a:r>
              <a:rPr lang="bn-BD" altLang="zh-TW" sz="2400" u="sng" dirty="0">
                <a:ea typeface="PMingLiU" panose="02020500000000000000" pitchFamily="18" charset="-120"/>
              </a:rPr>
              <a:t>disjoint</a:t>
            </a:r>
            <a:r>
              <a:rPr lang="en-US" altLang="zh-TW" sz="2400" dirty="0">
                <a:ea typeface="PMingLiU" panose="02020500000000000000" pitchFamily="18" charset="-120"/>
              </a:rPr>
              <a:t> sets: S</a:t>
            </a:r>
            <a:r>
              <a:rPr lang="en-US" altLang="zh-TW" sz="2400" baseline="-25000" dirty="0">
                <a:ea typeface="PMingLiU" panose="02020500000000000000" pitchFamily="18" charset="-120"/>
              </a:rPr>
              <a:t>1</a:t>
            </a:r>
            <a:r>
              <a:rPr lang="en-US" altLang="zh-TW" sz="2400" dirty="0">
                <a:ea typeface="PMingLiU" panose="02020500000000000000" pitchFamily="18" charset="-120"/>
              </a:rPr>
              <a:t>, S</a:t>
            </a:r>
            <a:r>
              <a:rPr lang="en-US" altLang="zh-TW" sz="2400" baseline="-25000" dirty="0">
                <a:ea typeface="PMingLiU" panose="02020500000000000000" pitchFamily="18" charset="-120"/>
              </a:rPr>
              <a:t>2</a:t>
            </a:r>
            <a:r>
              <a:rPr lang="en-US" altLang="zh-TW" sz="2400" dirty="0">
                <a:ea typeface="PMingLiU" panose="02020500000000000000" pitchFamily="18" charset="-120"/>
              </a:rPr>
              <a:t>, .., </a:t>
            </a:r>
            <a:r>
              <a:rPr lang="en-US" altLang="zh-TW" sz="2400" dirty="0" err="1">
                <a:ea typeface="PMingLiU" panose="02020500000000000000" pitchFamily="18" charset="-120"/>
              </a:rPr>
              <a:t>S</a:t>
            </a:r>
            <a:r>
              <a:rPr lang="en-US" altLang="zh-TW" sz="2400" baseline="-25000" dirty="0" err="1">
                <a:ea typeface="PMingLiU" panose="02020500000000000000" pitchFamily="18" charset="-120"/>
              </a:rPr>
              <a:t>k</a:t>
            </a:r>
            <a:r>
              <a:rPr lang="en-US" altLang="zh-TW" sz="2400" dirty="0">
                <a:ea typeface="PMingLiU" panose="02020500000000000000" pitchFamily="18" charset="-120"/>
              </a:rPr>
              <a:t>,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Each S</a:t>
            </a:r>
            <a:r>
              <a:rPr lang="en-US" altLang="zh-TW" sz="2400" baseline="-25000" dirty="0">
                <a:ea typeface="PMingLiU" panose="02020500000000000000" pitchFamily="18" charset="-120"/>
              </a:rPr>
              <a:t>i</a:t>
            </a:r>
            <a:r>
              <a:rPr lang="en-US" altLang="zh-TW" sz="2400" dirty="0">
                <a:ea typeface="PMingLiU" panose="02020500000000000000" pitchFamily="18" charset="-120"/>
              </a:rPr>
              <a:t> is a set, </a:t>
            </a:r>
            <a:r>
              <a:rPr lang="en-US" altLang="zh-TW" sz="2400" dirty="0" err="1">
                <a:ea typeface="PMingLiU" panose="02020500000000000000" pitchFamily="18" charset="-120"/>
              </a:rPr>
              <a:t>e,g</a:t>
            </a:r>
            <a:r>
              <a:rPr lang="en-US" altLang="zh-TW" sz="2400" dirty="0">
                <a:ea typeface="PMingLiU" panose="02020500000000000000" pitchFamily="18" charset="-120"/>
              </a:rPr>
              <a:t>, S</a:t>
            </a:r>
            <a:r>
              <a:rPr lang="en-US" altLang="zh-TW" sz="2400" baseline="-25000" dirty="0">
                <a:ea typeface="PMingLiU" panose="02020500000000000000" pitchFamily="18" charset="-120"/>
              </a:rPr>
              <a:t>1</a:t>
            </a:r>
            <a:r>
              <a:rPr lang="en-US" altLang="zh-TW" sz="2400" dirty="0">
                <a:ea typeface="PMingLiU" panose="02020500000000000000" pitchFamily="18" charset="-120"/>
              </a:rPr>
              <a:t>={v</a:t>
            </a:r>
            <a:r>
              <a:rPr lang="en-US" altLang="zh-TW" sz="2400" baseline="-25000" dirty="0">
                <a:ea typeface="PMingLiU" panose="02020500000000000000" pitchFamily="18" charset="-120"/>
              </a:rPr>
              <a:t>1</a:t>
            </a:r>
            <a:r>
              <a:rPr lang="en-US" altLang="zh-TW" sz="2400" dirty="0">
                <a:ea typeface="PMingLiU" panose="02020500000000000000" pitchFamily="18" charset="-120"/>
              </a:rPr>
              <a:t>, v</a:t>
            </a:r>
            <a:r>
              <a:rPr lang="en-US" altLang="zh-TW" sz="2400" baseline="-25000" dirty="0">
                <a:ea typeface="PMingLiU" panose="02020500000000000000" pitchFamily="18" charset="-120"/>
              </a:rPr>
              <a:t>2</a:t>
            </a:r>
            <a:r>
              <a:rPr lang="en-US" altLang="zh-TW" sz="2400" dirty="0">
                <a:ea typeface="PMingLiU" panose="02020500000000000000" pitchFamily="18" charset="-120"/>
              </a:rPr>
              <a:t>, v</a:t>
            </a:r>
            <a:r>
              <a:rPr lang="en-US" altLang="zh-TW" sz="2400" baseline="-25000" dirty="0">
                <a:ea typeface="PMingLiU" panose="02020500000000000000" pitchFamily="18" charset="-120"/>
              </a:rPr>
              <a:t>8</a:t>
            </a:r>
            <a:r>
              <a:rPr lang="en-US" altLang="zh-TW" sz="2400" dirty="0">
                <a:ea typeface="PMingLiU" panose="02020500000000000000" pitchFamily="18" charset="-120"/>
              </a:rPr>
              <a:t>}.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Three operations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b="1" dirty="0">
                <a:ea typeface="PMingLiU" panose="02020500000000000000" pitchFamily="18" charset="-120"/>
              </a:rPr>
              <a:t>Make-Set(x) </a:t>
            </a:r>
            <a:r>
              <a:rPr lang="en-US" altLang="zh-TW" sz="2400" dirty="0">
                <a:ea typeface="PMingLiU" panose="02020500000000000000" pitchFamily="18" charset="-120"/>
              </a:rPr>
              <a:t>- creates a new set whose only member is </a:t>
            </a:r>
            <a:r>
              <a:rPr lang="en-US" altLang="zh-TW" sz="2400" b="1" dirty="0">
                <a:ea typeface="PMingLiU" panose="02020500000000000000" pitchFamily="18" charset="-120"/>
              </a:rPr>
              <a:t>x</a:t>
            </a:r>
            <a:r>
              <a:rPr lang="en-US" altLang="zh-TW" sz="2400" dirty="0">
                <a:ea typeface="PMingLiU" panose="02020500000000000000" pitchFamily="18" charset="-120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b="1" dirty="0">
                <a:ea typeface="PMingLiU" panose="02020500000000000000" pitchFamily="18" charset="-120"/>
              </a:rPr>
              <a:t>Union(x, y)</a:t>
            </a:r>
            <a:r>
              <a:rPr lang="en-US" altLang="zh-TW" sz="2400" dirty="0">
                <a:ea typeface="PMingLiU" panose="02020500000000000000" pitchFamily="18" charset="-120"/>
              </a:rPr>
              <a:t> – unites the sets that contain </a:t>
            </a:r>
            <a:r>
              <a:rPr lang="en-US" altLang="zh-TW" sz="2400" b="1" dirty="0">
                <a:ea typeface="PMingLiU" panose="02020500000000000000" pitchFamily="18" charset="-120"/>
              </a:rPr>
              <a:t>x</a:t>
            </a:r>
            <a:r>
              <a:rPr lang="en-US" altLang="zh-TW" sz="2400" dirty="0">
                <a:ea typeface="PMingLiU" panose="02020500000000000000" pitchFamily="18" charset="-120"/>
              </a:rPr>
              <a:t> and </a:t>
            </a:r>
            <a:r>
              <a:rPr lang="en-US" altLang="zh-TW" sz="2400" b="1" dirty="0">
                <a:ea typeface="PMingLiU" panose="02020500000000000000" pitchFamily="18" charset="-120"/>
              </a:rPr>
              <a:t>y</a:t>
            </a:r>
            <a:r>
              <a:rPr lang="en-US" altLang="zh-TW" sz="2400" dirty="0">
                <a:ea typeface="PMingLiU" panose="02020500000000000000" pitchFamily="18" charset="-120"/>
              </a:rPr>
              <a:t>, say, </a:t>
            </a:r>
            <a:r>
              <a:rPr lang="en-US" altLang="zh-TW" sz="2400" b="1" dirty="0" err="1">
                <a:ea typeface="PMingLiU" panose="02020500000000000000" pitchFamily="18" charset="-120"/>
              </a:rPr>
              <a:t>S</a:t>
            </a:r>
            <a:r>
              <a:rPr lang="en-US" altLang="zh-TW" sz="2400" b="1" baseline="-25000" dirty="0" err="1">
                <a:ea typeface="PMingLiU" panose="02020500000000000000" pitchFamily="18" charset="-120"/>
              </a:rPr>
              <a:t>x</a:t>
            </a:r>
            <a:r>
              <a:rPr lang="en-US" altLang="zh-TW" sz="2400" dirty="0">
                <a:ea typeface="PMingLiU" panose="02020500000000000000" pitchFamily="18" charset="-120"/>
              </a:rPr>
              <a:t> and </a:t>
            </a:r>
            <a:r>
              <a:rPr lang="en-US" altLang="zh-TW" sz="2400" b="1" dirty="0" err="1">
                <a:ea typeface="PMingLiU" panose="02020500000000000000" pitchFamily="18" charset="-120"/>
              </a:rPr>
              <a:t>S</a:t>
            </a:r>
            <a:r>
              <a:rPr lang="en-US" altLang="zh-TW" sz="2400" b="1" baseline="-25000" dirty="0" err="1">
                <a:ea typeface="PMingLiU" panose="02020500000000000000" pitchFamily="18" charset="-120"/>
              </a:rPr>
              <a:t>y</a:t>
            </a:r>
            <a:r>
              <a:rPr lang="en-US" altLang="zh-TW" sz="2400" dirty="0">
                <a:ea typeface="PMingLiU" panose="02020500000000000000" pitchFamily="18" charset="-120"/>
              </a:rPr>
              <a:t>, into a new set that is the union of the two sets.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b="1" dirty="0">
                <a:ea typeface="PMingLiU" panose="02020500000000000000" pitchFamily="18" charset="-120"/>
              </a:rPr>
              <a:t>Find-Set(x) </a:t>
            </a:r>
            <a:r>
              <a:rPr lang="en-US" altLang="zh-TW" sz="2400" dirty="0">
                <a:ea typeface="PMingLiU" panose="02020500000000000000" pitchFamily="18" charset="-120"/>
              </a:rPr>
              <a:t>- returns a pointer to the representative of the set containing </a:t>
            </a:r>
            <a:r>
              <a:rPr lang="en-US" altLang="zh-TW" sz="2400" b="1" dirty="0">
                <a:ea typeface="PMingLiU" panose="02020500000000000000" pitchFamily="18" charset="-120"/>
              </a:rPr>
              <a:t>x</a:t>
            </a:r>
            <a:r>
              <a:rPr lang="en-US" altLang="zh-TW" sz="2400" dirty="0">
                <a:ea typeface="PMingLiU" panose="02020500000000000000" pitchFamily="18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7494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>
                <a:ea typeface="PMingLiU" panose="02020500000000000000" pitchFamily="18" charset="-120"/>
              </a:rPr>
              <a:t>Kruskal's</a:t>
            </a:r>
            <a:r>
              <a:rPr lang="en-US" altLang="zh-TW" dirty="0">
                <a:ea typeface="PMingLiU" panose="02020500000000000000" pitchFamily="18" charset="-120"/>
              </a:rPr>
              <a:t>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07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MST_KRUSKAL(</a:t>
                </a:r>
                <a:r>
                  <a:rPr lang="en-US" altLang="zh-TW" sz="2000" dirty="0" err="1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G,w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)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1	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=∅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2	</a:t>
                </a:r>
                <a:r>
                  <a:rPr lang="en-US" altLang="zh-TW" sz="2000" b="1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for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 each vertex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3		MAKE_SET(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𝑣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)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4	sort the edges of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 into </a:t>
                </a:r>
                <a:r>
                  <a:rPr lang="en-US" altLang="zh-TW" sz="2000" dirty="0" err="1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nondecreasing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 order by weight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80000"/>
                  </a:lnSpc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5	</a:t>
                </a:r>
                <a:r>
                  <a:rPr lang="en-US" altLang="zh-TW" sz="2000" b="1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for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 each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err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lang="en-US" altLang="zh-TW" sz="2000" i="1" dirty="0" err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000" i="1" dirty="0" err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, taken in </a:t>
                </a:r>
                <a:r>
                  <a:rPr lang="en-US" altLang="zh-TW" sz="2000" dirty="0" err="1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nondecreasing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 order by weight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6		if FIND_SET(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𝑢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zh-TW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 FIND_SET(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𝑣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)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7			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∪{(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)}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8			UNION(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𝑣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)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AutoNum type="arabicPlain" startAt="9"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return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50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762" t="-1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5708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Time Complexity of </a:t>
            </a:r>
            <a:r>
              <a:rPr lang="en-US" altLang="zh-TW" dirty="0" err="1">
                <a:ea typeface="PMingLiU" panose="02020500000000000000" pitchFamily="18" charset="-120"/>
              </a:rPr>
              <a:t>Kruskal's</a:t>
            </a:r>
            <a:r>
              <a:rPr lang="en-US" altLang="zh-TW" dirty="0">
                <a:ea typeface="PMingLiU" panose="02020500000000000000" pitchFamily="18" charset="-120"/>
              </a:rPr>
              <a:t> Algorithm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/>
              <a:t>Line 4 sorts E edges =&gt; it takes O(E </a:t>
            </a:r>
            <a:r>
              <a:rPr lang="en-US" sz="2400" dirty="0" err="1"/>
              <a:t>lgE</a:t>
            </a:r>
            <a:r>
              <a:rPr lang="en-US" sz="2400" dirty="0"/>
              <a:t>) time, if we use </a:t>
            </a:r>
            <a:r>
              <a:rPr lang="en-US" sz="2400" dirty="0" err="1"/>
              <a:t>MergeSort</a:t>
            </a:r>
            <a:endParaRPr lang="en-US" sz="2400" dirty="0"/>
          </a:p>
          <a:p>
            <a:pPr lvl="1">
              <a:buFont typeface="Arial" pitchFamily="34" charset="0"/>
              <a:buChar char="•"/>
            </a:pPr>
            <a:r>
              <a:rPr lang="en-US" dirty="0"/>
              <a:t> But </a:t>
            </a:r>
            <a:r>
              <a:rPr lang="en-US" dirty="0" err="1"/>
              <a:t>lg</a:t>
            </a:r>
            <a:r>
              <a:rPr lang="en-US" dirty="0"/>
              <a:t> E = O(</a:t>
            </a:r>
            <a:r>
              <a:rPr lang="en-US" dirty="0" err="1"/>
              <a:t>lg</a:t>
            </a:r>
            <a:r>
              <a:rPr lang="en-US" dirty="0"/>
              <a:t> V), since E &lt; V</a:t>
            </a:r>
            <a:r>
              <a:rPr lang="en-US" baseline="30000" dirty="0"/>
              <a:t>2</a:t>
            </a:r>
            <a:r>
              <a:rPr lang="en-US" dirty="0"/>
              <a:t> =&gt; </a:t>
            </a:r>
            <a:r>
              <a:rPr lang="en-US" dirty="0" err="1"/>
              <a:t>lg</a:t>
            </a:r>
            <a:r>
              <a:rPr lang="en-US" dirty="0"/>
              <a:t> E &lt; 2 </a:t>
            </a:r>
            <a:r>
              <a:rPr lang="en-US" dirty="0" err="1"/>
              <a:t>lg</a:t>
            </a:r>
            <a:r>
              <a:rPr lang="en-US" dirty="0"/>
              <a:t> V =&gt; E is O(</a:t>
            </a:r>
            <a:r>
              <a:rPr lang="en-US" dirty="0" err="1"/>
              <a:t>lg</a:t>
            </a:r>
            <a:r>
              <a:rPr lang="en-US" dirty="0"/>
              <a:t> V)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Hence O(E </a:t>
            </a:r>
            <a:r>
              <a:rPr lang="en-US" dirty="0" err="1"/>
              <a:t>lg</a:t>
            </a:r>
            <a:r>
              <a:rPr lang="en-US" dirty="0"/>
              <a:t> E) = O(E </a:t>
            </a:r>
            <a:r>
              <a:rPr lang="en-US" dirty="0" err="1"/>
              <a:t>lg</a:t>
            </a:r>
            <a:r>
              <a:rPr lang="en-US" dirty="0"/>
              <a:t> V)</a:t>
            </a:r>
            <a:endParaRPr lang="en-US" baseline="30000" dirty="0"/>
          </a:p>
          <a:p>
            <a:pPr marL="0" lvl="1">
              <a:spcBef>
                <a:spcPts val="1000"/>
              </a:spcBef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altLang="zh-TW" dirty="0">
                <a:ea typeface="PMingLiU" panose="02020500000000000000" pitchFamily="18" charset="-120"/>
              </a:rPr>
              <a:t>If we make total m calls of </a:t>
            </a:r>
            <a:r>
              <a:rPr lang="en-US" altLang="zh-TW" dirty="0" err="1">
                <a:ea typeface="PMingLiU" panose="02020500000000000000" pitchFamily="18" charset="-120"/>
              </a:rPr>
              <a:t>Make_set</a:t>
            </a:r>
            <a:r>
              <a:rPr lang="en-US" altLang="zh-TW" dirty="0">
                <a:ea typeface="PMingLiU" panose="02020500000000000000" pitchFamily="18" charset="-120"/>
              </a:rPr>
              <a:t>, Union, and </a:t>
            </a:r>
            <a:r>
              <a:rPr lang="en-US" altLang="zh-TW" dirty="0" err="1">
                <a:ea typeface="PMingLiU" panose="02020500000000000000" pitchFamily="18" charset="-120"/>
              </a:rPr>
              <a:t>Find_set</a:t>
            </a:r>
            <a:r>
              <a:rPr lang="en-US" altLang="zh-TW" dirty="0">
                <a:ea typeface="PMingLiU" panose="02020500000000000000" pitchFamily="18" charset="-120"/>
              </a:rPr>
              <a:t> in any algorithm, then these calls will take total O(m </a:t>
            </a:r>
            <a:r>
              <a:rPr lang="en-US" altLang="zh-TW" dirty="0" err="1">
                <a:ea typeface="PMingLiU" panose="02020500000000000000" pitchFamily="18" charset="-120"/>
              </a:rPr>
              <a:t>lg</a:t>
            </a:r>
            <a:r>
              <a:rPr lang="en-US" altLang="zh-TW" dirty="0">
                <a:ea typeface="PMingLiU" panose="02020500000000000000" pitchFamily="18" charset="-120"/>
              </a:rPr>
              <a:t> n) time, where n is the number of Make-Set calls. 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2400" dirty="0"/>
              <a:t> The 1</a:t>
            </a:r>
            <a:r>
              <a:rPr lang="en-US" sz="2400" baseline="30000" dirty="0"/>
              <a:t>st</a:t>
            </a:r>
            <a:r>
              <a:rPr lang="en-US" sz="2400" dirty="0"/>
              <a:t> for loop makes O(V) MAKE_SET() calls and the 2</a:t>
            </a:r>
            <a:r>
              <a:rPr lang="en-US" sz="2400" baseline="30000" dirty="0"/>
              <a:t>nd</a:t>
            </a:r>
            <a:r>
              <a:rPr lang="en-US" sz="2400" dirty="0"/>
              <a:t> for loop makes O(E) </a:t>
            </a:r>
            <a:r>
              <a:rPr lang="en-US" sz="2400" dirty="0" err="1"/>
              <a:t>Find_SET</a:t>
            </a:r>
            <a:r>
              <a:rPr lang="en-US" sz="2400" dirty="0"/>
              <a:t> and UNION calls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 Total O(V+E) calls of MAKE_SET, FIND_SET, and UNION, out of which O(V) calls were MAKE_SET calls =&gt; O((V+E) </a:t>
            </a:r>
            <a:r>
              <a:rPr lang="en-US" dirty="0" err="1"/>
              <a:t>lgV</a:t>
            </a:r>
            <a:r>
              <a:rPr lang="en-US" dirty="0"/>
              <a:t>) time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 E ≥ V-1, since the graph is connected</a:t>
            </a:r>
          </a:p>
          <a:p>
            <a:pPr lvl="1"/>
            <a:r>
              <a:rPr lang="en-US" dirty="0"/>
              <a:t>=&gt; V is O(E)=&gt; O((V+E) </a:t>
            </a:r>
            <a:r>
              <a:rPr lang="en-US" dirty="0" err="1"/>
              <a:t>lgV</a:t>
            </a:r>
            <a:r>
              <a:rPr lang="en-US" dirty="0"/>
              <a:t>) = O(E </a:t>
            </a:r>
            <a:r>
              <a:rPr lang="en-US" dirty="0" err="1"/>
              <a:t>lgV</a:t>
            </a:r>
            <a:r>
              <a:rPr lang="en-US" dirty="0"/>
              <a:t>)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 Hence total time = O(E </a:t>
            </a:r>
            <a:r>
              <a:rPr lang="en-US" sz="2400" dirty="0" err="1"/>
              <a:t>lg</a:t>
            </a:r>
            <a:r>
              <a:rPr lang="en-US" sz="2400" dirty="0"/>
              <a:t> V)</a:t>
            </a:r>
          </a:p>
          <a:p>
            <a:pPr>
              <a:buFont typeface="Arial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9005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>
                <a:ea typeface="PMingLiU" panose="02020500000000000000" pitchFamily="18" charset="-120"/>
              </a:rPr>
              <a:t>Kruskal's</a:t>
            </a:r>
            <a:r>
              <a:rPr lang="en-US" altLang="zh-TW" dirty="0">
                <a:ea typeface="PMingLiU" panose="02020500000000000000" pitchFamily="18" charset="-120"/>
              </a:rPr>
              <a:t>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edges considered by the algorithm are sorted by weight.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 under consideration at each step is shown with a red weight number.</a:t>
            </a:r>
          </a:p>
          <a:p>
            <a:endParaRPr lang="en-US" sz="2400" dirty="0"/>
          </a:p>
        </p:txBody>
      </p:sp>
      <p:grpSp>
        <p:nvGrpSpPr>
          <p:cNvPr id="23556" name="Group 4"/>
          <p:cNvGrpSpPr>
            <a:grpSpLocks/>
          </p:cNvGrpSpPr>
          <p:nvPr/>
        </p:nvGrpSpPr>
        <p:grpSpPr bwMode="auto">
          <a:xfrm>
            <a:off x="2250281" y="2249487"/>
            <a:ext cx="4608512" cy="2617788"/>
            <a:chOff x="1429" y="2643"/>
            <a:chExt cx="2903" cy="1649"/>
          </a:xfrm>
        </p:grpSpPr>
        <p:grpSp>
          <p:nvGrpSpPr>
            <p:cNvPr id="23557" name="Group 5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23558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23559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60" name="Group 8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23561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23562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63" name="Group 11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23564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23565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66" name="Group 14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23567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23568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69" name="Group 17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23570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23571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72" name="Group 20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23573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23574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75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23576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23577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78" name="Group 26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23579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23580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81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23582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23583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3584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5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6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7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8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9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0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1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2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3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4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5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6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7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8" name="Text Box 46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23599" name="Text Box 47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23600" name="Text Box 48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23601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23602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23603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23604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23605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23606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23607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23608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19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23609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23610" name="Text Box 58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23611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7081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>
                <a:ea typeface="PMingLiU" panose="02020500000000000000" pitchFamily="18" charset="-120"/>
              </a:rPr>
              <a:t>Kruskal's</a:t>
            </a:r>
            <a:r>
              <a:rPr lang="en-US" altLang="zh-TW" dirty="0">
                <a:ea typeface="PMingLiU" panose="02020500000000000000" pitchFamily="18" charset="-120"/>
              </a:rPr>
              <a:t>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edges are considered by the algorithm in sorted order by weight.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 under consideration at each step is shown with a red weight number.</a:t>
            </a:r>
          </a:p>
          <a:p>
            <a:endParaRPr lang="en-US" sz="2400" dirty="0"/>
          </a:p>
          <a:p>
            <a:endParaRPr lang="en-US" sz="2400" dirty="0"/>
          </a:p>
        </p:txBody>
      </p:sp>
      <p:grpSp>
        <p:nvGrpSpPr>
          <p:cNvPr id="23556" name="Group 4"/>
          <p:cNvGrpSpPr>
            <a:grpSpLocks/>
          </p:cNvGrpSpPr>
          <p:nvPr/>
        </p:nvGrpSpPr>
        <p:grpSpPr bwMode="auto">
          <a:xfrm>
            <a:off x="2250281" y="2249487"/>
            <a:ext cx="4608512" cy="2617788"/>
            <a:chOff x="1429" y="2643"/>
            <a:chExt cx="2903" cy="1649"/>
          </a:xfrm>
        </p:grpSpPr>
        <p:grpSp>
          <p:nvGrpSpPr>
            <p:cNvPr id="23557" name="Group 5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23558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23559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60" name="Group 8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23561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23562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63" name="Group 11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23564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23565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66" name="Group 14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23567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23568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69" name="Group 17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23570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23571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72" name="Group 20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23573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23574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75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23576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23577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78" name="Group 26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23579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23580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81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23582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23583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3584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5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6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7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8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9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0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1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2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3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4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5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6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7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8" name="Text Box 46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23599" name="Text Box 47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23600" name="Text Box 48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23601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23602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23603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23604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23605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23606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23607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23608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solidFill>
                    <a:srgbClr val="FF3300"/>
                  </a:solidFill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23609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23610" name="Text Box 58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23611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3839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>
                <a:ea typeface="PMingLiU" panose="02020500000000000000" pitchFamily="18" charset="-120"/>
              </a:rPr>
              <a:t>Kruskal's</a:t>
            </a:r>
            <a:r>
              <a:rPr lang="en-US" altLang="zh-TW" dirty="0">
                <a:ea typeface="PMingLiU" panose="02020500000000000000" pitchFamily="18" charset="-120"/>
              </a:rPr>
              <a:t>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edges are considered by the algorithm in sorted order by weight.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 under consideration at each step is shown with a red weight number.</a:t>
            </a:r>
          </a:p>
          <a:p>
            <a:endParaRPr lang="en-US" sz="2400" dirty="0"/>
          </a:p>
        </p:txBody>
      </p:sp>
      <p:grpSp>
        <p:nvGrpSpPr>
          <p:cNvPr id="63" name="Group 4"/>
          <p:cNvGrpSpPr>
            <a:grpSpLocks/>
          </p:cNvGrpSpPr>
          <p:nvPr/>
        </p:nvGrpSpPr>
        <p:grpSpPr bwMode="auto">
          <a:xfrm>
            <a:off x="2250280" y="2249487"/>
            <a:ext cx="4608513" cy="2617788"/>
            <a:chOff x="1429" y="2643"/>
            <a:chExt cx="2903" cy="1649"/>
          </a:xfrm>
        </p:grpSpPr>
        <p:grpSp>
          <p:nvGrpSpPr>
            <p:cNvPr id="64" name="Group 5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117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118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5" name="Group 8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115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116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6" name="Group 11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113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114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7" name="Group 14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111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112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8" name="Group 17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109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110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9" name="Group 20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107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108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0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105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106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1" name="Group 26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103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104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2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101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102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3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 Box 46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88" name="Text Box 47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89" name="Text Box 48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90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91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92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93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94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solidFill>
                    <a:srgbClr val="FF3300"/>
                  </a:solidFill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95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96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97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98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99" name="Text Box 58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100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9726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>
                <a:ea typeface="PMingLiU" panose="02020500000000000000" pitchFamily="18" charset="-120"/>
              </a:rPr>
              <a:t>Kruskal's</a:t>
            </a:r>
            <a:r>
              <a:rPr lang="en-US" altLang="zh-TW" dirty="0">
                <a:ea typeface="PMingLiU" panose="02020500000000000000" pitchFamily="18" charset="-120"/>
              </a:rPr>
              <a:t>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edges are considered by the algorithm in sorted order by weight.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 under consideration at each step is shown with a red weight number.</a:t>
            </a:r>
          </a:p>
          <a:p>
            <a:endParaRPr lang="en-US" sz="2400" dirty="0"/>
          </a:p>
        </p:txBody>
      </p:sp>
      <p:grpSp>
        <p:nvGrpSpPr>
          <p:cNvPr id="61" name="Group 60"/>
          <p:cNvGrpSpPr>
            <a:grpSpLocks/>
          </p:cNvGrpSpPr>
          <p:nvPr/>
        </p:nvGrpSpPr>
        <p:grpSpPr bwMode="auto">
          <a:xfrm>
            <a:off x="2250281" y="2249487"/>
            <a:ext cx="4608512" cy="2617788"/>
            <a:chOff x="1429" y="2643"/>
            <a:chExt cx="2903" cy="1649"/>
          </a:xfrm>
        </p:grpSpPr>
        <p:grpSp>
          <p:nvGrpSpPr>
            <p:cNvPr id="119" name="Group 61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172" name="Text Box 6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173" name="Oval 6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0" name="Group 64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170" name="Text Box 6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171" name="Oval 6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1" name="Group 67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168" name="Text Box 6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169" name="Oval 6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2" name="Group 70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166" name="Text Box 7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167" name="Oval 7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3" name="Group 73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164" name="Text Box 7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165" name="Oval 7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4" name="Group 76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162" name="Text Box 7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163" name="Oval 7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5" name="Group 79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160" name="Text Box 80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161" name="Oval 81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6" name="Group 82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158" name="Text Box 83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159" name="Oval 84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7" name="Group 85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156" name="Text Box 86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157" name="Oval 87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8" name="Line 88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Line 89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Line 90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Line 91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Line 92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Line 93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Line 94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Line 95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Line 96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Line 97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Line 98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Line 99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Line 100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Line 101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Text Box 102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143" name="Text Box 103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144" name="Text Box 104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145" name="Text Box 105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146" name="Text Box 106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147" name="Text Box 107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148" name="Text Box 108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149" name="Text Box 109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150" name="Text Box 110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solidFill>
                    <a:srgbClr val="FF3300"/>
                  </a:solidFill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151" name="Text Box 111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152" name="Text Box 112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153" name="Text Box 113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154" name="Text Box 114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155" name="Text Box 115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5360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>
                <a:ea typeface="PMingLiU" panose="02020500000000000000" pitchFamily="18" charset="-120"/>
              </a:rPr>
              <a:t>Kruskal's</a:t>
            </a:r>
            <a:r>
              <a:rPr lang="en-US" altLang="zh-TW" dirty="0">
                <a:ea typeface="PMingLiU" panose="02020500000000000000" pitchFamily="18" charset="-120"/>
              </a:rPr>
              <a:t>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edges are considered by the algorithm in sorted order by weight.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 under consideration at each step is shown with a red weight number.</a:t>
            </a:r>
          </a:p>
          <a:p>
            <a:endParaRPr lang="en-US" sz="2400" dirty="0"/>
          </a:p>
        </p:txBody>
      </p:sp>
      <p:grpSp>
        <p:nvGrpSpPr>
          <p:cNvPr id="63" name="Group 4"/>
          <p:cNvGrpSpPr>
            <a:grpSpLocks/>
          </p:cNvGrpSpPr>
          <p:nvPr/>
        </p:nvGrpSpPr>
        <p:grpSpPr bwMode="auto">
          <a:xfrm>
            <a:off x="2250281" y="2249487"/>
            <a:ext cx="4608512" cy="2617788"/>
            <a:chOff x="1429" y="2643"/>
            <a:chExt cx="2903" cy="1649"/>
          </a:xfrm>
        </p:grpSpPr>
        <p:grpSp>
          <p:nvGrpSpPr>
            <p:cNvPr id="64" name="Group 5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117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118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5" name="Group 8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115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116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6" name="Group 11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113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114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7" name="Group 14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111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112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8" name="Group 17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109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110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9" name="Group 20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107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108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0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105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106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1" name="Group 26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103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104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2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101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102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3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 Box 46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solidFill>
                    <a:srgbClr val="FF3300"/>
                  </a:solidFill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88" name="Text Box 47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89" name="Text Box 48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90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91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92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93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94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95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96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97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98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99" name="Text Box 58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100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0830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>
                <a:ea typeface="PMingLiU" panose="02020500000000000000" pitchFamily="18" charset="-120"/>
              </a:rPr>
              <a:t>Kruskal's</a:t>
            </a:r>
            <a:r>
              <a:rPr lang="en-US" altLang="zh-TW" dirty="0">
                <a:ea typeface="PMingLiU" panose="02020500000000000000" pitchFamily="18" charset="-120"/>
              </a:rPr>
              <a:t>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edges are considered by the algorithm in sorted order by weight.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 under consideration at each step is shown with a red weight number.</a:t>
            </a:r>
          </a:p>
          <a:p>
            <a:endParaRPr lang="en-US" sz="2400" dirty="0"/>
          </a:p>
        </p:txBody>
      </p:sp>
      <p:grpSp>
        <p:nvGrpSpPr>
          <p:cNvPr id="61" name="Group 60"/>
          <p:cNvGrpSpPr>
            <a:grpSpLocks/>
          </p:cNvGrpSpPr>
          <p:nvPr/>
        </p:nvGrpSpPr>
        <p:grpSpPr bwMode="auto">
          <a:xfrm>
            <a:off x="2250281" y="2249487"/>
            <a:ext cx="4608512" cy="2617787"/>
            <a:chOff x="1429" y="2643"/>
            <a:chExt cx="2903" cy="1649"/>
          </a:xfrm>
        </p:grpSpPr>
        <p:grpSp>
          <p:nvGrpSpPr>
            <p:cNvPr id="119" name="Group 61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172" name="Text Box 6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173" name="Oval 6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0" name="Group 64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170" name="Text Box 6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171" name="Oval 6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1" name="Group 67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168" name="Text Box 6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169" name="Oval 6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2" name="Group 70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166" name="Text Box 7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167" name="Oval 7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3" name="Group 73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164" name="Text Box 7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165" name="Oval 7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4" name="Group 76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162" name="Text Box 7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163" name="Oval 7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5" name="Group 79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160" name="Text Box 80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161" name="Oval 81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6" name="Group 82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158" name="Text Box 83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159" name="Oval 84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7" name="Group 85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156" name="Text Box 86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157" name="Oval 87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8" name="Line 88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Line 89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Line 90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Line 91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Line 92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Line 93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Line 94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Line 95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Line 96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Line 97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Line 98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Line 99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Line 100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Line 101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Text Box 102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143" name="Text Box 103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144" name="Text Box 104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145" name="Text Box 105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146" name="Text Box 106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147" name="Text Box 107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148" name="Text Box 108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solidFill>
                    <a:srgbClr val="FF3300"/>
                  </a:solidFill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149" name="Text Box 109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150" name="Text Box 110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151" name="Text Box 111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152" name="Text Box 112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153" name="Text Box 113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154" name="Text Box 114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155" name="Text Box 115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19973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>
                <a:ea typeface="PMingLiU" panose="02020500000000000000" pitchFamily="18" charset="-120"/>
              </a:rPr>
              <a:t>Kruskal's</a:t>
            </a:r>
            <a:r>
              <a:rPr lang="en-US" altLang="zh-TW" dirty="0">
                <a:ea typeface="PMingLiU" panose="02020500000000000000" pitchFamily="18" charset="-120"/>
              </a:rPr>
              <a:t>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edges are considered by the algorithm in sorted order by weight.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 under consideration at each step is shown with a red weight number.</a:t>
            </a:r>
          </a:p>
          <a:p>
            <a:endParaRPr lang="en-US" sz="2400" dirty="0"/>
          </a:p>
        </p:txBody>
      </p:sp>
      <p:grpSp>
        <p:nvGrpSpPr>
          <p:cNvPr id="63" name="Group 60"/>
          <p:cNvGrpSpPr>
            <a:grpSpLocks/>
          </p:cNvGrpSpPr>
          <p:nvPr/>
        </p:nvGrpSpPr>
        <p:grpSpPr bwMode="auto">
          <a:xfrm>
            <a:off x="2250280" y="2249487"/>
            <a:ext cx="4608513" cy="2617788"/>
            <a:chOff x="1429" y="2643"/>
            <a:chExt cx="2903" cy="1649"/>
          </a:xfrm>
        </p:grpSpPr>
        <p:grpSp>
          <p:nvGrpSpPr>
            <p:cNvPr id="64" name="Group 61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117" name="Text Box 6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118" name="Oval 6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5" name="Group 64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115" name="Text Box 6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116" name="Oval 6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6" name="Group 67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113" name="Text Box 6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114" name="Oval 6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7" name="Group 70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111" name="Text Box 7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112" name="Oval 7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8" name="Group 73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109" name="Text Box 7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110" name="Oval 7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9" name="Group 76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107" name="Text Box 7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108" name="Oval 7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0" name="Group 79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105" name="Text Box 80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106" name="Oval 81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1" name="Group 82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103" name="Text Box 83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104" name="Oval 84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2" name="Group 85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101" name="Text Box 86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102" name="Oval 87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3" name="Line 88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Line 89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Line 90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Line 91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Line 92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Line 93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Line 94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95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Line 96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Line 97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Line 98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Line 99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Line 100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Line 101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 Box 102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88" name="Text Box 103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89" name="Text Box 104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90" name="Text Box 105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91" name="Text Box 106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92" name="Text Box 107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93" name="Text Box 108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94" name="Text Box 109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95" name="Text Box 110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96" name="Text Box 111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solidFill>
                    <a:srgbClr val="FF3300"/>
                  </a:solidFill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97" name="Text Box 112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98" name="Text Box 113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99" name="Text Box 114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100" name="Text Box 115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50715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>
                <a:ea typeface="PMingLiU" panose="02020500000000000000" pitchFamily="18" charset="-120"/>
              </a:rPr>
              <a:t>Kruskal's</a:t>
            </a:r>
            <a:r>
              <a:rPr lang="en-US" altLang="zh-TW" dirty="0">
                <a:ea typeface="PMingLiU" panose="02020500000000000000" pitchFamily="18" charset="-120"/>
              </a:rPr>
              <a:t>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edges are considered by the algorithm in sorted order by weight.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 under consideration at each step is shown with a red weight number.</a:t>
            </a:r>
          </a:p>
          <a:p>
            <a:endParaRPr lang="en-US" sz="2400" dirty="0"/>
          </a:p>
        </p:txBody>
      </p:sp>
      <p:grpSp>
        <p:nvGrpSpPr>
          <p:cNvPr id="61" name="Group 4"/>
          <p:cNvGrpSpPr>
            <a:grpSpLocks/>
          </p:cNvGrpSpPr>
          <p:nvPr/>
        </p:nvGrpSpPr>
        <p:grpSpPr bwMode="auto">
          <a:xfrm>
            <a:off x="2250280" y="2249487"/>
            <a:ext cx="4608513" cy="2617787"/>
            <a:chOff x="1429" y="2643"/>
            <a:chExt cx="2903" cy="1649"/>
          </a:xfrm>
        </p:grpSpPr>
        <p:grpSp>
          <p:nvGrpSpPr>
            <p:cNvPr id="119" name="Group 5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172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173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0" name="Group 8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170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171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1" name="Group 11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168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169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2" name="Group 14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166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167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3" name="Group 17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164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165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4" name="Group 20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162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163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5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160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161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6" name="Group 26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158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159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7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156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157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8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Text Box 46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143" name="Text Box 47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144" name="Text Box 48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solidFill>
                    <a:srgbClr val="FF3300"/>
                  </a:solidFill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145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146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147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148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149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150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151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152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153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154" name="Text Box 58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155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9562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>
                <a:ea typeface="PMingLiU" panose="02020500000000000000" pitchFamily="18" charset="-120"/>
              </a:rPr>
              <a:t>Kruskal's</a:t>
            </a:r>
            <a:r>
              <a:rPr lang="en-US" altLang="zh-TW" dirty="0">
                <a:ea typeface="PMingLiU" panose="02020500000000000000" pitchFamily="18" charset="-120"/>
              </a:rPr>
              <a:t>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edges are considered by the algorithm in sorted order by weight.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 under consideration at each step is shown with a red weight number.</a:t>
            </a:r>
          </a:p>
          <a:p>
            <a:endParaRPr lang="en-US" sz="2400" dirty="0"/>
          </a:p>
        </p:txBody>
      </p:sp>
      <p:grpSp>
        <p:nvGrpSpPr>
          <p:cNvPr id="63" name="Group 60"/>
          <p:cNvGrpSpPr>
            <a:grpSpLocks/>
          </p:cNvGrpSpPr>
          <p:nvPr/>
        </p:nvGrpSpPr>
        <p:grpSpPr bwMode="auto">
          <a:xfrm>
            <a:off x="2250281" y="2249487"/>
            <a:ext cx="4608512" cy="2617788"/>
            <a:chOff x="1429" y="2643"/>
            <a:chExt cx="2903" cy="1649"/>
          </a:xfrm>
        </p:grpSpPr>
        <p:grpSp>
          <p:nvGrpSpPr>
            <p:cNvPr id="64" name="Group 61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117" name="Text Box 6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118" name="Oval 6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5" name="Group 64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115" name="Text Box 6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116" name="Oval 6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6" name="Group 67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113" name="Text Box 6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114" name="Oval 6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7" name="Group 70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111" name="Text Box 7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112" name="Oval 7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8" name="Group 73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109" name="Text Box 7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110" name="Oval 7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9" name="Group 76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107" name="Text Box 7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108" name="Oval 7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0" name="Group 79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105" name="Text Box 80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106" name="Oval 81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1" name="Group 82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103" name="Text Box 83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104" name="Oval 84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2" name="Group 85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101" name="Text Box 86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102" name="Oval 87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3" name="Line 88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Line 89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Line 90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Line 91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Line 92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Line 93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Line 94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95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Line 96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Line 97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Line 98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Line 99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Line 100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Line 101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 Box 102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88" name="Text Box 103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89" name="Text Box 104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90" name="Text Box 105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91" name="Text Box 106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92" name="Text Box 107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93" name="Text Box 108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94" name="Text Box 109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95" name="Text Box 110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96" name="Text Box 111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97" name="Text Box 112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98" name="Text Box 113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solidFill>
                    <a:srgbClr val="FF3300"/>
                  </a:solidFill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99" name="Text Box 114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100" name="Text Box 115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1940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>
                <a:ea typeface="PMingLiU" panose="02020500000000000000" pitchFamily="18" charset="-120"/>
              </a:rPr>
              <a:t>Kruskal's</a:t>
            </a:r>
            <a:r>
              <a:rPr lang="en-US" altLang="zh-TW" dirty="0">
                <a:ea typeface="PMingLiU" panose="02020500000000000000" pitchFamily="18" charset="-120"/>
              </a:rPr>
              <a:t>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edges are considered by the algorithm in sorted order by weight.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 under consideration at each step is shown with a red weight number.</a:t>
            </a:r>
          </a:p>
          <a:p>
            <a:endParaRPr lang="en-US" sz="2400" dirty="0"/>
          </a:p>
        </p:txBody>
      </p:sp>
      <p:grpSp>
        <p:nvGrpSpPr>
          <p:cNvPr id="61" name="Group 4"/>
          <p:cNvGrpSpPr>
            <a:grpSpLocks/>
          </p:cNvGrpSpPr>
          <p:nvPr/>
        </p:nvGrpSpPr>
        <p:grpSpPr bwMode="auto">
          <a:xfrm>
            <a:off x="2250281" y="2249487"/>
            <a:ext cx="4608512" cy="2617787"/>
            <a:chOff x="1429" y="2643"/>
            <a:chExt cx="2903" cy="1649"/>
          </a:xfrm>
        </p:grpSpPr>
        <p:grpSp>
          <p:nvGrpSpPr>
            <p:cNvPr id="119" name="Group 5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172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173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0" name="Group 8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170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171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1" name="Group 11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168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169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2" name="Group 14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166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167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3" name="Group 17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164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165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4" name="Group 20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162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163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5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160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161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6" name="Group 26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158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159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7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156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157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8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Text Box 46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143" name="Text Box 47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144" name="Text Box 48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145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146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147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148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149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150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151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152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153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154" name="Text Box 58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155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solidFill>
                    <a:srgbClr val="FF3300"/>
                  </a:solidFill>
                  <a:ea typeface="PMingLiU" panose="02020500000000000000" pitchFamily="18" charset="-12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66027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>
                <a:ea typeface="PMingLiU" panose="02020500000000000000" pitchFamily="18" charset="-120"/>
              </a:rPr>
              <a:t>Kruskal's</a:t>
            </a:r>
            <a:r>
              <a:rPr lang="en-US" altLang="zh-TW" dirty="0">
                <a:ea typeface="PMingLiU" panose="02020500000000000000" pitchFamily="18" charset="-120"/>
              </a:rPr>
              <a:t>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edges are considered by the algorithm in sorted order by weight.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 under consideration at each step is shown with a red weight number.</a:t>
            </a:r>
          </a:p>
          <a:p>
            <a:endParaRPr lang="en-US" sz="2400" dirty="0"/>
          </a:p>
        </p:txBody>
      </p:sp>
      <p:grpSp>
        <p:nvGrpSpPr>
          <p:cNvPr id="63" name="Group 60"/>
          <p:cNvGrpSpPr>
            <a:grpSpLocks/>
          </p:cNvGrpSpPr>
          <p:nvPr/>
        </p:nvGrpSpPr>
        <p:grpSpPr bwMode="auto">
          <a:xfrm>
            <a:off x="2250281" y="2249487"/>
            <a:ext cx="4608512" cy="2617788"/>
            <a:chOff x="1429" y="2643"/>
            <a:chExt cx="2903" cy="1649"/>
          </a:xfrm>
        </p:grpSpPr>
        <p:grpSp>
          <p:nvGrpSpPr>
            <p:cNvPr id="64" name="Group 61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117" name="Text Box 6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118" name="Oval 6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5" name="Group 64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115" name="Text Box 6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116" name="Oval 6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6" name="Group 67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113" name="Text Box 6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114" name="Oval 6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7" name="Group 70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111" name="Text Box 7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112" name="Oval 7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8" name="Group 73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109" name="Text Box 7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110" name="Oval 7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9" name="Group 76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107" name="Text Box 7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108" name="Oval 7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0" name="Group 79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105" name="Text Box 80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106" name="Oval 81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1" name="Group 82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103" name="Text Box 83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104" name="Oval 84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2" name="Group 85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101" name="Text Box 86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102" name="Oval 87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3" name="Line 88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Line 89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Line 90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Line 91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Line 92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Line 93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Line 94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95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Line 96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Line 97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Line 98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Line 99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Line 100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Line 101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 Box 102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88" name="Text Box 103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solidFill>
                    <a:srgbClr val="FF3300"/>
                  </a:solidFill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89" name="Text Box 104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90" name="Text Box 105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91" name="Text Box 106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92" name="Text Box 107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93" name="Text Box 108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94" name="Text Box 109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95" name="Text Box 110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96" name="Text Box 111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97" name="Text Box 112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98" name="Text Box 113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99" name="Text Box 114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100" name="Text Box 115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89583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>
                <a:ea typeface="PMingLiU" panose="02020500000000000000" pitchFamily="18" charset="-120"/>
              </a:rPr>
              <a:t>Kruskal's</a:t>
            </a:r>
            <a:r>
              <a:rPr lang="en-US" altLang="zh-TW" dirty="0">
                <a:ea typeface="PMingLiU" panose="02020500000000000000" pitchFamily="18" charset="-120"/>
              </a:rPr>
              <a:t>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edges are considered by the algorithm in sorted order by weight.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 under consideration at each step is shown with a red weight number.</a:t>
            </a:r>
          </a:p>
          <a:p>
            <a:endParaRPr lang="en-US" sz="2400" dirty="0"/>
          </a:p>
        </p:txBody>
      </p:sp>
      <p:grpSp>
        <p:nvGrpSpPr>
          <p:cNvPr id="61" name="Group 4"/>
          <p:cNvGrpSpPr>
            <a:grpSpLocks/>
          </p:cNvGrpSpPr>
          <p:nvPr/>
        </p:nvGrpSpPr>
        <p:grpSpPr bwMode="auto">
          <a:xfrm>
            <a:off x="2250281" y="2249487"/>
            <a:ext cx="4608512" cy="2617787"/>
            <a:chOff x="1429" y="2643"/>
            <a:chExt cx="2903" cy="1649"/>
          </a:xfrm>
        </p:grpSpPr>
        <p:grpSp>
          <p:nvGrpSpPr>
            <p:cNvPr id="119" name="Group 5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172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173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0" name="Group 8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170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171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1" name="Group 11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168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169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2" name="Group 14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166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167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3" name="Group 17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164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165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4" name="Group 20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162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163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5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160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161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6" name="Group 26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158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159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7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156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157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8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Text Box 46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143" name="Text Box 47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144" name="Text Box 48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145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solidFill>
                    <a:srgbClr val="FF3300"/>
                  </a:solidFill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146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147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148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149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150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151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152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153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154" name="Text Box 58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155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82603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Prim's Algorithm</a:t>
            </a:r>
            <a:endParaRPr lang="en-US" altLang="zh-TW" sz="2000" dirty="0">
              <a:ea typeface="PMingLiU" panose="02020500000000000000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23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MST_PRIM(</a:t>
                </a:r>
                <a:r>
                  <a:rPr lang="en-US" altLang="zh-TW" sz="2000" dirty="0" err="1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G,w,r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)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1	</a:t>
                </a:r>
                <a:r>
                  <a:rPr lang="en-US" altLang="zh-TW" sz="2000" b="1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for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 each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𝑢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AutoNum type="arabicPlain" startAt="2"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𝑘𝑒𝑦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=∞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AutoNum type="arabicPlain" startAt="2"/>
                </a:pPr>
                <a:r>
                  <a:rPr lang="en-US" altLang="zh-TW" sz="2000" b="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𝑢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.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𝜋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=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  <a:sym typeface="Symbol" panose="05050102010706020507" pitchFamily="18" charset="2"/>
                  </a:rPr>
                  <a:t>NIL</a:t>
                </a:r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80000"/>
                  </a:lnSpc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4  	 </a:t>
                </a: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𝑘𝑒𝑦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5	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	//Q is a min-priority queue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6	while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∅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7		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EXTRACT_MIN(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)</a:t>
                </a:r>
                <a:endParaRPr lang="en-US" altLang="zh-TW" sz="2000" dirty="0">
                  <a:solidFill>
                    <a:schemeClr val="accent2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8		for each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𝐴𝑑𝑗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9			if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𝑤</m:t>
                    </m:r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err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lang="en-US" altLang="zh-TW" sz="2000" i="1" dirty="0" err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000" i="1" dirty="0" err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𝑘𝑒𝑦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80000"/>
                  </a:lnSpc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10			</a:t>
                </a: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𝑣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.</m:t>
                    </m:r>
                    <m:r>
                      <a:rPr lang="zh-TW" altLang="en-US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𝜋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𝑢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11			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𝑘𝑒𝑦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000" i="1" dirty="0" err="1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zh-TW" sz="2000" i="1" dirty="0" err="1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2000" i="1" dirty="0" err="1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72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762" t="-1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68988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Prim's Algorithm</a:t>
            </a:r>
            <a:endParaRPr lang="en-US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>
                <a:ea typeface="PMingLiU" panose="02020500000000000000" pitchFamily="18" charset="-120"/>
              </a:rPr>
              <a:t>Grow the minimum spanning tree from the root vertex r.</a:t>
            </a:r>
          </a:p>
          <a:p>
            <a:r>
              <a:rPr lang="en-US" altLang="zh-TW" sz="2800" dirty="0">
                <a:ea typeface="PMingLiU" panose="02020500000000000000" pitchFamily="18" charset="-120"/>
              </a:rPr>
              <a:t>Q is a priority queue, holding all vertices that are not in the tree now.</a:t>
            </a:r>
          </a:p>
          <a:p>
            <a:r>
              <a:rPr lang="en-US" altLang="zh-TW" sz="2800" dirty="0">
                <a:ea typeface="PMingLiU" panose="02020500000000000000" pitchFamily="18" charset="-120"/>
              </a:rPr>
              <a:t>key[v] is the minimum weight of any edge connecting v to a vertex in the tree.</a:t>
            </a:r>
          </a:p>
          <a:p>
            <a:r>
              <a:rPr lang="en-US" altLang="zh-TW" sz="2800" dirty="0">
                <a:ea typeface="PMingLiU" panose="02020500000000000000" pitchFamily="18" charset="-120"/>
              </a:rPr>
              <a:t>parent[v] names the parent of v in the tree.</a:t>
            </a:r>
          </a:p>
          <a:p>
            <a:r>
              <a:rPr lang="en-US" altLang="zh-TW" sz="2800" dirty="0">
                <a:ea typeface="PMingLiU" panose="02020500000000000000" pitchFamily="18" charset="-120"/>
              </a:rPr>
              <a:t>When the algorithm terminates, Q is empty; the minimum spanning tree A for G is thus A={(</a:t>
            </a:r>
            <a:r>
              <a:rPr lang="en-US" altLang="zh-TW" sz="2800" dirty="0" err="1">
                <a:ea typeface="PMingLiU" panose="02020500000000000000" pitchFamily="18" charset="-120"/>
              </a:rPr>
              <a:t>v,parent</a:t>
            </a:r>
            <a:r>
              <a:rPr lang="en-US" altLang="zh-TW" sz="2800" dirty="0">
                <a:ea typeface="PMingLiU" panose="02020500000000000000" pitchFamily="18" charset="-120"/>
              </a:rPr>
              <a:t>[v]):</a:t>
            </a:r>
            <a:r>
              <a:rPr lang="en-US" altLang="zh-TW" sz="2800" dirty="0" err="1">
                <a:ea typeface="PMingLiU" panose="02020500000000000000" pitchFamily="18" charset="-120"/>
              </a:rPr>
              <a:t>v</a:t>
            </a:r>
            <a:r>
              <a:rPr lang="en-US" altLang="zh-TW" sz="2800" dirty="0" err="1">
                <a:latin typeface="宋体" panose="02010600030101010101" pitchFamily="2" charset="-122"/>
                <a:ea typeface="宋体" panose="02010600030101010101" pitchFamily="2" charset="-122"/>
              </a:rPr>
              <a:t>∈</a:t>
            </a:r>
            <a:r>
              <a:rPr lang="en-US" altLang="zh-TW" sz="2800" dirty="0" err="1">
                <a:ea typeface="PMingLiU" panose="02020500000000000000" pitchFamily="18" charset="-120"/>
              </a:rPr>
              <a:t>V</a:t>
            </a:r>
            <a:r>
              <a:rPr lang="en-US" altLang="zh-TW" sz="2800" dirty="0">
                <a:ea typeface="PMingLiU" panose="02020500000000000000" pitchFamily="18" charset="-120"/>
              </a:rPr>
              <a:t>-{r}}.</a:t>
            </a:r>
          </a:p>
          <a:p>
            <a:r>
              <a:rPr lang="en-US" altLang="zh-TW" sz="2800" dirty="0">
                <a:ea typeface="PMingLiU" panose="02020500000000000000" pitchFamily="18" charset="-120"/>
                <a:cs typeface="Times New Roman" panose="02020603050405020304" pitchFamily="18" charset="0"/>
              </a:rPr>
              <a:t>Running time: O(</a:t>
            </a:r>
            <a:r>
              <a:rPr lang="en-US" altLang="zh-TW" sz="2800" dirty="0" err="1">
                <a:ea typeface="PMingLiU" panose="02020500000000000000" pitchFamily="18" charset="-120"/>
                <a:cs typeface="Times New Roman" panose="02020603050405020304" pitchFamily="18" charset="0"/>
              </a:rPr>
              <a:t>Elg</a:t>
            </a:r>
            <a:r>
              <a:rPr lang="en-US" altLang="zh-TW" sz="2800" dirty="0">
                <a:ea typeface="PMingLiU" panose="02020500000000000000" pitchFamily="18" charset="-120"/>
                <a:cs typeface="Times New Roman" panose="02020603050405020304" pitchFamily="18" charset="0"/>
              </a:rPr>
              <a:t> V). </a:t>
            </a:r>
            <a:endParaRPr lang="zh-TW" altLang="en-US" sz="2800" dirty="0">
              <a:ea typeface="PMingLiU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29349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07975" y="1092200"/>
            <a:ext cx="8797925" cy="5237163"/>
          </a:xfrm>
          <a:prstGeom prst="rect">
            <a:avLst/>
          </a:prstGeom>
          <a:blipFill rotWithShape="0">
            <a:blip r:embed="rId2" cstate="print"/>
            <a:stretch>
              <a:fillRect l="-762" t="-1746"/>
            </a:stretch>
          </a:blipFill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+mn-lt"/>
                <a:ea typeface="+mn-ea"/>
                <a:cs typeface="+mn-cs"/>
              </a:rPr>
              <a:t> 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Running time of Prim's Algorithm</a:t>
            </a:r>
            <a:endParaRPr lang="en-US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2352675" y="1171575"/>
            <a:ext cx="6600825" cy="5005388"/>
          </a:xfrm>
        </p:spPr>
        <p:txBody>
          <a:bodyPr>
            <a:normAutofit/>
          </a:bodyPr>
          <a:lstStyle/>
          <a:p>
            <a:endParaRPr lang="en-US" altLang="zh-TW" sz="1200" dirty="0"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TW" sz="2000" dirty="0">
                <a:ea typeface="PMingLiU" panose="02020500000000000000" pitchFamily="18" charset="-120"/>
                <a:cs typeface="Times New Roman" panose="02020603050405020304" pitchFamily="18" charset="0"/>
              </a:rPr>
              <a:t>        </a:t>
            </a:r>
            <a:r>
              <a:rPr lang="en-US" altLang="zh-TW" sz="2000" dirty="0">
                <a:solidFill>
                  <a:srgbClr val="0070C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// O(V)</a:t>
            </a:r>
          </a:p>
          <a:p>
            <a:endParaRPr lang="en-US" altLang="zh-TW" sz="2000" dirty="0">
              <a:solidFill>
                <a:srgbClr val="0070C0"/>
              </a:solidFill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endParaRPr lang="en-US" altLang="zh-TW" sz="2000" dirty="0">
              <a:solidFill>
                <a:srgbClr val="0070C0"/>
              </a:solidFill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endParaRPr lang="en-US" altLang="zh-TW" sz="1200" dirty="0">
              <a:solidFill>
                <a:srgbClr val="0070C0"/>
              </a:solidFill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TW" sz="2000" dirty="0">
                <a:solidFill>
                  <a:srgbClr val="0070C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                                              //</a:t>
            </a:r>
            <a:r>
              <a:rPr lang="en-US" sz="2000" dirty="0">
                <a:solidFill>
                  <a:srgbClr val="0070C0"/>
                </a:solidFill>
                <a:latin typeface="Symbol" pitchFamily="18" charset="2"/>
              </a:rPr>
              <a:t>Q(</a:t>
            </a:r>
            <a:r>
              <a:rPr lang="en-US" altLang="zh-TW" sz="2000" dirty="0">
                <a:solidFill>
                  <a:srgbClr val="0070C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V) time to build the heap</a:t>
            </a:r>
          </a:p>
          <a:p>
            <a:endParaRPr lang="en-US" altLang="zh-TW" sz="1400" dirty="0">
              <a:solidFill>
                <a:srgbClr val="0070C0"/>
              </a:solidFill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TW" sz="2000" dirty="0">
                <a:solidFill>
                  <a:srgbClr val="0070C0"/>
                </a:solidFill>
                <a:ea typeface="PMingLiU" panose="02020500000000000000" pitchFamily="18" charset="-120"/>
              </a:rPr>
              <a:t>                           //V Heap-Extract-Min operations: O(V </a:t>
            </a:r>
            <a:r>
              <a:rPr lang="en-US" altLang="zh-TW" sz="2000" dirty="0" err="1">
                <a:solidFill>
                  <a:srgbClr val="0070C0"/>
                </a:solidFill>
                <a:ea typeface="PMingLiU" panose="02020500000000000000" pitchFamily="18" charset="-120"/>
              </a:rPr>
              <a:t>lg</a:t>
            </a:r>
            <a:r>
              <a:rPr lang="en-US" altLang="zh-TW" sz="2000" dirty="0">
                <a:solidFill>
                  <a:srgbClr val="0070C0"/>
                </a:solidFill>
                <a:ea typeface="PMingLiU" panose="02020500000000000000" pitchFamily="18" charset="-120"/>
              </a:rPr>
              <a:t> V)</a:t>
            </a:r>
          </a:p>
          <a:p>
            <a:endParaRPr lang="en-US" altLang="zh-TW" sz="2000" dirty="0">
              <a:solidFill>
                <a:srgbClr val="0070C0"/>
              </a:solidFill>
              <a:ea typeface="PMingLiU" panose="02020500000000000000" pitchFamily="18" charset="-120"/>
            </a:endParaRPr>
          </a:p>
          <a:p>
            <a:r>
              <a:rPr lang="en-US" altLang="zh-TW" sz="2000" dirty="0">
                <a:solidFill>
                  <a:srgbClr val="0070C0"/>
                </a:solidFill>
                <a:ea typeface="PMingLiU" panose="02020500000000000000" pitchFamily="18" charset="-120"/>
              </a:rPr>
              <a:t>  </a:t>
            </a:r>
          </a:p>
          <a:p>
            <a:endParaRPr lang="en-US" altLang="zh-TW" sz="1050" dirty="0">
              <a:solidFill>
                <a:srgbClr val="0070C0"/>
              </a:solidFill>
              <a:ea typeface="PMingLiU" panose="02020500000000000000" pitchFamily="18" charset="-120"/>
            </a:endParaRPr>
          </a:p>
          <a:p>
            <a:r>
              <a:rPr lang="en-US" altLang="zh-TW" sz="2000" dirty="0">
                <a:solidFill>
                  <a:srgbClr val="0070C0"/>
                </a:solidFill>
                <a:ea typeface="PMingLiU" panose="02020500000000000000" pitchFamily="18" charset="-120"/>
              </a:rPr>
              <a:t>                               //E Heap-Decrease-Key operations: O(E </a:t>
            </a:r>
            <a:r>
              <a:rPr lang="en-US" altLang="zh-TW" sz="2000" dirty="0" err="1">
                <a:solidFill>
                  <a:srgbClr val="0070C0"/>
                </a:solidFill>
                <a:ea typeface="PMingLiU" panose="02020500000000000000" pitchFamily="18" charset="-120"/>
              </a:rPr>
              <a:t>lg</a:t>
            </a:r>
            <a:r>
              <a:rPr lang="en-US" altLang="zh-TW" sz="2000" dirty="0">
                <a:solidFill>
                  <a:srgbClr val="0070C0"/>
                </a:solidFill>
                <a:ea typeface="PMingLiU" panose="02020500000000000000" pitchFamily="18" charset="-120"/>
              </a:rPr>
              <a:t> V)</a:t>
            </a:r>
            <a:endParaRPr lang="zh-TW" altLang="en-US" sz="2000" dirty="0">
              <a:solidFill>
                <a:srgbClr val="0070C0"/>
              </a:solidFill>
              <a:ea typeface="PMingLiU" panose="02020500000000000000" pitchFamily="18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8625" y="5915025"/>
            <a:ext cx="837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time = O((V+E) </a:t>
            </a:r>
            <a:r>
              <a:rPr lang="en-US" dirty="0" err="1"/>
              <a:t>lg</a:t>
            </a:r>
            <a:r>
              <a:rPr lang="en-US" dirty="0"/>
              <a:t> V) = O(E </a:t>
            </a:r>
            <a:r>
              <a:rPr lang="en-US" dirty="0" err="1"/>
              <a:t>lg</a:t>
            </a:r>
            <a:r>
              <a:rPr lang="en-US" dirty="0"/>
              <a:t> V) since E ≥ V-1 =&gt; V is O(E)</a:t>
            </a:r>
          </a:p>
        </p:txBody>
      </p:sp>
    </p:spTree>
    <p:extLst>
      <p:ext uri="{BB962C8B-B14F-4D97-AF65-F5344CB8AC3E}">
        <p14:creationId xmlns:p14="http://schemas.microsoft.com/office/powerpoint/2010/main" val="4172934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6-Graphs</a:t>
            </a:r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Prim’s algorithm using Fibonacci Heaps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5575" y="939800"/>
            <a:ext cx="8988425" cy="5237163"/>
          </a:xfrm>
        </p:spPr>
        <p:txBody>
          <a:bodyPr/>
          <a:lstStyle/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/>
              <a:t> It is possible to do better via Fibonacci Heap, which is a priority queue implementation that can do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0070C0"/>
                </a:solidFill>
              </a:rPr>
              <a:t>  EXTRACT-MIN in </a:t>
            </a:r>
            <a:r>
              <a:rPr lang="en-US" sz="2400" dirty="0">
                <a:solidFill>
                  <a:srgbClr val="0070C0"/>
                </a:solidFill>
                <a:latin typeface="Symbol" pitchFamily="18" charset="2"/>
              </a:rPr>
              <a:t>Q</a:t>
            </a:r>
            <a:r>
              <a:rPr lang="en-US" sz="2400" dirty="0">
                <a:solidFill>
                  <a:srgbClr val="0070C0"/>
                </a:solidFill>
              </a:rPr>
              <a:t>(</a:t>
            </a:r>
            <a:r>
              <a:rPr lang="en-US" sz="2400" dirty="0" err="1">
                <a:solidFill>
                  <a:srgbClr val="0070C0"/>
                </a:solidFill>
              </a:rPr>
              <a:t>lgV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  </a:t>
            </a:r>
            <a:r>
              <a:rPr lang="en-US" sz="2400" dirty="0">
                <a:solidFill>
                  <a:srgbClr val="0070C0"/>
                </a:solidFill>
              </a:rPr>
              <a:t>DECREASE-KEY in </a:t>
            </a:r>
            <a:r>
              <a:rPr lang="en-US" sz="2400" dirty="0">
                <a:solidFill>
                  <a:srgbClr val="0070C0"/>
                </a:solidFill>
                <a:latin typeface="Symbol" pitchFamily="18" charset="2"/>
              </a:rPr>
              <a:t>Q</a:t>
            </a:r>
            <a:r>
              <a:rPr lang="en-US" sz="2400" dirty="0">
                <a:solidFill>
                  <a:srgbClr val="0070C0"/>
                </a:solidFill>
              </a:rPr>
              <a:t>(1) </a:t>
            </a:r>
            <a:r>
              <a:rPr lang="en-US" sz="2400" i="1" dirty="0"/>
              <a:t>amortized time</a:t>
            </a:r>
            <a:r>
              <a:rPr lang="en-US" sz="2400" dirty="0"/>
              <a:t>.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/>
              <a:t> </a:t>
            </a:r>
            <a:r>
              <a:rPr lang="en-US" sz="2000" b="1" dirty="0"/>
              <a:t>amortized running </a:t>
            </a:r>
            <a:r>
              <a:rPr lang="en-US" sz="2000" dirty="0"/>
              <a:t>time is the time taken by an operation in average irrespective of the probability distribution of the inputs. In contrast, computation of expected/average running time requires one to assume a certain input distribution. (See CLRS, Chapter 20 for details).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/>
              <a:t> Using Fibonacci Heap improves the time from </a:t>
            </a:r>
            <a:r>
              <a:rPr lang="en-US" sz="2400" dirty="0">
                <a:latin typeface="Symbol" pitchFamily="18" charset="2"/>
              </a:rPr>
              <a:t>Q</a:t>
            </a:r>
            <a:r>
              <a:rPr lang="en-US" sz="2400" dirty="0"/>
              <a:t>(</a:t>
            </a:r>
            <a:r>
              <a:rPr lang="en-US" sz="2400" dirty="0" err="1"/>
              <a:t>ElgV</a:t>
            </a:r>
            <a:r>
              <a:rPr lang="en-US" sz="2400" dirty="0"/>
              <a:t>) to </a:t>
            </a:r>
            <a:r>
              <a:rPr lang="en-US" sz="2400" dirty="0">
                <a:latin typeface="Symbol" pitchFamily="18" charset="2"/>
              </a:rPr>
              <a:t>Q</a:t>
            </a:r>
            <a:r>
              <a:rPr lang="en-US" sz="2400" dirty="0"/>
              <a:t>(</a:t>
            </a:r>
            <a:r>
              <a:rPr lang="en-US" sz="2400" dirty="0" err="1"/>
              <a:t>VlgV+E</a:t>
            </a:r>
            <a:r>
              <a:rPr lang="en-US" sz="2400" dirty="0"/>
              <a:t>).  (We had </a:t>
            </a:r>
            <a:r>
              <a:rPr lang="en-US" sz="2400" dirty="0">
                <a:latin typeface="Symbol" pitchFamily="18" charset="2"/>
              </a:rPr>
              <a:t>Q</a:t>
            </a:r>
            <a:r>
              <a:rPr lang="en-US" sz="2400" dirty="0"/>
              <a:t>(</a:t>
            </a:r>
            <a:r>
              <a:rPr lang="en-US" sz="2400" dirty="0" err="1"/>
              <a:t>VlgV+ElgV</a:t>
            </a:r>
            <a:r>
              <a:rPr lang="en-US" sz="2400" dirty="0"/>
              <a:t>), but the second </a:t>
            </a:r>
            <a:r>
              <a:rPr lang="en-US" sz="2400" dirty="0" err="1"/>
              <a:t>lgV</a:t>
            </a:r>
            <a:r>
              <a:rPr lang="en-US" sz="2400" dirty="0"/>
              <a:t> becomes 1.) 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/>
              <a:t> This is better for dense graphs (E </a:t>
            </a:r>
            <a:r>
              <a:rPr lang="en-US" sz="2400" dirty="0">
                <a:latin typeface="Symbol" pitchFamily="18" charset="2"/>
              </a:rPr>
              <a:t>»</a:t>
            </a:r>
            <a:r>
              <a:rPr lang="en-US" sz="2400" dirty="0"/>
              <a:t> V</a:t>
            </a:r>
            <a:r>
              <a:rPr lang="en-US" sz="2400" baseline="30000" dirty="0"/>
              <a:t>2</a:t>
            </a:r>
            <a:r>
              <a:rPr lang="en-US" sz="2400" dirty="0"/>
              <a:t>).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/>
              <a:t> Theoretical interest only —Fibonacci heaps have a large constant. </a:t>
            </a:r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Prim's Algorithm: Example</a:t>
            </a:r>
            <a:endParaRPr lang="en-US" dirty="0"/>
          </a:p>
        </p:txBody>
      </p:sp>
      <p:grpSp>
        <p:nvGrpSpPr>
          <p:cNvPr id="32772" name="Group 4"/>
          <p:cNvGrpSpPr>
            <a:grpSpLocks/>
          </p:cNvGrpSpPr>
          <p:nvPr/>
        </p:nvGrpSpPr>
        <p:grpSpPr bwMode="auto">
          <a:xfrm>
            <a:off x="2250281" y="2414587"/>
            <a:ext cx="4608512" cy="2452688"/>
            <a:chOff x="1429" y="2747"/>
            <a:chExt cx="2903" cy="1545"/>
          </a:xfrm>
        </p:grpSpPr>
        <p:grpSp>
          <p:nvGrpSpPr>
            <p:cNvPr id="32773" name="Group 5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32774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32775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776" name="Group 8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32777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 dirty="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32778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779" name="Group 11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32780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32781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782" name="Group 14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32783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32784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785" name="Group 17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32786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32787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788" name="Group 20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32789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32790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791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32792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32793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794" name="Group 26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32795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32796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797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32798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32799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2800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1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2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3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4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5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6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7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8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9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0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1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2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3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4" name="Text Box 46"/>
            <p:cNvSpPr txBox="1">
              <a:spLocks noChangeArrowheads="1"/>
            </p:cNvSpPr>
            <p:nvPr/>
          </p:nvSpPr>
          <p:spPr bwMode="auto">
            <a:xfrm>
              <a:off x="1627" y="308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2815" name="Text Box 47"/>
            <p:cNvSpPr txBox="1">
              <a:spLocks noChangeArrowheads="1"/>
            </p:cNvSpPr>
            <p:nvPr/>
          </p:nvSpPr>
          <p:spPr bwMode="auto">
            <a:xfrm>
              <a:off x="2324" y="274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32816" name="Text Box 48"/>
            <p:cNvSpPr txBox="1">
              <a:spLocks noChangeArrowheads="1"/>
            </p:cNvSpPr>
            <p:nvPr/>
          </p:nvSpPr>
          <p:spPr bwMode="auto">
            <a:xfrm>
              <a:off x="3168" y="276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2817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32818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32819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32820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2821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2822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2823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32824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32825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2826" name="Text Box 58"/>
            <p:cNvSpPr txBox="1">
              <a:spLocks noChangeArrowheads="1"/>
            </p:cNvSpPr>
            <p:nvPr/>
          </p:nvSpPr>
          <p:spPr bwMode="auto">
            <a:xfrm>
              <a:off x="1796" y="337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32827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  <p:sp>
        <p:nvSpPr>
          <p:cNvPr id="32885" name="Text Box 117"/>
          <p:cNvSpPr txBox="1">
            <a:spLocks noChangeArrowheads="1"/>
          </p:cNvSpPr>
          <p:nvPr/>
        </p:nvSpPr>
        <p:spPr bwMode="auto">
          <a:xfrm>
            <a:off x="292893" y="2532062"/>
            <a:ext cx="122396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TW">
                <a:ea typeface="PMingLiU" panose="02020500000000000000" pitchFamily="18" charset="-120"/>
              </a:rPr>
              <a:t>the root vertex</a:t>
            </a:r>
          </a:p>
        </p:txBody>
      </p:sp>
      <p:sp>
        <p:nvSpPr>
          <p:cNvPr id="32886" name="Line 118"/>
          <p:cNvSpPr>
            <a:spLocks noChangeShapeType="1"/>
          </p:cNvSpPr>
          <p:nvPr/>
        </p:nvSpPr>
        <p:spPr bwMode="auto">
          <a:xfrm>
            <a:off x="1445418" y="3035300"/>
            <a:ext cx="792162" cy="433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1621550" y="2300729"/>
            <a:ext cx="5947835" cy="2559852"/>
            <a:chOff x="1621550" y="2300729"/>
            <a:chExt cx="5947835" cy="2559852"/>
          </a:xfrm>
        </p:grpSpPr>
        <p:sp>
          <p:nvSpPr>
            <p:cNvPr id="63" name="Text Box 46"/>
            <p:cNvSpPr txBox="1">
              <a:spLocks noChangeArrowheads="1"/>
            </p:cNvSpPr>
            <p:nvPr/>
          </p:nvSpPr>
          <p:spPr bwMode="auto">
            <a:xfrm>
              <a:off x="2860948" y="2313582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65" name="Text Box 46"/>
            <p:cNvSpPr txBox="1">
              <a:spLocks noChangeArrowheads="1"/>
            </p:cNvSpPr>
            <p:nvPr/>
          </p:nvSpPr>
          <p:spPr bwMode="auto">
            <a:xfrm>
              <a:off x="2848095" y="4482069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66" name="Text Box 46"/>
            <p:cNvSpPr txBox="1">
              <a:spLocks noChangeArrowheads="1"/>
            </p:cNvSpPr>
            <p:nvPr/>
          </p:nvSpPr>
          <p:spPr bwMode="auto">
            <a:xfrm>
              <a:off x="4214187" y="2300729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67" name="Text Box 46"/>
            <p:cNvSpPr txBox="1">
              <a:spLocks noChangeArrowheads="1"/>
            </p:cNvSpPr>
            <p:nvPr/>
          </p:nvSpPr>
          <p:spPr bwMode="auto">
            <a:xfrm>
              <a:off x="5536211" y="2300729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68" name="Text Box 46"/>
            <p:cNvSpPr txBox="1">
              <a:spLocks noChangeArrowheads="1"/>
            </p:cNvSpPr>
            <p:nvPr/>
          </p:nvSpPr>
          <p:spPr bwMode="auto">
            <a:xfrm>
              <a:off x="4157266" y="4491249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69" name="Text Box 46"/>
            <p:cNvSpPr txBox="1">
              <a:spLocks noChangeArrowheads="1"/>
            </p:cNvSpPr>
            <p:nvPr/>
          </p:nvSpPr>
          <p:spPr bwMode="auto">
            <a:xfrm>
              <a:off x="5479290" y="4491249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70" name="Text Box 46"/>
            <p:cNvSpPr txBox="1">
              <a:spLocks noChangeArrowheads="1"/>
            </p:cNvSpPr>
            <p:nvPr/>
          </p:nvSpPr>
          <p:spPr bwMode="auto">
            <a:xfrm>
              <a:off x="6823347" y="3378547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71" name="Text Box 46"/>
            <p:cNvSpPr txBox="1">
              <a:spLocks noChangeArrowheads="1"/>
            </p:cNvSpPr>
            <p:nvPr/>
          </p:nvSpPr>
          <p:spPr bwMode="auto">
            <a:xfrm>
              <a:off x="1621550" y="3453829"/>
              <a:ext cx="66588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0070C0"/>
                  </a:solidFill>
                  <a:ea typeface="PMingLiU" panose="02020500000000000000" pitchFamily="18" charset="-120"/>
                </a:rPr>
                <a:t>NIL,0</a:t>
              </a:r>
            </a:p>
          </p:txBody>
        </p:sp>
      </p:grpSp>
      <p:sp>
        <p:nvSpPr>
          <p:cNvPr id="73" name="Text Box 46"/>
          <p:cNvSpPr txBox="1">
            <a:spLocks noChangeArrowheads="1"/>
          </p:cNvSpPr>
          <p:nvPr/>
        </p:nvSpPr>
        <p:spPr bwMode="auto">
          <a:xfrm>
            <a:off x="3357166" y="3167274"/>
            <a:ext cx="7460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TW" dirty="0">
                <a:solidFill>
                  <a:srgbClr val="FF0000"/>
                </a:solidFill>
                <a:ea typeface="PMingLiU" panose="02020500000000000000" pitchFamily="18" charset="-120"/>
              </a:rPr>
              <a:t>NIL,∞</a:t>
            </a:r>
          </a:p>
        </p:txBody>
      </p:sp>
    </p:spTree>
    <p:extLst>
      <p:ext uri="{BB962C8B-B14F-4D97-AF65-F5344CB8AC3E}">
        <p14:creationId xmlns:p14="http://schemas.microsoft.com/office/powerpoint/2010/main" val="23935324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Prim's Algorithm: Example</a:t>
            </a:r>
            <a:endParaRPr lang="en-US" dirty="0"/>
          </a:p>
        </p:txBody>
      </p:sp>
      <p:grpSp>
        <p:nvGrpSpPr>
          <p:cNvPr id="3" name="Group 4"/>
          <p:cNvGrpSpPr>
            <a:grpSpLocks/>
          </p:cNvGrpSpPr>
          <p:nvPr/>
        </p:nvGrpSpPr>
        <p:grpSpPr bwMode="auto">
          <a:xfrm>
            <a:off x="2250281" y="2414587"/>
            <a:ext cx="4608512" cy="2452688"/>
            <a:chOff x="1429" y="2747"/>
            <a:chExt cx="2903" cy="1545"/>
          </a:xfrm>
        </p:grpSpPr>
        <p:grpSp>
          <p:nvGrpSpPr>
            <p:cNvPr id="4" name="Group 5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32774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32775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8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32777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 dirty="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32778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11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32780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32781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14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32783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32784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" name="Group 17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32786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32787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" name="Group 20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32789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32790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32792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32793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" name="Group 26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32795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32796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32798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32799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2800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1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2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3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4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5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6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7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8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9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0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1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2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3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4" name="Text Box 46"/>
            <p:cNvSpPr txBox="1">
              <a:spLocks noChangeArrowheads="1"/>
            </p:cNvSpPr>
            <p:nvPr/>
          </p:nvSpPr>
          <p:spPr bwMode="auto">
            <a:xfrm>
              <a:off x="1627" y="308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2815" name="Text Box 47"/>
            <p:cNvSpPr txBox="1">
              <a:spLocks noChangeArrowheads="1"/>
            </p:cNvSpPr>
            <p:nvPr/>
          </p:nvSpPr>
          <p:spPr bwMode="auto">
            <a:xfrm>
              <a:off x="2324" y="274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32816" name="Text Box 48"/>
            <p:cNvSpPr txBox="1">
              <a:spLocks noChangeArrowheads="1"/>
            </p:cNvSpPr>
            <p:nvPr/>
          </p:nvSpPr>
          <p:spPr bwMode="auto">
            <a:xfrm>
              <a:off x="3168" y="276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2817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32818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32819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32820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2821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2822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2823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32824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32825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2826" name="Text Box 58"/>
            <p:cNvSpPr txBox="1">
              <a:spLocks noChangeArrowheads="1"/>
            </p:cNvSpPr>
            <p:nvPr/>
          </p:nvSpPr>
          <p:spPr bwMode="auto">
            <a:xfrm>
              <a:off x="1796" y="337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32827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  <p:grpSp>
        <p:nvGrpSpPr>
          <p:cNvPr id="13" name="Group 71"/>
          <p:cNvGrpSpPr/>
          <p:nvPr/>
        </p:nvGrpSpPr>
        <p:grpSpPr>
          <a:xfrm>
            <a:off x="1621550" y="2300729"/>
            <a:ext cx="5947835" cy="2559852"/>
            <a:chOff x="1621550" y="2300729"/>
            <a:chExt cx="5947835" cy="2559852"/>
          </a:xfrm>
        </p:grpSpPr>
        <p:sp>
          <p:nvSpPr>
            <p:cNvPr id="63" name="Text Box 46"/>
            <p:cNvSpPr txBox="1">
              <a:spLocks noChangeArrowheads="1"/>
            </p:cNvSpPr>
            <p:nvPr/>
          </p:nvSpPr>
          <p:spPr bwMode="auto">
            <a:xfrm>
              <a:off x="2993152" y="2313582"/>
              <a:ext cx="4700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0070C0"/>
                  </a:solidFill>
                  <a:ea typeface="PMingLiU" panose="02020500000000000000" pitchFamily="18" charset="-120"/>
                </a:rPr>
                <a:t>a,4</a:t>
              </a:r>
            </a:p>
          </p:txBody>
        </p:sp>
        <p:sp>
          <p:nvSpPr>
            <p:cNvPr id="65" name="Text Box 46"/>
            <p:cNvSpPr txBox="1">
              <a:spLocks noChangeArrowheads="1"/>
            </p:cNvSpPr>
            <p:nvPr/>
          </p:nvSpPr>
          <p:spPr bwMode="auto">
            <a:xfrm>
              <a:off x="3013350" y="4482069"/>
              <a:ext cx="4700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0070C0"/>
                  </a:solidFill>
                  <a:ea typeface="PMingLiU" panose="02020500000000000000" pitchFamily="18" charset="-120"/>
                </a:rPr>
                <a:t>a,8</a:t>
              </a:r>
            </a:p>
          </p:txBody>
        </p:sp>
        <p:sp>
          <p:nvSpPr>
            <p:cNvPr id="66" name="Text Box 46"/>
            <p:cNvSpPr txBox="1">
              <a:spLocks noChangeArrowheads="1"/>
            </p:cNvSpPr>
            <p:nvPr/>
          </p:nvSpPr>
          <p:spPr bwMode="auto">
            <a:xfrm>
              <a:off x="4214187" y="2300729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67" name="Text Box 46"/>
            <p:cNvSpPr txBox="1">
              <a:spLocks noChangeArrowheads="1"/>
            </p:cNvSpPr>
            <p:nvPr/>
          </p:nvSpPr>
          <p:spPr bwMode="auto">
            <a:xfrm>
              <a:off x="5536211" y="2300729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68" name="Text Box 46"/>
            <p:cNvSpPr txBox="1">
              <a:spLocks noChangeArrowheads="1"/>
            </p:cNvSpPr>
            <p:nvPr/>
          </p:nvSpPr>
          <p:spPr bwMode="auto">
            <a:xfrm>
              <a:off x="4157266" y="4491249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69" name="Text Box 46"/>
            <p:cNvSpPr txBox="1">
              <a:spLocks noChangeArrowheads="1"/>
            </p:cNvSpPr>
            <p:nvPr/>
          </p:nvSpPr>
          <p:spPr bwMode="auto">
            <a:xfrm>
              <a:off x="5479290" y="4491249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70" name="Text Box 46"/>
            <p:cNvSpPr txBox="1">
              <a:spLocks noChangeArrowheads="1"/>
            </p:cNvSpPr>
            <p:nvPr/>
          </p:nvSpPr>
          <p:spPr bwMode="auto">
            <a:xfrm>
              <a:off x="6823347" y="3378547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71" name="Text Box 46"/>
            <p:cNvSpPr txBox="1">
              <a:spLocks noChangeArrowheads="1"/>
            </p:cNvSpPr>
            <p:nvPr/>
          </p:nvSpPr>
          <p:spPr bwMode="auto">
            <a:xfrm>
              <a:off x="1621550" y="3453829"/>
              <a:ext cx="66588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0070C0"/>
                  </a:solidFill>
                  <a:ea typeface="PMingLiU" panose="02020500000000000000" pitchFamily="18" charset="-120"/>
                </a:rPr>
                <a:t>NIL,0</a:t>
              </a:r>
            </a:p>
          </p:txBody>
        </p:sp>
      </p:grpSp>
      <p:sp>
        <p:nvSpPr>
          <p:cNvPr id="72" name="Text Box 46"/>
          <p:cNvSpPr txBox="1">
            <a:spLocks noChangeArrowheads="1"/>
          </p:cNvSpPr>
          <p:nvPr/>
        </p:nvSpPr>
        <p:spPr bwMode="auto">
          <a:xfrm>
            <a:off x="3357166" y="3167274"/>
            <a:ext cx="7460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TW" dirty="0">
                <a:solidFill>
                  <a:srgbClr val="FF0000"/>
                </a:solidFill>
                <a:ea typeface="PMingLiU" panose="02020500000000000000" pitchFamily="18" charset="-120"/>
              </a:rPr>
              <a:t>NIL,∞</a:t>
            </a:r>
          </a:p>
        </p:txBody>
      </p:sp>
    </p:spTree>
    <p:extLst>
      <p:ext uri="{BB962C8B-B14F-4D97-AF65-F5344CB8AC3E}">
        <p14:creationId xmlns:p14="http://schemas.microsoft.com/office/powerpoint/2010/main" val="23935324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Prim's Algorithm: Example</a:t>
            </a:r>
            <a:endParaRPr lang="en-US" dirty="0"/>
          </a:p>
        </p:txBody>
      </p:sp>
      <p:grpSp>
        <p:nvGrpSpPr>
          <p:cNvPr id="32828" name="Group 60"/>
          <p:cNvGrpSpPr>
            <a:grpSpLocks/>
          </p:cNvGrpSpPr>
          <p:nvPr/>
        </p:nvGrpSpPr>
        <p:grpSpPr bwMode="auto">
          <a:xfrm>
            <a:off x="2250281" y="2403474"/>
            <a:ext cx="4608512" cy="2463800"/>
            <a:chOff x="1429" y="2740"/>
            <a:chExt cx="2903" cy="1552"/>
          </a:xfrm>
        </p:grpSpPr>
        <p:grpSp>
          <p:nvGrpSpPr>
            <p:cNvPr id="32829" name="Group 61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32830" name="Text Box 6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32831" name="Oval 6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832" name="Group 64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32833" name="Text Box 6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32834" name="Oval 6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835" name="Group 67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32836" name="Text Box 6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32837" name="Oval 6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838" name="Group 70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32839" name="Text Box 7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32840" name="Oval 7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841" name="Group 73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32842" name="Text Box 7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32843" name="Oval 7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844" name="Group 76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32845" name="Text Box 7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32846" name="Oval 7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847" name="Group 79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32848" name="Text Box 80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32849" name="Oval 81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850" name="Group 82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32851" name="Text Box 83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32852" name="Oval 84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853" name="Group 85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32854" name="Text Box 86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32855" name="Oval 87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2856" name="Line 88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7" name="Line 89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8" name="Line 90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9" name="Line 91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0" name="Line 92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1" name="Line 93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2" name="Line 94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3" name="Line 95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4" name="Line 96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5" name="Line 97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6" name="Line 98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7" name="Line 99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8" name="Line 100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9" name="Line 101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0" name="Text Box 102"/>
            <p:cNvSpPr txBox="1">
              <a:spLocks noChangeArrowheads="1"/>
            </p:cNvSpPr>
            <p:nvPr/>
          </p:nvSpPr>
          <p:spPr bwMode="auto">
            <a:xfrm>
              <a:off x="1607" y="303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2871" name="Text Box 103"/>
            <p:cNvSpPr txBox="1">
              <a:spLocks noChangeArrowheads="1"/>
            </p:cNvSpPr>
            <p:nvPr/>
          </p:nvSpPr>
          <p:spPr bwMode="auto">
            <a:xfrm>
              <a:off x="2324" y="275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32872" name="Text Box 104"/>
            <p:cNvSpPr txBox="1">
              <a:spLocks noChangeArrowheads="1"/>
            </p:cNvSpPr>
            <p:nvPr/>
          </p:nvSpPr>
          <p:spPr bwMode="auto">
            <a:xfrm>
              <a:off x="3168" y="274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2873" name="Text Box 105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32874" name="Text Box 106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32875" name="Text Box 107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32876" name="Text Box 108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2877" name="Text Box 109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2878" name="Text Box 110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2879" name="Text Box 111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32880" name="Text Box 112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32881" name="Text Box 113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2882" name="Text Box 114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32883" name="Text Box 115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1621550" y="2300729"/>
            <a:ext cx="5947835" cy="2559852"/>
            <a:chOff x="1621550" y="2300729"/>
            <a:chExt cx="5947835" cy="2559852"/>
          </a:xfrm>
        </p:grpSpPr>
        <p:sp>
          <p:nvSpPr>
            <p:cNvPr id="70" name="Text Box 46"/>
            <p:cNvSpPr txBox="1">
              <a:spLocks noChangeArrowheads="1"/>
            </p:cNvSpPr>
            <p:nvPr/>
          </p:nvSpPr>
          <p:spPr bwMode="auto">
            <a:xfrm>
              <a:off x="3015186" y="2313582"/>
              <a:ext cx="4700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0070C0"/>
                  </a:solidFill>
                  <a:ea typeface="PMingLiU" panose="02020500000000000000" pitchFamily="18" charset="-120"/>
                </a:rPr>
                <a:t>a,4</a:t>
              </a:r>
            </a:p>
          </p:txBody>
        </p:sp>
        <p:sp>
          <p:nvSpPr>
            <p:cNvPr id="71" name="Text Box 46"/>
            <p:cNvSpPr txBox="1">
              <a:spLocks noChangeArrowheads="1"/>
            </p:cNvSpPr>
            <p:nvPr/>
          </p:nvSpPr>
          <p:spPr bwMode="auto">
            <a:xfrm>
              <a:off x="3002333" y="4482069"/>
              <a:ext cx="4700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0070C0"/>
                  </a:solidFill>
                  <a:ea typeface="PMingLiU" panose="02020500000000000000" pitchFamily="18" charset="-120"/>
                </a:rPr>
                <a:t>a,8</a:t>
              </a:r>
            </a:p>
          </p:txBody>
        </p:sp>
        <p:sp>
          <p:nvSpPr>
            <p:cNvPr id="72" name="Text Box 46"/>
            <p:cNvSpPr txBox="1">
              <a:spLocks noChangeArrowheads="1"/>
            </p:cNvSpPr>
            <p:nvPr/>
          </p:nvSpPr>
          <p:spPr bwMode="auto">
            <a:xfrm>
              <a:off x="4338012" y="2300729"/>
              <a:ext cx="48122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0070C0"/>
                  </a:solidFill>
                  <a:ea typeface="PMingLiU" panose="02020500000000000000" pitchFamily="18" charset="-120"/>
                </a:rPr>
                <a:t>b,8</a:t>
              </a:r>
            </a:p>
          </p:txBody>
        </p:sp>
        <p:sp>
          <p:nvSpPr>
            <p:cNvPr id="73" name="Text Box 46"/>
            <p:cNvSpPr txBox="1">
              <a:spLocks noChangeArrowheads="1"/>
            </p:cNvSpPr>
            <p:nvPr/>
          </p:nvSpPr>
          <p:spPr bwMode="auto">
            <a:xfrm>
              <a:off x="5536211" y="2300729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74" name="Text Box 46"/>
            <p:cNvSpPr txBox="1">
              <a:spLocks noChangeArrowheads="1"/>
            </p:cNvSpPr>
            <p:nvPr/>
          </p:nvSpPr>
          <p:spPr bwMode="auto">
            <a:xfrm>
              <a:off x="4157266" y="4491249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75" name="Text Box 46"/>
            <p:cNvSpPr txBox="1">
              <a:spLocks noChangeArrowheads="1"/>
            </p:cNvSpPr>
            <p:nvPr/>
          </p:nvSpPr>
          <p:spPr bwMode="auto">
            <a:xfrm>
              <a:off x="5479290" y="4491249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76" name="Text Box 46"/>
            <p:cNvSpPr txBox="1">
              <a:spLocks noChangeArrowheads="1"/>
            </p:cNvSpPr>
            <p:nvPr/>
          </p:nvSpPr>
          <p:spPr bwMode="auto">
            <a:xfrm>
              <a:off x="6823347" y="3378547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77" name="Text Box 46"/>
            <p:cNvSpPr txBox="1">
              <a:spLocks noChangeArrowheads="1"/>
            </p:cNvSpPr>
            <p:nvPr/>
          </p:nvSpPr>
          <p:spPr bwMode="auto">
            <a:xfrm>
              <a:off x="1621550" y="3453829"/>
              <a:ext cx="66588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0070C0"/>
                  </a:solidFill>
                  <a:ea typeface="PMingLiU" panose="02020500000000000000" pitchFamily="18" charset="-120"/>
                </a:rPr>
                <a:t>NIL,0</a:t>
              </a:r>
            </a:p>
          </p:txBody>
        </p:sp>
      </p:grpSp>
      <p:sp>
        <p:nvSpPr>
          <p:cNvPr id="78" name="Text Box 46"/>
          <p:cNvSpPr txBox="1">
            <a:spLocks noChangeArrowheads="1"/>
          </p:cNvSpPr>
          <p:nvPr/>
        </p:nvSpPr>
        <p:spPr bwMode="auto">
          <a:xfrm>
            <a:off x="3357166" y="3167274"/>
            <a:ext cx="7460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TW" dirty="0">
                <a:solidFill>
                  <a:srgbClr val="FF0000"/>
                </a:solidFill>
                <a:ea typeface="PMingLiU" panose="02020500000000000000" pitchFamily="18" charset="-120"/>
              </a:rPr>
              <a:t>NIL,∞</a:t>
            </a:r>
          </a:p>
        </p:txBody>
      </p:sp>
    </p:spTree>
    <p:extLst>
      <p:ext uri="{BB962C8B-B14F-4D97-AF65-F5344CB8AC3E}">
        <p14:creationId xmlns:p14="http://schemas.microsoft.com/office/powerpoint/2010/main" val="20392080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Prim's Algorithm: Example</a:t>
            </a:r>
            <a:endParaRPr lang="en-US" dirty="0"/>
          </a:p>
        </p:txBody>
      </p:sp>
      <p:grpSp>
        <p:nvGrpSpPr>
          <p:cNvPr id="33796" name="Group 4"/>
          <p:cNvGrpSpPr>
            <a:grpSpLocks/>
          </p:cNvGrpSpPr>
          <p:nvPr/>
        </p:nvGrpSpPr>
        <p:grpSpPr bwMode="auto">
          <a:xfrm>
            <a:off x="2250280" y="2249487"/>
            <a:ext cx="4608513" cy="2617788"/>
            <a:chOff x="1429" y="2643"/>
            <a:chExt cx="2903" cy="1649"/>
          </a:xfrm>
        </p:grpSpPr>
        <p:grpSp>
          <p:nvGrpSpPr>
            <p:cNvPr id="33797" name="Group 5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33798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33799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00" name="Group 8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33801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33802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03" name="Group 11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33804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33805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06" name="Group 14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33807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33808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09" name="Group 17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33810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33811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12" name="Group 20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33813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33814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15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33816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33817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18" name="Group 26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33819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33820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21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33822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33823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3824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5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6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7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8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9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0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1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2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3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4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5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6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7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8" name="Text Box 46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3839" name="Text Box 47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33840" name="Text Box 48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3841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33842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33843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33844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3845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3846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3847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33848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33849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3850" name="Text Box 58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33851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1621550" y="2300729"/>
            <a:ext cx="5947835" cy="2559852"/>
            <a:chOff x="1621550" y="2300729"/>
            <a:chExt cx="5947835" cy="2559852"/>
          </a:xfrm>
        </p:grpSpPr>
        <p:grpSp>
          <p:nvGrpSpPr>
            <p:cNvPr id="60" name="Group 59"/>
            <p:cNvGrpSpPr/>
            <p:nvPr/>
          </p:nvGrpSpPr>
          <p:grpSpPr>
            <a:xfrm>
              <a:off x="1621550" y="2300729"/>
              <a:ext cx="5947835" cy="2559852"/>
              <a:chOff x="1621550" y="2300729"/>
              <a:chExt cx="5947835" cy="2559852"/>
            </a:xfrm>
          </p:grpSpPr>
          <p:sp>
            <p:nvSpPr>
              <p:cNvPr id="61" name="Text Box 46"/>
              <p:cNvSpPr txBox="1">
                <a:spLocks noChangeArrowheads="1"/>
              </p:cNvSpPr>
              <p:nvPr/>
            </p:nvSpPr>
            <p:spPr bwMode="auto">
              <a:xfrm>
                <a:off x="3015186" y="2313582"/>
                <a:ext cx="47000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a,4</a:t>
                </a:r>
              </a:p>
            </p:txBody>
          </p:sp>
          <p:sp>
            <p:nvSpPr>
              <p:cNvPr id="62" name="Text Box 46"/>
              <p:cNvSpPr txBox="1">
                <a:spLocks noChangeArrowheads="1"/>
              </p:cNvSpPr>
              <p:nvPr/>
            </p:nvSpPr>
            <p:spPr bwMode="auto">
              <a:xfrm>
                <a:off x="3002333" y="4482069"/>
                <a:ext cx="47000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a,8</a:t>
                </a:r>
              </a:p>
            </p:txBody>
          </p:sp>
          <p:sp>
            <p:nvSpPr>
              <p:cNvPr id="63" name="Text Box 46"/>
              <p:cNvSpPr txBox="1">
                <a:spLocks noChangeArrowheads="1"/>
              </p:cNvSpPr>
              <p:nvPr/>
            </p:nvSpPr>
            <p:spPr bwMode="auto">
              <a:xfrm>
                <a:off x="4338012" y="2300729"/>
                <a:ext cx="48122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b,8</a:t>
                </a:r>
              </a:p>
            </p:txBody>
          </p:sp>
          <p:sp>
            <p:nvSpPr>
              <p:cNvPr id="64" name="Text Box 46"/>
              <p:cNvSpPr txBox="1">
                <a:spLocks noChangeArrowheads="1"/>
              </p:cNvSpPr>
              <p:nvPr/>
            </p:nvSpPr>
            <p:spPr bwMode="auto">
              <a:xfrm>
                <a:off x="5621936" y="2300729"/>
                <a:ext cx="45717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c,7</a:t>
                </a:r>
              </a:p>
            </p:txBody>
          </p:sp>
          <p:sp>
            <p:nvSpPr>
              <p:cNvPr id="65" name="Text Box 46"/>
              <p:cNvSpPr txBox="1">
                <a:spLocks noChangeArrowheads="1"/>
              </p:cNvSpPr>
              <p:nvPr/>
            </p:nvSpPr>
            <p:spPr bwMode="auto">
              <a:xfrm>
                <a:off x="4157266" y="4491249"/>
                <a:ext cx="74603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FF0000"/>
                    </a:solidFill>
                    <a:ea typeface="PMingLiU" panose="02020500000000000000" pitchFamily="18" charset="-120"/>
                  </a:rPr>
                  <a:t>NIL,∞</a:t>
                </a:r>
              </a:p>
            </p:txBody>
          </p:sp>
          <p:sp>
            <p:nvSpPr>
              <p:cNvPr id="66" name="Text Box 46"/>
              <p:cNvSpPr txBox="1">
                <a:spLocks noChangeArrowheads="1"/>
              </p:cNvSpPr>
              <p:nvPr/>
            </p:nvSpPr>
            <p:spPr bwMode="auto">
              <a:xfrm>
                <a:off x="5612640" y="4491249"/>
                <a:ext cx="45717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c,4</a:t>
                </a:r>
              </a:p>
            </p:txBody>
          </p:sp>
          <p:sp>
            <p:nvSpPr>
              <p:cNvPr id="67" name="Text Box 46"/>
              <p:cNvSpPr txBox="1">
                <a:spLocks noChangeArrowheads="1"/>
              </p:cNvSpPr>
              <p:nvPr/>
            </p:nvSpPr>
            <p:spPr bwMode="auto">
              <a:xfrm>
                <a:off x="6823347" y="3378547"/>
                <a:ext cx="74603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FF0000"/>
                    </a:solidFill>
                    <a:ea typeface="PMingLiU" panose="02020500000000000000" pitchFamily="18" charset="-120"/>
                  </a:rPr>
                  <a:t>NIL,∞</a:t>
                </a:r>
              </a:p>
            </p:txBody>
          </p:sp>
          <p:sp>
            <p:nvSpPr>
              <p:cNvPr id="68" name="Text Box 46"/>
              <p:cNvSpPr txBox="1">
                <a:spLocks noChangeArrowheads="1"/>
              </p:cNvSpPr>
              <p:nvPr/>
            </p:nvSpPr>
            <p:spPr bwMode="auto">
              <a:xfrm>
                <a:off x="1621550" y="3453829"/>
                <a:ext cx="66588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NIL,0</a:t>
                </a:r>
              </a:p>
            </p:txBody>
          </p:sp>
        </p:grpSp>
        <p:sp>
          <p:nvSpPr>
            <p:cNvPr id="69" name="Text Box 46"/>
            <p:cNvSpPr txBox="1">
              <a:spLocks noChangeArrowheads="1"/>
            </p:cNvSpPr>
            <p:nvPr/>
          </p:nvSpPr>
          <p:spPr bwMode="auto">
            <a:xfrm>
              <a:off x="3490516" y="3186324"/>
              <a:ext cx="45717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0070C0"/>
                  </a:solidFill>
                  <a:ea typeface="PMingLiU" panose="02020500000000000000" pitchFamily="18" charset="-120"/>
                </a:rPr>
                <a:t>c,2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35002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Prim's Algorithm: Example</a:t>
            </a:r>
            <a:endParaRPr lang="en-US" dirty="0"/>
          </a:p>
        </p:txBody>
      </p:sp>
      <p:grpSp>
        <p:nvGrpSpPr>
          <p:cNvPr id="33852" name="Group 60"/>
          <p:cNvGrpSpPr>
            <a:grpSpLocks/>
          </p:cNvGrpSpPr>
          <p:nvPr/>
        </p:nvGrpSpPr>
        <p:grpSpPr bwMode="auto">
          <a:xfrm>
            <a:off x="2250280" y="2249487"/>
            <a:ext cx="4608513" cy="2617787"/>
            <a:chOff x="1429" y="2643"/>
            <a:chExt cx="2903" cy="1649"/>
          </a:xfrm>
        </p:grpSpPr>
        <p:grpSp>
          <p:nvGrpSpPr>
            <p:cNvPr id="33853" name="Group 61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33854" name="Text Box 6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33855" name="Oval 6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56" name="Group 64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33857" name="Text Box 6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33858" name="Oval 6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59" name="Group 67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33860" name="Text Box 6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33861" name="Oval 6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62" name="Group 70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33863" name="Text Box 7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33864" name="Oval 7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65" name="Group 73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33866" name="Text Box 7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33867" name="Oval 7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68" name="Group 76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33869" name="Text Box 7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33870" name="Oval 7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71" name="Group 79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33872" name="Text Box 80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33873" name="Oval 81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74" name="Group 82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33875" name="Text Box 83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33876" name="Oval 84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77" name="Group 85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33878" name="Text Box 86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33879" name="Oval 87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3880" name="Line 88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1" name="Line 89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2" name="Line 90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3" name="Line 91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4" name="Line 92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5" name="Line 93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6" name="Line 94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7" name="Line 95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8" name="Line 96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9" name="Line 97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90" name="Line 98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91" name="Line 99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92" name="Line 100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93" name="Line 101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94" name="Text Box 102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3895" name="Text Box 103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33896" name="Text Box 104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3897" name="Text Box 105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33898" name="Text Box 106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33899" name="Text Box 107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33900" name="Text Box 108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3901" name="Text Box 109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3902" name="Text Box 110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3903" name="Text Box 111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33904" name="Text Box 112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33905" name="Text Box 113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3906" name="Text Box 114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33907" name="Text Box 115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1621550" y="2300729"/>
            <a:ext cx="5947835" cy="2559852"/>
            <a:chOff x="1621550" y="2300729"/>
            <a:chExt cx="5947835" cy="2559852"/>
          </a:xfrm>
        </p:grpSpPr>
        <p:grpSp>
          <p:nvGrpSpPr>
            <p:cNvPr id="61" name="Group 59"/>
            <p:cNvGrpSpPr/>
            <p:nvPr/>
          </p:nvGrpSpPr>
          <p:grpSpPr>
            <a:xfrm>
              <a:off x="1621550" y="2300729"/>
              <a:ext cx="5947835" cy="2559852"/>
              <a:chOff x="1621550" y="2300729"/>
              <a:chExt cx="5947835" cy="2559852"/>
            </a:xfrm>
          </p:grpSpPr>
          <p:sp>
            <p:nvSpPr>
              <p:cNvPr id="63" name="Text Box 46"/>
              <p:cNvSpPr txBox="1">
                <a:spLocks noChangeArrowheads="1"/>
              </p:cNvSpPr>
              <p:nvPr/>
            </p:nvSpPr>
            <p:spPr bwMode="auto">
              <a:xfrm>
                <a:off x="3015186" y="2313582"/>
                <a:ext cx="47000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a,4</a:t>
                </a:r>
              </a:p>
            </p:txBody>
          </p:sp>
          <p:sp>
            <p:nvSpPr>
              <p:cNvPr id="64" name="Text Box 46"/>
              <p:cNvSpPr txBox="1">
                <a:spLocks noChangeArrowheads="1"/>
              </p:cNvSpPr>
              <p:nvPr/>
            </p:nvSpPr>
            <p:spPr bwMode="auto">
              <a:xfrm>
                <a:off x="3002333" y="4482069"/>
                <a:ext cx="41710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i,7</a:t>
                </a:r>
              </a:p>
            </p:txBody>
          </p:sp>
          <p:sp>
            <p:nvSpPr>
              <p:cNvPr id="65" name="Text Box 46"/>
              <p:cNvSpPr txBox="1">
                <a:spLocks noChangeArrowheads="1"/>
              </p:cNvSpPr>
              <p:nvPr/>
            </p:nvSpPr>
            <p:spPr bwMode="auto">
              <a:xfrm>
                <a:off x="4338012" y="2300729"/>
                <a:ext cx="48122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b,8</a:t>
                </a:r>
              </a:p>
            </p:txBody>
          </p:sp>
          <p:sp>
            <p:nvSpPr>
              <p:cNvPr id="66" name="Text Box 46"/>
              <p:cNvSpPr txBox="1">
                <a:spLocks noChangeArrowheads="1"/>
              </p:cNvSpPr>
              <p:nvPr/>
            </p:nvSpPr>
            <p:spPr bwMode="auto">
              <a:xfrm>
                <a:off x="5621936" y="2300729"/>
                <a:ext cx="45717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c,7</a:t>
                </a:r>
              </a:p>
            </p:txBody>
          </p:sp>
          <p:sp>
            <p:nvSpPr>
              <p:cNvPr id="67" name="Text Box 46"/>
              <p:cNvSpPr txBox="1">
                <a:spLocks noChangeArrowheads="1"/>
              </p:cNvSpPr>
              <p:nvPr/>
            </p:nvSpPr>
            <p:spPr bwMode="auto">
              <a:xfrm>
                <a:off x="4338241" y="4491249"/>
                <a:ext cx="41229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i,6</a:t>
                </a:r>
              </a:p>
            </p:txBody>
          </p:sp>
          <p:sp>
            <p:nvSpPr>
              <p:cNvPr id="68" name="Text Box 46"/>
              <p:cNvSpPr txBox="1">
                <a:spLocks noChangeArrowheads="1"/>
              </p:cNvSpPr>
              <p:nvPr/>
            </p:nvSpPr>
            <p:spPr bwMode="auto">
              <a:xfrm>
                <a:off x="5612640" y="4491249"/>
                <a:ext cx="45717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c,4</a:t>
                </a:r>
              </a:p>
            </p:txBody>
          </p:sp>
          <p:sp>
            <p:nvSpPr>
              <p:cNvPr id="69" name="Text Box 46"/>
              <p:cNvSpPr txBox="1">
                <a:spLocks noChangeArrowheads="1"/>
              </p:cNvSpPr>
              <p:nvPr/>
            </p:nvSpPr>
            <p:spPr bwMode="auto">
              <a:xfrm>
                <a:off x="6823347" y="3378547"/>
                <a:ext cx="74603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FF0000"/>
                    </a:solidFill>
                    <a:ea typeface="PMingLiU" panose="02020500000000000000" pitchFamily="18" charset="-120"/>
                  </a:rPr>
                  <a:t>NIL,∞</a:t>
                </a:r>
              </a:p>
            </p:txBody>
          </p:sp>
          <p:sp>
            <p:nvSpPr>
              <p:cNvPr id="70" name="Text Box 46"/>
              <p:cNvSpPr txBox="1">
                <a:spLocks noChangeArrowheads="1"/>
              </p:cNvSpPr>
              <p:nvPr/>
            </p:nvSpPr>
            <p:spPr bwMode="auto">
              <a:xfrm>
                <a:off x="1621550" y="3453829"/>
                <a:ext cx="66588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NIL,0</a:t>
                </a:r>
              </a:p>
            </p:txBody>
          </p:sp>
        </p:grpSp>
        <p:sp>
          <p:nvSpPr>
            <p:cNvPr id="62" name="Text Box 46"/>
            <p:cNvSpPr txBox="1">
              <a:spLocks noChangeArrowheads="1"/>
            </p:cNvSpPr>
            <p:nvPr/>
          </p:nvSpPr>
          <p:spPr bwMode="auto">
            <a:xfrm>
              <a:off x="3490516" y="3186324"/>
              <a:ext cx="45717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0070C0"/>
                  </a:solidFill>
                  <a:ea typeface="PMingLiU" panose="02020500000000000000" pitchFamily="18" charset="-120"/>
                </a:rPr>
                <a:t>c,2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269625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Prim's Algorithm: Example</a:t>
            </a:r>
            <a:endParaRPr lang="en-US" dirty="0"/>
          </a:p>
        </p:txBody>
      </p:sp>
      <p:grpSp>
        <p:nvGrpSpPr>
          <p:cNvPr id="34820" name="Group 4"/>
          <p:cNvGrpSpPr>
            <a:grpSpLocks/>
          </p:cNvGrpSpPr>
          <p:nvPr/>
        </p:nvGrpSpPr>
        <p:grpSpPr bwMode="auto">
          <a:xfrm>
            <a:off x="2250281" y="2249487"/>
            <a:ext cx="4608512" cy="2617787"/>
            <a:chOff x="1429" y="2643"/>
            <a:chExt cx="2903" cy="1649"/>
          </a:xfrm>
        </p:grpSpPr>
        <p:grpSp>
          <p:nvGrpSpPr>
            <p:cNvPr id="34821" name="Group 5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34822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34823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24" name="Group 8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34825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34826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27" name="Group 11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34828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34829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30" name="Group 14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34831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34832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33" name="Group 17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34834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34835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36" name="Group 20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34837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34838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39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34840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34841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42" name="Group 26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34843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34844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45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34846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34847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4848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9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0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1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2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3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4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5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6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7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8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9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0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1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2" name="Text Box 46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4863" name="Text Box 47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34864" name="Text Box 48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4865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34866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34867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34868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4869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4870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4871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34872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34873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4874" name="Text Box 58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34875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1621550" y="2300729"/>
            <a:ext cx="5734572" cy="2559852"/>
            <a:chOff x="1621550" y="2300729"/>
            <a:chExt cx="5734572" cy="2559852"/>
          </a:xfrm>
        </p:grpSpPr>
        <p:grpSp>
          <p:nvGrpSpPr>
            <p:cNvPr id="61" name="Group 59"/>
            <p:cNvGrpSpPr/>
            <p:nvPr/>
          </p:nvGrpSpPr>
          <p:grpSpPr>
            <a:xfrm>
              <a:off x="1621550" y="2300729"/>
              <a:ext cx="5734572" cy="2559852"/>
              <a:chOff x="1621550" y="2300729"/>
              <a:chExt cx="5734572" cy="2559852"/>
            </a:xfrm>
          </p:grpSpPr>
          <p:sp>
            <p:nvSpPr>
              <p:cNvPr id="63" name="Text Box 46"/>
              <p:cNvSpPr txBox="1">
                <a:spLocks noChangeArrowheads="1"/>
              </p:cNvSpPr>
              <p:nvPr/>
            </p:nvSpPr>
            <p:spPr bwMode="auto">
              <a:xfrm>
                <a:off x="3015186" y="2313582"/>
                <a:ext cx="47000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a,4</a:t>
                </a:r>
              </a:p>
            </p:txBody>
          </p:sp>
          <p:sp>
            <p:nvSpPr>
              <p:cNvPr id="64" name="Text Box 46"/>
              <p:cNvSpPr txBox="1">
                <a:spLocks noChangeArrowheads="1"/>
              </p:cNvSpPr>
              <p:nvPr/>
            </p:nvSpPr>
            <p:spPr bwMode="auto">
              <a:xfrm>
                <a:off x="3002333" y="4482069"/>
                <a:ext cx="41710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i,7</a:t>
                </a:r>
              </a:p>
            </p:txBody>
          </p:sp>
          <p:sp>
            <p:nvSpPr>
              <p:cNvPr id="65" name="Text Box 46"/>
              <p:cNvSpPr txBox="1">
                <a:spLocks noChangeArrowheads="1"/>
              </p:cNvSpPr>
              <p:nvPr/>
            </p:nvSpPr>
            <p:spPr bwMode="auto">
              <a:xfrm>
                <a:off x="4338012" y="2300729"/>
                <a:ext cx="48122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b,8</a:t>
                </a:r>
              </a:p>
            </p:txBody>
          </p:sp>
          <p:sp>
            <p:nvSpPr>
              <p:cNvPr id="66" name="Text Box 46"/>
              <p:cNvSpPr txBox="1">
                <a:spLocks noChangeArrowheads="1"/>
              </p:cNvSpPr>
              <p:nvPr/>
            </p:nvSpPr>
            <p:spPr bwMode="auto">
              <a:xfrm>
                <a:off x="5621936" y="2300729"/>
                <a:ext cx="45717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c,7</a:t>
                </a:r>
              </a:p>
            </p:txBody>
          </p:sp>
          <p:sp>
            <p:nvSpPr>
              <p:cNvPr id="67" name="Text Box 46"/>
              <p:cNvSpPr txBox="1">
                <a:spLocks noChangeArrowheads="1"/>
              </p:cNvSpPr>
              <p:nvPr/>
            </p:nvSpPr>
            <p:spPr bwMode="auto">
              <a:xfrm>
                <a:off x="4338241" y="4491249"/>
                <a:ext cx="41229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f,2</a:t>
                </a:r>
              </a:p>
            </p:txBody>
          </p:sp>
          <p:sp>
            <p:nvSpPr>
              <p:cNvPr id="68" name="Text Box 46"/>
              <p:cNvSpPr txBox="1">
                <a:spLocks noChangeArrowheads="1"/>
              </p:cNvSpPr>
              <p:nvPr/>
            </p:nvSpPr>
            <p:spPr bwMode="auto">
              <a:xfrm>
                <a:off x="5612640" y="4491249"/>
                <a:ext cx="45717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c,4</a:t>
                </a:r>
              </a:p>
            </p:txBody>
          </p:sp>
          <p:sp>
            <p:nvSpPr>
              <p:cNvPr id="69" name="Text Box 46"/>
              <p:cNvSpPr txBox="1">
                <a:spLocks noChangeArrowheads="1"/>
              </p:cNvSpPr>
              <p:nvPr/>
            </p:nvSpPr>
            <p:spPr bwMode="auto">
              <a:xfrm>
                <a:off x="6823347" y="3378547"/>
                <a:ext cx="532775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f,10</a:t>
                </a:r>
              </a:p>
            </p:txBody>
          </p:sp>
          <p:sp>
            <p:nvSpPr>
              <p:cNvPr id="70" name="Text Box 46"/>
              <p:cNvSpPr txBox="1">
                <a:spLocks noChangeArrowheads="1"/>
              </p:cNvSpPr>
              <p:nvPr/>
            </p:nvSpPr>
            <p:spPr bwMode="auto">
              <a:xfrm>
                <a:off x="1621550" y="3453829"/>
                <a:ext cx="66588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NIL,0</a:t>
                </a:r>
              </a:p>
            </p:txBody>
          </p:sp>
        </p:grpSp>
        <p:sp>
          <p:nvSpPr>
            <p:cNvPr id="62" name="Text Box 46"/>
            <p:cNvSpPr txBox="1">
              <a:spLocks noChangeArrowheads="1"/>
            </p:cNvSpPr>
            <p:nvPr/>
          </p:nvSpPr>
          <p:spPr bwMode="auto">
            <a:xfrm>
              <a:off x="3490516" y="3186324"/>
              <a:ext cx="45717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0070C0"/>
                  </a:solidFill>
                  <a:ea typeface="PMingLiU" panose="02020500000000000000" pitchFamily="18" charset="-120"/>
                </a:rPr>
                <a:t>c,2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86869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Prim's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34876" name="Group 60"/>
          <p:cNvGrpSpPr>
            <a:grpSpLocks/>
          </p:cNvGrpSpPr>
          <p:nvPr/>
        </p:nvGrpSpPr>
        <p:grpSpPr bwMode="auto">
          <a:xfrm>
            <a:off x="2250281" y="2249487"/>
            <a:ext cx="4608512" cy="2617787"/>
            <a:chOff x="1429" y="2643"/>
            <a:chExt cx="2903" cy="1649"/>
          </a:xfrm>
        </p:grpSpPr>
        <p:grpSp>
          <p:nvGrpSpPr>
            <p:cNvPr id="34877" name="Group 61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34878" name="Text Box 6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34879" name="Oval 6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80" name="Group 64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34881" name="Text Box 6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34882" name="Oval 6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83" name="Group 67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34884" name="Text Box 6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34885" name="Oval 6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86" name="Group 70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34887" name="Text Box 7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34888" name="Oval 7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89" name="Group 73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34890" name="Text Box 7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34891" name="Oval 7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92" name="Group 76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34893" name="Text Box 7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34894" name="Oval 7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95" name="Group 79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34896" name="Text Box 80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34897" name="Oval 81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98" name="Group 82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34899" name="Text Box 83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34900" name="Oval 84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901" name="Group 85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34902" name="Text Box 86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34903" name="Oval 87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4904" name="Line 88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5" name="Line 89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6" name="Line 90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7" name="Line 91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8" name="Line 92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9" name="Line 93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0" name="Line 94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1" name="Line 95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2" name="Line 96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3" name="Line 97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4" name="Line 98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5" name="Line 99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6" name="Line 100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7" name="Line 101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8" name="Text Box 102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4919" name="Text Box 103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34920" name="Text Box 104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4921" name="Text Box 105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34922" name="Text Box 106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34923" name="Text Box 107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34924" name="Text Box 108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4925" name="Text Box 109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4926" name="Text Box 110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4927" name="Text Box 111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34928" name="Text Box 112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34929" name="Text Box 113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4930" name="Text Box 114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34931" name="Text Box 115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1621550" y="2300729"/>
            <a:ext cx="5734572" cy="2559852"/>
            <a:chOff x="1621550" y="2300729"/>
            <a:chExt cx="5734572" cy="2559852"/>
          </a:xfrm>
        </p:grpSpPr>
        <p:grpSp>
          <p:nvGrpSpPr>
            <p:cNvPr id="61" name="Group 59"/>
            <p:cNvGrpSpPr/>
            <p:nvPr/>
          </p:nvGrpSpPr>
          <p:grpSpPr>
            <a:xfrm>
              <a:off x="1621550" y="2300729"/>
              <a:ext cx="5734572" cy="2559852"/>
              <a:chOff x="1621550" y="2300729"/>
              <a:chExt cx="5734572" cy="2559852"/>
            </a:xfrm>
          </p:grpSpPr>
          <p:sp>
            <p:nvSpPr>
              <p:cNvPr id="63" name="Text Box 46"/>
              <p:cNvSpPr txBox="1">
                <a:spLocks noChangeArrowheads="1"/>
              </p:cNvSpPr>
              <p:nvPr/>
            </p:nvSpPr>
            <p:spPr bwMode="auto">
              <a:xfrm>
                <a:off x="3015186" y="2313582"/>
                <a:ext cx="47000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a,4</a:t>
                </a:r>
              </a:p>
            </p:txBody>
          </p:sp>
          <p:sp>
            <p:nvSpPr>
              <p:cNvPr id="64" name="Text Box 46"/>
              <p:cNvSpPr txBox="1">
                <a:spLocks noChangeArrowheads="1"/>
              </p:cNvSpPr>
              <p:nvPr/>
            </p:nvSpPr>
            <p:spPr bwMode="auto">
              <a:xfrm>
                <a:off x="3002333" y="4482069"/>
                <a:ext cx="470963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g,1</a:t>
                </a:r>
              </a:p>
            </p:txBody>
          </p:sp>
          <p:sp>
            <p:nvSpPr>
              <p:cNvPr id="65" name="Text Box 46"/>
              <p:cNvSpPr txBox="1">
                <a:spLocks noChangeArrowheads="1"/>
              </p:cNvSpPr>
              <p:nvPr/>
            </p:nvSpPr>
            <p:spPr bwMode="auto">
              <a:xfrm>
                <a:off x="4338012" y="2300729"/>
                <a:ext cx="48122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b,8</a:t>
                </a:r>
              </a:p>
            </p:txBody>
          </p:sp>
          <p:sp>
            <p:nvSpPr>
              <p:cNvPr id="66" name="Text Box 46"/>
              <p:cNvSpPr txBox="1">
                <a:spLocks noChangeArrowheads="1"/>
              </p:cNvSpPr>
              <p:nvPr/>
            </p:nvSpPr>
            <p:spPr bwMode="auto">
              <a:xfrm>
                <a:off x="5621936" y="2300729"/>
                <a:ext cx="45717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c,7</a:t>
                </a:r>
              </a:p>
            </p:txBody>
          </p:sp>
          <p:sp>
            <p:nvSpPr>
              <p:cNvPr id="67" name="Text Box 46"/>
              <p:cNvSpPr txBox="1">
                <a:spLocks noChangeArrowheads="1"/>
              </p:cNvSpPr>
              <p:nvPr/>
            </p:nvSpPr>
            <p:spPr bwMode="auto">
              <a:xfrm>
                <a:off x="4338241" y="4491249"/>
                <a:ext cx="41229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f,2</a:t>
                </a:r>
              </a:p>
            </p:txBody>
          </p:sp>
          <p:sp>
            <p:nvSpPr>
              <p:cNvPr id="68" name="Text Box 46"/>
              <p:cNvSpPr txBox="1">
                <a:spLocks noChangeArrowheads="1"/>
              </p:cNvSpPr>
              <p:nvPr/>
            </p:nvSpPr>
            <p:spPr bwMode="auto">
              <a:xfrm>
                <a:off x="5612640" y="4491249"/>
                <a:ext cx="45717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c,4</a:t>
                </a:r>
              </a:p>
            </p:txBody>
          </p:sp>
          <p:sp>
            <p:nvSpPr>
              <p:cNvPr id="69" name="Text Box 46"/>
              <p:cNvSpPr txBox="1">
                <a:spLocks noChangeArrowheads="1"/>
              </p:cNvSpPr>
              <p:nvPr/>
            </p:nvSpPr>
            <p:spPr bwMode="auto">
              <a:xfrm>
                <a:off x="6823347" y="3378547"/>
                <a:ext cx="532775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f,10</a:t>
                </a:r>
              </a:p>
            </p:txBody>
          </p:sp>
          <p:sp>
            <p:nvSpPr>
              <p:cNvPr id="70" name="Text Box 46"/>
              <p:cNvSpPr txBox="1">
                <a:spLocks noChangeArrowheads="1"/>
              </p:cNvSpPr>
              <p:nvPr/>
            </p:nvSpPr>
            <p:spPr bwMode="auto">
              <a:xfrm>
                <a:off x="1621550" y="3453829"/>
                <a:ext cx="66588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NIL,0</a:t>
                </a:r>
              </a:p>
            </p:txBody>
          </p:sp>
        </p:grpSp>
        <p:sp>
          <p:nvSpPr>
            <p:cNvPr id="62" name="Text Box 46"/>
            <p:cNvSpPr txBox="1">
              <a:spLocks noChangeArrowheads="1"/>
            </p:cNvSpPr>
            <p:nvPr/>
          </p:nvSpPr>
          <p:spPr bwMode="auto">
            <a:xfrm>
              <a:off x="3490516" y="3186324"/>
              <a:ext cx="45717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0070C0"/>
                  </a:solidFill>
                  <a:ea typeface="PMingLiU" panose="02020500000000000000" pitchFamily="18" charset="-120"/>
                </a:rPr>
                <a:t>c,2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05543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Prim's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5844" name="Group 4"/>
          <p:cNvGrpSpPr>
            <a:grpSpLocks/>
          </p:cNvGrpSpPr>
          <p:nvPr/>
        </p:nvGrpSpPr>
        <p:grpSpPr bwMode="auto">
          <a:xfrm>
            <a:off x="2250281" y="2249487"/>
            <a:ext cx="4608512" cy="2617788"/>
            <a:chOff x="1429" y="2643"/>
            <a:chExt cx="2903" cy="1649"/>
          </a:xfrm>
        </p:grpSpPr>
        <p:grpSp>
          <p:nvGrpSpPr>
            <p:cNvPr id="35845" name="Group 5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35846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35847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848" name="Group 8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35849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35850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851" name="Group 11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35852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35853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854" name="Group 14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35855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35856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857" name="Group 17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35858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35859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860" name="Group 20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35861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35862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863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35864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35865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866" name="Group 26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35867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35868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869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35870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35871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5872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73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74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75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76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77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78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79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80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81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82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83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84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85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86" name="Text Box 46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5887" name="Text Box 47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35888" name="Text Box 48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5889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35890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35891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35892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5893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5894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5895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35896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35897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5898" name="Text Box 58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35899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1621550" y="2300729"/>
            <a:ext cx="5734572" cy="2559852"/>
            <a:chOff x="1621550" y="2300729"/>
            <a:chExt cx="5734572" cy="2559852"/>
          </a:xfrm>
        </p:grpSpPr>
        <p:grpSp>
          <p:nvGrpSpPr>
            <p:cNvPr id="61" name="Group 59"/>
            <p:cNvGrpSpPr/>
            <p:nvPr/>
          </p:nvGrpSpPr>
          <p:grpSpPr>
            <a:xfrm>
              <a:off x="1621550" y="2300729"/>
              <a:ext cx="5734572" cy="2559852"/>
              <a:chOff x="1621550" y="2300729"/>
              <a:chExt cx="5734572" cy="2559852"/>
            </a:xfrm>
          </p:grpSpPr>
          <p:sp>
            <p:nvSpPr>
              <p:cNvPr id="63" name="Text Box 46"/>
              <p:cNvSpPr txBox="1">
                <a:spLocks noChangeArrowheads="1"/>
              </p:cNvSpPr>
              <p:nvPr/>
            </p:nvSpPr>
            <p:spPr bwMode="auto">
              <a:xfrm>
                <a:off x="3015186" y="2313582"/>
                <a:ext cx="47000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a,4</a:t>
                </a:r>
              </a:p>
            </p:txBody>
          </p:sp>
          <p:sp>
            <p:nvSpPr>
              <p:cNvPr id="64" name="Text Box 46"/>
              <p:cNvSpPr txBox="1">
                <a:spLocks noChangeArrowheads="1"/>
              </p:cNvSpPr>
              <p:nvPr/>
            </p:nvSpPr>
            <p:spPr bwMode="auto">
              <a:xfrm>
                <a:off x="3002333" y="4482069"/>
                <a:ext cx="470963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g,1</a:t>
                </a:r>
              </a:p>
            </p:txBody>
          </p:sp>
          <p:sp>
            <p:nvSpPr>
              <p:cNvPr id="65" name="Text Box 46"/>
              <p:cNvSpPr txBox="1">
                <a:spLocks noChangeArrowheads="1"/>
              </p:cNvSpPr>
              <p:nvPr/>
            </p:nvSpPr>
            <p:spPr bwMode="auto">
              <a:xfrm>
                <a:off x="4338012" y="2300729"/>
                <a:ext cx="48122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b,8</a:t>
                </a:r>
              </a:p>
            </p:txBody>
          </p:sp>
          <p:sp>
            <p:nvSpPr>
              <p:cNvPr id="66" name="Text Box 46"/>
              <p:cNvSpPr txBox="1">
                <a:spLocks noChangeArrowheads="1"/>
              </p:cNvSpPr>
              <p:nvPr/>
            </p:nvSpPr>
            <p:spPr bwMode="auto">
              <a:xfrm>
                <a:off x="5621936" y="2300729"/>
                <a:ext cx="45717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c,7</a:t>
                </a:r>
              </a:p>
            </p:txBody>
          </p:sp>
          <p:sp>
            <p:nvSpPr>
              <p:cNvPr id="67" name="Text Box 46"/>
              <p:cNvSpPr txBox="1">
                <a:spLocks noChangeArrowheads="1"/>
              </p:cNvSpPr>
              <p:nvPr/>
            </p:nvSpPr>
            <p:spPr bwMode="auto">
              <a:xfrm>
                <a:off x="4338241" y="4491249"/>
                <a:ext cx="41229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f,2</a:t>
                </a:r>
              </a:p>
            </p:txBody>
          </p:sp>
          <p:sp>
            <p:nvSpPr>
              <p:cNvPr id="68" name="Text Box 46"/>
              <p:cNvSpPr txBox="1">
                <a:spLocks noChangeArrowheads="1"/>
              </p:cNvSpPr>
              <p:nvPr/>
            </p:nvSpPr>
            <p:spPr bwMode="auto">
              <a:xfrm>
                <a:off x="5612640" y="4491249"/>
                <a:ext cx="45717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c,4</a:t>
                </a:r>
              </a:p>
            </p:txBody>
          </p:sp>
          <p:sp>
            <p:nvSpPr>
              <p:cNvPr id="69" name="Text Box 46"/>
              <p:cNvSpPr txBox="1">
                <a:spLocks noChangeArrowheads="1"/>
              </p:cNvSpPr>
              <p:nvPr/>
            </p:nvSpPr>
            <p:spPr bwMode="auto">
              <a:xfrm>
                <a:off x="6823347" y="3378547"/>
                <a:ext cx="532775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f,10</a:t>
                </a:r>
              </a:p>
            </p:txBody>
          </p:sp>
          <p:sp>
            <p:nvSpPr>
              <p:cNvPr id="70" name="Text Box 46"/>
              <p:cNvSpPr txBox="1">
                <a:spLocks noChangeArrowheads="1"/>
              </p:cNvSpPr>
              <p:nvPr/>
            </p:nvSpPr>
            <p:spPr bwMode="auto">
              <a:xfrm>
                <a:off x="1621550" y="3453829"/>
                <a:ext cx="66588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NIL,0</a:t>
                </a:r>
              </a:p>
            </p:txBody>
          </p:sp>
        </p:grpSp>
        <p:sp>
          <p:nvSpPr>
            <p:cNvPr id="62" name="Text Box 46"/>
            <p:cNvSpPr txBox="1">
              <a:spLocks noChangeArrowheads="1"/>
            </p:cNvSpPr>
            <p:nvPr/>
          </p:nvSpPr>
          <p:spPr bwMode="auto">
            <a:xfrm>
              <a:off x="3490516" y="3186324"/>
              <a:ext cx="45717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0070C0"/>
                  </a:solidFill>
                  <a:ea typeface="PMingLiU" panose="02020500000000000000" pitchFamily="18" charset="-120"/>
                </a:rPr>
                <a:t>c,2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95479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Prim's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35900" name="Group 60"/>
          <p:cNvGrpSpPr>
            <a:grpSpLocks/>
          </p:cNvGrpSpPr>
          <p:nvPr/>
        </p:nvGrpSpPr>
        <p:grpSpPr bwMode="auto">
          <a:xfrm>
            <a:off x="2250281" y="2249487"/>
            <a:ext cx="4608512" cy="2617788"/>
            <a:chOff x="1429" y="2643"/>
            <a:chExt cx="2903" cy="1649"/>
          </a:xfrm>
        </p:grpSpPr>
        <p:grpSp>
          <p:nvGrpSpPr>
            <p:cNvPr id="35901" name="Group 61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35902" name="Text Box 6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35903" name="Oval 6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904" name="Group 64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35905" name="Text Box 6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35906" name="Oval 6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907" name="Group 67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35908" name="Text Box 6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35909" name="Oval 6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910" name="Group 70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35911" name="Text Box 7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35912" name="Oval 7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913" name="Group 73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35914" name="Text Box 7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35915" name="Oval 7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916" name="Group 76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35917" name="Text Box 7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35918" name="Oval 7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919" name="Group 79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35920" name="Text Box 80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35921" name="Oval 81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922" name="Group 82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35923" name="Text Box 83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35924" name="Oval 84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925" name="Group 85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35926" name="Text Box 86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35927" name="Oval 87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5928" name="Line 88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29" name="Line 89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30" name="Line 90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31" name="Line 91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32" name="Line 92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33" name="Line 93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34" name="Line 94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35" name="Line 95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36" name="Line 96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37" name="Line 97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38" name="Line 98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39" name="Line 99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40" name="Line 100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41" name="Line 101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42" name="Text Box 102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5943" name="Text Box 103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35944" name="Text Box 104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5945" name="Text Box 105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35946" name="Text Box 106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35947" name="Text Box 107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35948" name="Text Box 108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5949" name="Text Box 109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5950" name="Text Box 110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5951" name="Text Box 111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35952" name="Text Box 112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35953" name="Text Box 113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5954" name="Text Box 114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35955" name="Text Box 115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1621550" y="2300729"/>
            <a:ext cx="5683019" cy="2559852"/>
            <a:chOff x="1621550" y="2300729"/>
            <a:chExt cx="5683019" cy="2559852"/>
          </a:xfrm>
        </p:grpSpPr>
        <p:grpSp>
          <p:nvGrpSpPr>
            <p:cNvPr id="61" name="Group 59"/>
            <p:cNvGrpSpPr/>
            <p:nvPr/>
          </p:nvGrpSpPr>
          <p:grpSpPr>
            <a:xfrm>
              <a:off x="1621550" y="2300729"/>
              <a:ext cx="5683019" cy="2559852"/>
              <a:chOff x="1621550" y="2300729"/>
              <a:chExt cx="5683019" cy="2559852"/>
            </a:xfrm>
          </p:grpSpPr>
          <p:sp>
            <p:nvSpPr>
              <p:cNvPr id="63" name="Text Box 46"/>
              <p:cNvSpPr txBox="1">
                <a:spLocks noChangeArrowheads="1"/>
              </p:cNvSpPr>
              <p:nvPr/>
            </p:nvSpPr>
            <p:spPr bwMode="auto">
              <a:xfrm>
                <a:off x="3015186" y="2313582"/>
                <a:ext cx="47000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a,4</a:t>
                </a:r>
              </a:p>
            </p:txBody>
          </p:sp>
          <p:sp>
            <p:nvSpPr>
              <p:cNvPr id="64" name="Text Box 46"/>
              <p:cNvSpPr txBox="1">
                <a:spLocks noChangeArrowheads="1"/>
              </p:cNvSpPr>
              <p:nvPr/>
            </p:nvSpPr>
            <p:spPr bwMode="auto">
              <a:xfrm>
                <a:off x="3002333" y="4482069"/>
                <a:ext cx="470963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g,1</a:t>
                </a:r>
              </a:p>
            </p:txBody>
          </p:sp>
          <p:sp>
            <p:nvSpPr>
              <p:cNvPr id="65" name="Text Box 46"/>
              <p:cNvSpPr txBox="1">
                <a:spLocks noChangeArrowheads="1"/>
              </p:cNvSpPr>
              <p:nvPr/>
            </p:nvSpPr>
            <p:spPr bwMode="auto">
              <a:xfrm>
                <a:off x="4338012" y="2300729"/>
                <a:ext cx="48122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b,8</a:t>
                </a:r>
              </a:p>
            </p:txBody>
          </p:sp>
          <p:sp>
            <p:nvSpPr>
              <p:cNvPr id="66" name="Text Box 46"/>
              <p:cNvSpPr txBox="1">
                <a:spLocks noChangeArrowheads="1"/>
              </p:cNvSpPr>
              <p:nvPr/>
            </p:nvSpPr>
            <p:spPr bwMode="auto">
              <a:xfrm>
                <a:off x="5621936" y="2300729"/>
                <a:ext cx="45717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c,7</a:t>
                </a:r>
              </a:p>
            </p:txBody>
          </p:sp>
          <p:sp>
            <p:nvSpPr>
              <p:cNvPr id="67" name="Text Box 46"/>
              <p:cNvSpPr txBox="1">
                <a:spLocks noChangeArrowheads="1"/>
              </p:cNvSpPr>
              <p:nvPr/>
            </p:nvSpPr>
            <p:spPr bwMode="auto">
              <a:xfrm>
                <a:off x="4338241" y="4491249"/>
                <a:ext cx="41229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f,2</a:t>
                </a:r>
              </a:p>
            </p:txBody>
          </p:sp>
          <p:sp>
            <p:nvSpPr>
              <p:cNvPr id="68" name="Text Box 46"/>
              <p:cNvSpPr txBox="1">
                <a:spLocks noChangeArrowheads="1"/>
              </p:cNvSpPr>
              <p:nvPr/>
            </p:nvSpPr>
            <p:spPr bwMode="auto">
              <a:xfrm>
                <a:off x="5612640" y="4491249"/>
                <a:ext cx="45717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c,4</a:t>
                </a:r>
              </a:p>
            </p:txBody>
          </p:sp>
          <p:sp>
            <p:nvSpPr>
              <p:cNvPr id="69" name="Text Box 46"/>
              <p:cNvSpPr txBox="1">
                <a:spLocks noChangeArrowheads="1"/>
              </p:cNvSpPr>
              <p:nvPr/>
            </p:nvSpPr>
            <p:spPr bwMode="auto">
              <a:xfrm>
                <a:off x="6823347" y="3378547"/>
                <a:ext cx="48122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d,9</a:t>
                </a:r>
              </a:p>
            </p:txBody>
          </p:sp>
          <p:sp>
            <p:nvSpPr>
              <p:cNvPr id="70" name="Text Box 46"/>
              <p:cNvSpPr txBox="1">
                <a:spLocks noChangeArrowheads="1"/>
              </p:cNvSpPr>
              <p:nvPr/>
            </p:nvSpPr>
            <p:spPr bwMode="auto">
              <a:xfrm>
                <a:off x="1621550" y="3453829"/>
                <a:ext cx="66588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NIL,0</a:t>
                </a:r>
              </a:p>
            </p:txBody>
          </p:sp>
        </p:grpSp>
        <p:sp>
          <p:nvSpPr>
            <p:cNvPr id="62" name="Text Box 46"/>
            <p:cNvSpPr txBox="1">
              <a:spLocks noChangeArrowheads="1"/>
            </p:cNvSpPr>
            <p:nvPr/>
          </p:nvSpPr>
          <p:spPr bwMode="auto">
            <a:xfrm>
              <a:off x="3490516" y="3186324"/>
              <a:ext cx="45717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0070C0"/>
                  </a:solidFill>
                  <a:ea typeface="PMingLiU" panose="02020500000000000000" pitchFamily="18" charset="-120"/>
                </a:rPr>
                <a:t>c,2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84416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Prim's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6868" name="Group 4"/>
          <p:cNvGrpSpPr>
            <a:grpSpLocks/>
          </p:cNvGrpSpPr>
          <p:nvPr/>
        </p:nvGrpSpPr>
        <p:grpSpPr bwMode="auto">
          <a:xfrm>
            <a:off x="2250281" y="2249487"/>
            <a:ext cx="4608512" cy="2617788"/>
            <a:chOff x="1429" y="2643"/>
            <a:chExt cx="2903" cy="1649"/>
          </a:xfrm>
        </p:grpSpPr>
        <p:grpSp>
          <p:nvGrpSpPr>
            <p:cNvPr id="36869" name="Group 5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36870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36871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6872" name="Group 8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36873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36874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6875" name="Group 11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36876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36877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6878" name="Group 14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36879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36880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6881" name="Group 17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36882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36883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6884" name="Group 20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36885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36886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6887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36888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36889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6890" name="Group 26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36891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36892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6893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36894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36895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6896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7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8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9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0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1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2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3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4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5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6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7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8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9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0" name="Text Box 46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6911" name="Text Box 47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36912" name="Text Box 48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6913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36914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36915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36916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6917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6918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6919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36920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36921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6922" name="Text Box 58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36923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1621550" y="2300729"/>
            <a:ext cx="5683019" cy="2559852"/>
            <a:chOff x="1621550" y="2300729"/>
            <a:chExt cx="5683019" cy="2559852"/>
          </a:xfrm>
        </p:grpSpPr>
        <p:grpSp>
          <p:nvGrpSpPr>
            <p:cNvPr id="61" name="Group 59"/>
            <p:cNvGrpSpPr/>
            <p:nvPr/>
          </p:nvGrpSpPr>
          <p:grpSpPr>
            <a:xfrm>
              <a:off x="1621550" y="2300729"/>
              <a:ext cx="5683019" cy="2559852"/>
              <a:chOff x="1621550" y="2300729"/>
              <a:chExt cx="5683019" cy="2559852"/>
            </a:xfrm>
          </p:grpSpPr>
          <p:sp>
            <p:nvSpPr>
              <p:cNvPr id="63" name="Text Box 46"/>
              <p:cNvSpPr txBox="1">
                <a:spLocks noChangeArrowheads="1"/>
              </p:cNvSpPr>
              <p:nvPr/>
            </p:nvSpPr>
            <p:spPr bwMode="auto">
              <a:xfrm>
                <a:off x="3015186" y="2313582"/>
                <a:ext cx="47000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a,4</a:t>
                </a:r>
              </a:p>
            </p:txBody>
          </p:sp>
          <p:sp>
            <p:nvSpPr>
              <p:cNvPr id="64" name="Text Box 46"/>
              <p:cNvSpPr txBox="1">
                <a:spLocks noChangeArrowheads="1"/>
              </p:cNvSpPr>
              <p:nvPr/>
            </p:nvSpPr>
            <p:spPr bwMode="auto">
              <a:xfrm>
                <a:off x="3002333" y="4482069"/>
                <a:ext cx="470963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g,1</a:t>
                </a:r>
              </a:p>
            </p:txBody>
          </p:sp>
          <p:sp>
            <p:nvSpPr>
              <p:cNvPr id="65" name="Text Box 46"/>
              <p:cNvSpPr txBox="1">
                <a:spLocks noChangeArrowheads="1"/>
              </p:cNvSpPr>
              <p:nvPr/>
            </p:nvSpPr>
            <p:spPr bwMode="auto">
              <a:xfrm>
                <a:off x="4338012" y="2300729"/>
                <a:ext cx="48122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b,8</a:t>
                </a:r>
              </a:p>
            </p:txBody>
          </p:sp>
          <p:sp>
            <p:nvSpPr>
              <p:cNvPr id="66" name="Text Box 46"/>
              <p:cNvSpPr txBox="1">
                <a:spLocks noChangeArrowheads="1"/>
              </p:cNvSpPr>
              <p:nvPr/>
            </p:nvSpPr>
            <p:spPr bwMode="auto">
              <a:xfrm>
                <a:off x="5621936" y="2300729"/>
                <a:ext cx="45717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c,7</a:t>
                </a:r>
              </a:p>
            </p:txBody>
          </p:sp>
          <p:sp>
            <p:nvSpPr>
              <p:cNvPr id="67" name="Text Box 46"/>
              <p:cNvSpPr txBox="1">
                <a:spLocks noChangeArrowheads="1"/>
              </p:cNvSpPr>
              <p:nvPr/>
            </p:nvSpPr>
            <p:spPr bwMode="auto">
              <a:xfrm>
                <a:off x="4338241" y="4491249"/>
                <a:ext cx="41229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f,2</a:t>
                </a:r>
              </a:p>
            </p:txBody>
          </p:sp>
          <p:sp>
            <p:nvSpPr>
              <p:cNvPr id="68" name="Text Box 46"/>
              <p:cNvSpPr txBox="1">
                <a:spLocks noChangeArrowheads="1"/>
              </p:cNvSpPr>
              <p:nvPr/>
            </p:nvSpPr>
            <p:spPr bwMode="auto">
              <a:xfrm>
                <a:off x="5612640" y="4491249"/>
                <a:ext cx="45717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c,4</a:t>
                </a:r>
              </a:p>
            </p:txBody>
          </p:sp>
          <p:sp>
            <p:nvSpPr>
              <p:cNvPr id="69" name="Text Box 46"/>
              <p:cNvSpPr txBox="1">
                <a:spLocks noChangeArrowheads="1"/>
              </p:cNvSpPr>
              <p:nvPr/>
            </p:nvSpPr>
            <p:spPr bwMode="auto">
              <a:xfrm>
                <a:off x="6823347" y="3378547"/>
                <a:ext cx="48122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d,9</a:t>
                </a:r>
              </a:p>
            </p:txBody>
          </p:sp>
          <p:sp>
            <p:nvSpPr>
              <p:cNvPr id="70" name="Text Box 46"/>
              <p:cNvSpPr txBox="1">
                <a:spLocks noChangeArrowheads="1"/>
              </p:cNvSpPr>
              <p:nvPr/>
            </p:nvSpPr>
            <p:spPr bwMode="auto">
              <a:xfrm>
                <a:off x="1621550" y="3453829"/>
                <a:ext cx="66588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NIL,0</a:t>
                </a:r>
              </a:p>
            </p:txBody>
          </p:sp>
        </p:grpSp>
        <p:sp>
          <p:nvSpPr>
            <p:cNvPr id="62" name="Text Box 46"/>
            <p:cNvSpPr txBox="1">
              <a:spLocks noChangeArrowheads="1"/>
            </p:cNvSpPr>
            <p:nvPr/>
          </p:nvSpPr>
          <p:spPr bwMode="auto">
            <a:xfrm>
              <a:off x="3490516" y="3186324"/>
              <a:ext cx="45717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0070C0"/>
                  </a:solidFill>
                  <a:ea typeface="PMingLiU" panose="02020500000000000000" pitchFamily="18" charset="-120"/>
                </a:rPr>
                <a:t>c,2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7119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4434</TotalTime>
  <Words>2794</Words>
  <Application>Microsoft Office PowerPoint</Application>
  <PresentationFormat>On-screen Show (4:3)</PresentationFormat>
  <Paragraphs>824</Paragraphs>
  <Slides>40</Slides>
  <Notes>3</Notes>
  <HiddenSlides>2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1" baseType="lpstr">
      <vt:lpstr>宋体</vt:lpstr>
      <vt:lpstr>Arial</vt:lpstr>
      <vt:lpstr>Britannic Bold</vt:lpstr>
      <vt:lpstr>Calibri</vt:lpstr>
      <vt:lpstr>Calibri Light</vt:lpstr>
      <vt:lpstr>Cambria Math</vt:lpstr>
      <vt:lpstr>Impact</vt:lpstr>
      <vt:lpstr>Symbol</vt:lpstr>
      <vt:lpstr>Times New Roman</vt:lpstr>
      <vt:lpstr>Wingdings</vt:lpstr>
      <vt:lpstr>Office Theme</vt:lpstr>
      <vt:lpstr>Lecture 11 Graph-Based Algorithms</vt:lpstr>
      <vt:lpstr>Definition of MST</vt:lpstr>
      <vt:lpstr>Application of MST</vt:lpstr>
      <vt:lpstr>Application of MST</vt:lpstr>
      <vt:lpstr>Application of MST</vt:lpstr>
      <vt:lpstr>Application of MST</vt:lpstr>
      <vt:lpstr>PowerPoint Presentation</vt:lpstr>
      <vt:lpstr>Growing a MST(Generic Algorithm)</vt:lpstr>
      <vt:lpstr>How to Find a Safe Edge</vt:lpstr>
      <vt:lpstr>How to Find a Safe Edge</vt:lpstr>
      <vt:lpstr>The Algorithms of Kruskal and Prim</vt:lpstr>
      <vt:lpstr>Related Topics</vt:lpstr>
      <vt:lpstr>Kruskal's Algorithm</vt:lpstr>
      <vt:lpstr>Time Complexity of Kruskal's Algorithm</vt:lpstr>
      <vt:lpstr>Kruskal's Algorithm: Example</vt:lpstr>
      <vt:lpstr>Kruskal's Algorithm: Example</vt:lpstr>
      <vt:lpstr>Kruskal's Algorithm: Example</vt:lpstr>
      <vt:lpstr>Kruskal's Algorithm: Example</vt:lpstr>
      <vt:lpstr>Kruskal's Algorithm: Example</vt:lpstr>
      <vt:lpstr>Kruskal's Algorithm: Example</vt:lpstr>
      <vt:lpstr>Kruskal's Algorithm: Example</vt:lpstr>
      <vt:lpstr>Kruskal's Algorithm: Example</vt:lpstr>
      <vt:lpstr>Kruskal's Algorithm: Example</vt:lpstr>
      <vt:lpstr>Kruskal's Algorithm: Example</vt:lpstr>
      <vt:lpstr>Kruskal's Algorithm: Example</vt:lpstr>
      <vt:lpstr>Kruskal's Algorithm: Example</vt:lpstr>
      <vt:lpstr>Prim's Algorithm</vt:lpstr>
      <vt:lpstr>Prim's Algorithm</vt:lpstr>
      <vt:lpstr>Running time of Prim's Algorithm</vt:lpstr>
      <vt:lpstr>Prim’s algorithm using Fibonacci Heaps</vt:lpstr>
      <vt:lpstr>Prim's Algorithm: Example</vt:lpstr>
      <vt:lpstr>Prim's Algorithm: Example</vt:lpstr>
      <vt:lpstr>Prim's Algorithm: Example</vt:lpstr>
      <vt:lpstr>Prim's Algorithm: Example</vt:lpstr>
      <vt:lpstr>Prim's Algorithm: Example</vt:lpstr>
      <vt:lpstr>Prim's Algorithm: Example</vt:lpstr>
      <vt:lpstr>Prim's Algorithm: Example</vt:lpstr>
      <vt:lpstr>Prim's Algorithm: Example</vt:lpstr>
      <vt:lpstr>Prim's Algorithm: Example</vt:lpstr>
      <vt:lpstr>Prim's Algorithm: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tmriddle</dc:creator>
  <cp:lastModifiedBy>NSU</cp:lastModifiedBy>
  <cp:revision>215</cp:revision>
  <dcterms:created xsi:type="dcterms:W3CDTF">2014-09-11T18:03:18Z</dcterms:created>
  <dcterms:modified xsi:type="dcterms:W3CDTF">2025-12-07T05:28:48Z</dcterms:modified>
</cp:coreProperties>
</file>