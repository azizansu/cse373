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0" r:id="rId16"/>
    <p:sldId id="277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07" autoAdjust="0"/>
  </p:normalViewPr>
  <p:slideViewPr>
    <p:cSldViewPr snapToGrid="0">
      <p:cViewPr varScale="1">
        <p:scale>
          <a:sx n="119" d="100"/>
          <a:sy n="119" d="100"/>
        </p:scale>
        <p:origin x="137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3797-872C-47C4-85CC-A7A373325DBF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E7A3-2378-4B71-B4BC-0FE0947082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63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00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5CB7A5-40AD-4813-A25A-401D9543BE53}" type="slidenum">
              <a:rPr lang="en-US"/>
              <a:pPr/>
              <a:t>16</a:t>
            </a:fld>
            <a:endParaRPr lang="en-US"/>
          </a:p>
        </p:txBody>
      </p:sp>
      <p:sp>
        <p:nvSpPr>
          <p:cNvPr id="189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66" tIns="46034" rIns="92066" bIns="46034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D8EAFC-C5DD-43F8-ADDA-EE91D18B685A}" type="slidenum">
              <a:rPr lang="en-US"/>
              <a:pPr/>
              <a:t>17</a:t>
            </a:fld>
            <a:endParaRPr lang="en-US"/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66" tIns="46034" rIns="92066" bIns="46034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F60885-B5A3-42F9-996D-8DC6D57249E4}" type="slidenum">
              <a:rPr lang="en-US"/>
              <a:pPr/>
              <a:t>18</a:t>
            </a:fld>
            <a:endParaRPr lang="en-US"/>
          </a:p>
        </p:txBody>
      </p:sp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66" tIns="46034" rIns="92066" bIns="46034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0F9F1A-1382-462D-999A-ABB9B6034C53}" type="slidenum">
              <a:rPr lang="en-US"/>
              <a:pPr/>
              <a:t>19</a:t>
            </a:fld>
            <a:endParaRPr lang="en-US"/>
          </a:p>
        </p:txBody>
      </p:sp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66" tIns="46034" rIns="92066" bIns="46034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0F9F1A-1382-462D-999A-ABB9B6034C53}" type="slidenum">
              <a:rPr lang="en-US"/>
              <a:pPr/>
              <a:t>20</a:t>
            </a:fld>
            <a:endParaRPr lang="en-US"/>
          </a:p>
        </p:txBody>
      </p:sp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66" tIns="46034" rIns="92066" bIns="46034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/>
              <a:t>Lecture 01</a:t>
            </a:r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636B-5FA2-4D1A-A17B-6F315CF42ADC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4394E-1094-4F91-AC53-F74C0DAF1943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EA234-80E8-4692-A5CE-329C23053784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CCFA-16E2-48A1-B864-B698E8D304AC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C429-44A3-409E-8E73-8BD25ADC4124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9D77-B442-40F5-8BE1-5CB582ADCD1A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94F8-4AFD-453F-9D54-4468A81A9311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23D32-C816-4A43-A804-ADF2BB9780A5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77CCB-D5AF-44B1-81C8-AC5B4171ED8C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A361-DDEC-4399-9D8B-5B5A5C55F5FB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37053-B15B-4E4A-B9B4-152045037275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EC150310-FB7C-4E50-A190-AC132925E56F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A48B2152-2B3E-44A1-8FD0-4FF9B0873A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2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0838" y="1214438"/>
            <a:ext cx="8229600" cy="50768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EFFA5-47F4-4993-AB6B-79358A03FBBB}" type="datetime1">
              <a:rPr lang="en-US" smtClean="0"/>
              <a:pPr>
                <a:defRPr/>
              </a:pPr>
              <a:t>12/7/2025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016DD-A2D6-41A3-94D4-B9B173881C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176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F23AE-5448-48C1-A236-C844FB6196F5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12</a:t>
            </a:r>
            <a:br>
              <a:rPr lang="en-US" dirty="0"/>
            </a:br>
            <a:r>
              <a:rPr lang="en-US" sz="3200" dirty="0"/>
              <a:t>Graph-Based Algorithms</a:t>
            </a:r>
            <a:endParaRPr lang="en-US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5008609" cy="4111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CSE373: 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4108247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Shortest Path Problems</a:t>
            </a:r>
          </a:p>
        </p:txBody>
      </p:sp>
      <p:sp>
        <p:nvSpPr>
          <p:cNvPr id="7669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dirty="0"/>
              <a:t>Modeling problems as graph problems: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Road map is a weighted graph: </a:t>
            </a:r>
          </a:p>
          <a:p>
            <a:pPr lvl="1" eaLnBrk="1" hangingPunct="1">
              <a:lnSpc>
                <a:spcPct val="120000"/>
              </a:lnSpc>
              <a:buFontTx/>
              <a:buNone/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CC0000"/>
                </a:solidFill>
                <a:latin typeface="Comic Sans MS" panose="030F0702030302020204" pitchFamily="66" charset="0"/>
              </a:rPr>
              <a:t>vertices</a:t>
            </a:r>
            <a:r>
              <a:rPr lang="en-US" altLang="en-US" dirty="0"/>
              <a:t> = cities</a:t>
            </a:r>
          </a:p>
          <a:p>
            <a:pPr lvl="1" eaLnBrk="1" hangingPunct="1">
              <a:lnSpc>
                <a:spcPct val="120000"/>
              </a:lnSpc>
              <a:buFontTx/>
              <a:buNone/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8080"/>
                </a:solidFill>
                <a:latin typeface="Comic Sans MS" panose="030F0702030302020204" pitchFamily="66" charset="0"/>
              </a:rPr>
              <a:t>edges</a:t>
            </a:r>
            <a:r>
              <a:rPr lang="en-US" altLang="en-US" dirty="0"/>
              <a:t> = road segments between cities</a:t>
            </a:r>
          </a:p>
          <a:p>
            <a:pPr lvl="1" eaLnBrk="1" hangingPunct="1">
              <a:lnSpc>
                <a:spcPct val="120000"/>
              </a:lnSpc>
              <a:buFontTx/>
              <a:buNone/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006699"/>
                </a:solidFill>
                <a:latin typeface="Comic Sans MS" panose="030F0702030302020204" pitchFamily="66" charset="0"/>
              </a:rPr>
              <a:t>edge weights</a:t>
            </a:r>
            <a:r>
              <a:rPr lang="en-US" altLang="en-US" dirty="0"/>
              <a:t> = road distances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Goal: find a shortest path between two vertices (cities)</a:t>
            </a:r>
          </a:p>
        </p:txBody>
      </p:sp>
    </p:spTree>
    <p:extLst>
      <p:ext uri="{BB962C8B-B14F-4D97-AF65-F5344CB8AC3E}">
        <p14:creationId xmlns:p14="http://schemas.microsoft.com/office/powerpoint/2010/main" val="7711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Shortest Path Problems</a:t>
            </a:r>
          </a:p>
        </p:txBody>
      </p:sp>
      <p:sp>
        <p:nvSpPr>
          <p:cNvPr id="40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en-US" b="1" dirty="0">
                <a:solidFill>
                  <a:schemeClr val="tx2"/>
                </a:solidFill>
              </a:rPr>
              <a:t> </a:t>
            </a:r>
            <a:r>
              <a:rPr lang="tr-TR" altLang="en-US" b="1" dirty="0">
                <a:solidFill>
                  <a:srgbClr val="FF3300"/>
                </a:solidFill>
              </a:rPr>
              <a:t>What is s</a:t>
            </a:r>
            <a:r>
              <a:rPr lang="en-US" altLang="en-US" b="1" dirty="0" err="1">
                <a:solidFill>
                  <a:srgbClr val="FF3300"/>
                </a:solidFill>
              </a:rPr>
              <a:t>hortest</a:t>
            </a:r>
            <a:r>
              <a:rPr lang="en-US" altLang="en-US" b="1" dirty="0">
                <a:solidFill>
                  <a:srgbClr val="FF3300"/>
                </a:solidFill>
              </a:rPr>
              <a:t> path </a:t>
            </a:r>
            <a:r>
              <a:rPr lang="tr-TR" altLang="en-US" b="1" dirty="0">
                <a:solidFill>
                  <a:srgbClr val="FF3300"/>
                </a:solidFill>
              </a:rPr>
              <a:t>?</a:t>
            </a:r>
            <a:endParaRPr lang="en-US" altLang="en-US" b="1" dirty="0">
              <a:solidFill>
                <a:srgbClr val="FF3300"/>
              </a:solidFill>
            </a:endParaRPr>
          </a:p>
          <a:p>
            <a:pPr lvl="1" eaLnBrk="1" hangingPunct="1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u="sng" dirty="0">
                <a:solidFill>
                  <a:schemeClr val="tx2"/>
                </a:solidFill>
              </a:rPr>
              <a:t>shortest </a:t>
            </a:r>
            <a:r>
              <a:rPr lang="en-US" altLang="en-US" u="sng" dirty="0">
                <a:solidFill>
                  <a:schemeClr val="tx2"/>
                </a:solidFill>
                <a:latin typeface="TimesNewRomanPSMT;TimesNewRoman"/>
              </a:rPr>
              <a:t>length </a:t>
            </a:r>
            <a:r>
              <a:rPr lang="en-US" altLang="en-US" u="sng" dirty="0">
                <a:solidFill>
                  <a:schemeClr val="tx2"/>
                </a:solidFill>
              </a:rPr>
              <a:t>between two vertices</a:t>
            </a:r>
            <a:r>
              <a:rPr lang="tr-TR" altLang="en-US" b="1" dirty="0">
                <a:solidFill>
                  <a:schemeClr val="tx2"/>
                </a:solidFill>
              </a:rPr>
              <a:t> </a:t>
            </a:r>
            <a:r>
              <a:rPr lang="tr-TR" altLang="en-US" dirty="0">
                <a:solidFill>
                  <a:schemeClr val="tx2"/>
                </a:solidFill>
              </a:rPr>
              <a:t>for </a:t>
            </a:r>
            <a:r>
              <a:rPr lang="en-US" altLang="en-US" dirty="0">
                <a:solidFill>
                  <a:schemeClr val="tx2"/>
                </a:solidFill>
              </a:rPr>
              <a:t>an </a:t>
            </a:r>
            <a:r>
              <a:rPr lang="en-US" altLang="en-US" dirty="0" err="1">
                <a:solidFill>
                  <a:schemeClr val="tx2"/>
                </a:solidFill>
              </a:rPr>
              <a:t>unweighted</a:t>
            </a:r>
            <a:r>
              <a:rPr lang="en-US" altLang="en-US" dirty="0">
                <a:solidFill>
                  <a:schemeClr val="tx2"/>
                </a:solidFill>
              </a:rPr>
              <a:t> graph: </a:t>
            </a:r>
          </a:p>
          <a:p>
            <a:pPr lvl="1" eaLnBrk="1" hangingPunct="1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u="sng" dirty="0">
                <a:solidFill>
                  <a:schemeClr val="tx2"/>
                </a:solidFill>
              </a:rPr>
              <a:t>smallest </a:t>
            </a:r>
            <a:r>
              <a:rPr lang="en-US" altLang="en-US" b="1" u="sng" dirty="0">
                <a:solidFill>
                  <a:schemeClr val="tx2"/>
                </a:solidFill>
              </a:rPr>
              <a:t>cost</a:t>
            </a:r>
            <a:r>
              <a:rPr lang="en-US" altLang="en-US" u="sng" dirty="0">
                <a:solidFill>
                  <a:schemeClr val="tx2"/>
                </a:solidFill>
              </a:rPr>
              <a:t> between two vertices</a:t>
            </a:r>
            <a:r>
              <a:rPr lang="tr-TR" altLang="en-US" i="1" dirty="0">
                <a:solidFill>
                  <a:schemeClr val="tx2"/>
                </a:solidFill>
              </a:rPr>
              <a:t> for</a:t>
            </a:r>
            <a:r>
              <a:rPr lang="en-US" altLang="en-US" dirty="0">
                <a:solidFill>
                  <a:schemeClr val="tx2"/>
                </a:solidFill>
              </a:rPr>
              <a:t> a weighted graph: </a:t>
            </a:r>
            <a:endParaRPr lang="en-US" altLang="en-US" b="1" dirty="0">
              <a:solidFill>
                <a:schemeClr val="tx2"/>
              </a:solidFill>
            </a:endParaRPr>
          </a:p>
          <a:p>
            <a:pPr eaLnBrk="1" hangingPunct="1"/>
            <a:endParaRPr lang="tr-TR" altLang="en-US" b="1" dirty="0">
              <a:solidFill>
                <a:schemeClr val="tx2"/>
              </a:solidFill>
            </a:endParaRPr>
          </a:p>
        </p:txBody>
      </p:sp>
      <p:sp>
        <p:nvSpPr>
          <p:cNvPr id="4099" name="Oval 4"/>
          <p:cNvSpPr>
            <a:spLocks noChangeArrowheads="1"/>
          </p:cNvSpPr>
          <p:nvPr/>
        </p:nvSpPr>
        <p:spPr bwMode="auto">
          <a:xfrm>
            <a:off x="2877776" y="2511289"/>
            <a:ext cx="528637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B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00" name="Oval 5"/>
          <p:cNvSpPr>
            <a:spLocks noChangeArrowheads="1"/>
          </p:cNvSpPr>
          <p:nvPr/>
        </p:nvSpPr>
        <p:spPr bwMode="auto">
          <a:xfrm>
            <a:off x="2792051" y="5213214"/>
            <a:ext cx="528637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D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01" name="Oval 6"/>
          <p:cNvSpPr>
            <a:spLocks noChangeArrowheads="1"/>
          </p:cNvSpPr>
          <p:nvPr/>
        </p:nvSpPr>
        <p:spPr bwMode="auto">
          <a:xfrm>
            <a:off x="1725251" y="4527414"/>
            <a:ext cx="528637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C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02" name="Oval 7"/>
          <p:cNvSpPr>
            <a:spLocks noChangeArrowheads="1"/>
          </p:cNvSpPr>
          <p:nvPr/>
        </p:nvSpPr>
        <p:spPr bwMode="auto">
          <a:xfrm>
            <a:off x="1725251" y="3232014"/>
            <a:ext cx="528637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A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03" name="Oval 8"/>
          <p:cNvSpPr>
            <a:spLocks noChangeArrowheads="1"/>
          </p:cNvSpPr>
          <p:nvPr/>
        </p:nvSpPr>
        <p:spPr bwMode="auto">
          <a:xfrm>
            <a:off x="788626" y="5464039"/>
            <a:ext cx="528637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E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04" name="Line 9"/>
          <p:cNvSpPr>
            <a:spLocks noChangeShapeType="1"/>
          </p:cNvSpPr>
          <p:nvPr/>
        </p:nvSpPr>
        <p:spPr bwMode="auto">
          <a:xfrm flipV="1">
            <a:off x="3058751" y="3016114"/>
            <a:ext cx="106362" cy="2193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5" name="Line 10"/>
          <p:cNvSpPr>
            <a:spLocks noChangeShapeType="1"/>
          </p:cNvSpPr>
          <p:nvPr/>
        </p:nvSpPr>
        <p:spPr bwMode="auto">
          <a:xfrm flipV="1">
            <a:off x="2158638" y="2727189"/>
            <a:ext cx="719138" cy="560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6" name="Line 11"/>
          <p:cNvSpPr>
            <a:spLocks noChangeShapeType="1"/>
          </p:cNvSpPr>
          <p:nvPr/>
        </p:nvSpPr>
        <p:spPr bwMode="auto">
          <a:xfrm>
            <a:off x="2177688" y="3676514"/>
            <a:ext cx="881063" cy="1533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 flipV="1">
            <a:off x="1982426" y="3755889"/>
            <a:ext cx="0" cy="781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 flipV="1">
            <a:off x="1222013" y="4994139"/>
            <a:ext cx="588963" cy="541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2230076" y="4927464"/>
            <a:ext cx="600075" cy="390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Oval 32"/>
          <p:cNvSpPr>
            <a:spLocks noChangeArrowheads="1"/>
          </p:cNvSpPr>
          <p:nvPr/>
        </p:nvSpPr>
        <p:spPr bwMode="auto">
          <a:xfrm>
            <a:off x="6478226" y="2511289"/>
            <a:ext cx="528637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B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11" name="Oval 33"/>
          <p:cNvSpPr>
            <a:spLocks noChangeArrowheads="1"/>
          </p:cNvSpPr>
          <p:nvPr/>
        </p:nvSpPr>
        <p:spPr bwMode="auto">
          <a:xfrm>
            <a:off x="6365513" y="5232264"/>
            <a:ext cx="528638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D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12" name="Oval 34"/>
          <p:cNvSpPr>
            <a:spLocks noChangeArrowheads="1"/>
          </p:cNvSpPr>
          <p:nvPr/>
        </p:nvSpPr>
        <p:spPr bwMode="auto">
          <a:xfrm>
            <a:off x="5298713" y="4546464"/>
            <a:ext cx="528638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C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13" name="Oval 35"/>
          <p:cNvSpPr>
            <a:spLocks noChangeArrowheads="1"/>
          </p:cNvSpPr>
          <p:nvPr/>
        </p:nvSpPr>
        <p:spPr bwMode="auto">
          <a:xfrm>
            <a:off x="5298713" y="3251064"/>
            <a:ext cx="528638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A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14" name="Oval 36"/>
          <p:cNvSpPr>
            <a:spLocks noChangeArrowheads="1"/>
          </p:cNvSpPr>
          <p:nvPr/>
        </p:nvSpPr>
        <p:spPr bwMode="auto">
          <a:xfrm>
            <a:off x="4317638" y="5464039"/>
            <a:ext cx="528638" cy="5286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chemeClr val="tx1"/>
                </a:solidFill>
              </a:rPr>
              <a:t>E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115" name="Line 37"/>
          <p:cNvSpPr>
            <a:spLocks noChangeShapeType="1"/>
          </p:cNvSpPr>
          <p:nvPr/>
        </p:nvSpPr>
        <p:spPr bwMode="auto">
          <a:xfrm flipV="1">
            <a:off x="6632213" y="3016114"/>
            <a:ext cx="133350" cy="2212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6" name="Line 38"/>
          <p:cNvSpPr>
            <a:spLocks noChangeShapeType="1"/>
          </p:cNvSpPr>
          <p:nvPr/>
        </p:nvSpPr>
        <p:spPr bwMode="auto">
          <a:xfrm flipV="1">
            <a:off x="5732101" y="2800214"/>
            <a:ext cx="746125" cy="506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Line 39"/>
          <p:cNvSpPr>
            <a:spLocks noChangeShapeType="1"/>
          </p:cNvSpPr>
          <p:nvPr/>
        </p:nvSpPr>
        <p:spPr bwMode="auto">
          <a:xfrm>
            <a:off x="5751151" y="3695564"/>
            <a:ext cx="881062" cy="1533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8" name="Line 40"/>
          <p:cNvSpPr>
            <a:spLocks noChangeShapeType="1"/>
          </p:cNvSpPr>
          <p:nvPr/>
        </p:nvSpPr>
        <p:spPr bwMode="auto">
          <a:xfrm flipV="1">
            <a:off x="5555888" y="3774939"/>
            <a:ext cx="0" cy="781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" name="Line 41"/>
          <p:cNvSpPr>
            <a:spLocks noChangeShapeType="1"/>
          </p:cNvSpPr>
          <p:nvPr/>
        </p:nvSpPr>
        <p:spPr bwMode="auto">
          <a:xfrm flipV="1">
            <a:off x="4749438" y="5013189"/>
            <a:ext cx="635000" cy="522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Line 42"/>
          <p:cNvSpPr>
            <a:spLocks noChangeShapeType="1"/>
          </p:cNvSpPr>
          <p:nvPr/>
        </p:nvSpPr>
        <p:spPr bwMode="auto">
          <a:xfrm>
            <a:off x="5803538" y="4946514"/>
            <a:ext cx="600075" cy="390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1" name="Text Box 43"/>
          <p:cNvSpPr txBox="1">
            <a:spLocks noChangeArrowheads="1"/>
          </p:cNvSpPr>
          <p:nvPr/>
        </p:nvSpPr>
        <p:spPr bwMode="auto">
          <a:xfrm>
            <a:off x="4606563" y="5032239"/>
            <a:ext cx="52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200</a:t>
            </a:r>
          </a:p>
        </p:txBody>
      </p:sp>
      <p:sp>
        <p:nvSpPr>
          <p:cNvPr id="4122" name="Text Box 44"/>
          <p:cNvSpPr txBox="1">
            <a:spLocks noChangeArrowheads="1"/>
          </p:cNvSpPr>
          <p:nvPr/>
        </p:nvSpPr>
        <p:spPr bwMode="auto">
          <a:xfrm>
            <a:off x="5147901" y="4016239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4123" name="Text Box 45"/>
          <p:cNvSpPr txBox="1">
            <a:spLocks noChangeArrowheads="1"/>
          </p:cNvSpPr>
          <p:nvPr/>
        </p:nvSpPr>
        <p:spPr bwMode="auto">
          <a:xfrm>
            <a:off x="5665426" y="5102089"/>
            <a:ext cx="52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130</a:t>
            </a:r>
          </a:p>
        </p:txBody>
      </p:sp>
      <p:sp>
        <p:nvSpPr>
          <p:cNvPr id="4124" name="Text Box 46"/>
          <p:cNvSpPr txBox="1">
            <a:spLocks noChangeArrowheads="1"/>
          </p:cNvSpPr>
          <p:nvPr/>
        </p:nvSpPr>
        <p:spPr bwMode="auto">
          <a:xfrm>
            <a:off x="5982926" y="3920989"/>
            <a:ext cx="52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190</a:t>
            </a:r>
          </a:p>
        </p:txBody>
      </p:sp>
      <p:sp>
        <p:nvSpPr>
          <p:cNvPr id="4125" name="Text Box 47"/>
          <p:cNvSpPr txBox="1">
            <a:spLocks noChangeArrowheads="1"/>
          </p:cNvSpPr>
          <p:nvPr/>
        </p:nvSpPr>
        <p:spPr bwMode="auto">
          <a:xfrm>
            <a:off x="6706826" y="3638414"/>
            <a:ext cx="52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450</a:t>
            </a:r>
          </a:p>
        </p:txBody>
      </p:sp>
      <p:sp>
        <p:nvSpPr>
          <p:cNvPr id="4126" name="Text Box 48"/>
          <p:cNvSpPr txBox="1">
            <a:spLocks noChangeArrowheads="1"/>
          </p:cNvSpPr>
          <p:nvPr/>
        </p:nvSpPr>
        <p:spPr bwMode="auto">
          <a:xfrm>
            <a:off x="5771788" y="2650989"/>
            <a:ext cx="52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210</a:t>
            </a:r>
          </a:p>
        </p:txBody>
      </p:sp>
      <p:sp>
        <p:nvSpPr>
          <p:cNvPr id="4127" name="Text Box 49"/>
          <p:cNvSpPr txBox="1">
            <a:spLocks noChangeArrowheads="1"/>
          </p:cNvSpPr>
          <p:nvPr/>
        </p:nvSpPr>
        <p:spPr bwMode="auto">
          <a:xfrm>
            <a:off x="6910026" y="4600439"/>
            <a:ext cx="14398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</a:rPr>
              <a:t>weighted </a:t>
            </a:r>
            <a:r>
              <a:rPr lang="tr-TR" altLang="en-US" sz="1800" b="1">
                <a:solidFill>
                  <a:schemeClr val="tx1"/>
                </a:solidFill>
              </a:rPr>
              <a:t>graph</a:t>
            </a:r>
          </a:p>
        </p:txBody>
      </p:sp>
      <p:sp>
        <p:nvSpPr>
          <p:cNvPr id="4128" name="Text Box 50"/>
          <p:cNvSpPr txBox="1">
            <a:spLocks noChangeArrowheads="1"/>
          </p:cNvSpPr>
          <p:nvPr/>
        </p:nvSpPr>
        <p:spPr bwMode="auto">
          <a:xfrm>
            <a:off x="3238138" y="4600439"/>
            <a:ext cx="15113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en-US" sz="1800" b="1">
                <a:solidFill>
                  <a:schemeClr val="tx1"/>
                </a:solidFill>
              </a:rPr>
              <a:t>un</a:t>
            </a:r>
            <a:r>
              <a:rPr lang="en-US" altLang="en-US" sz="1800" b="1">
                <a:solidFill>
                  <a:schemeClr val="tx1"/>
                </a:solidFill>
              </a:rPr>
              <a:t>weighte</a:t>
            </a:r>
            <a:r>
              <a:rPr lang="tr-TR" altLang="en-US" sz="1800" b="1">
                <a:solidFill>
                  <a:schemeClr val="tx1"/>
                </a:solidFill>
              </a:rPr>
              <a:t>d graph</a:t>
            </a:r>
          </a:p>
        </p:txBody>
      </p:sp>
    </p:spTree>
    <p:extLst>
      <p:ext uri="{BB962C8B-B14F-4D97-AF65-F5344CB8AC3E}">
        <p14:creationId xmlns:p14="http://schemas.microsoft.com/office/powerpoint/2010/main" val="3455426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69913" y="1122363"/>
            <a:ext cx="8574087" cy="550545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b="1" dirty="0"/>
              <a:t>Input: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 dirty="0"/>
              <a:t>Directed graph G = (V, E)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 dirty="0"/>
              <a:t>Weight function w : E → </a:t>
            </a:r>
            <a:r>
              <a:rPr lang="en-US" altLang="en-US" sz="2000" b="1" dirty="0"/>
              <a:t>R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b="1" dirty="0"/>
              <a:t>Weight of path </a:t>
            </a:r>
            <a:r>
              <a:rPr lang="en-US" altLang="en-US" sz="2400" dirty="0"/>
              <a:t>p = </a:t>
            </a:r>
            <a:r>
              <a:rPr lang="en-US" altLang="en-US" sz="2400" dirty="0">
                <a:sym typeface="Symbol" panose="05050102010706020507" pitchFamily="18" charset="2"/>
              </a:rPr>
              <a:t></a:t>
            </a:r>
            <a:r>
              <a:rPr lang="en-US" altLang="en-US" sz="2400" dirty="0"/>
              <a:t>v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, v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. . . , </a:t>
            </a:r>
            <a:r>
              <a:rPr lang="en-US" altLang="en-US" sz="2400" dirty="0" err="1"/>
              <a:t>v</a:t>
            </a:r>
            <a:r>
              <a:rPr lang="en-US" altLang="en-US" sz="2400" baseline="-25000" dirty="0" err="1"/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</a:t>
            </a:r>
          </a:p>
          <a:p>
            <a:pPr eaLnBrk="1" hangingPunct="1">
              <a:lnSpc>
                <a:spcPct val="150000"/>
              </a:lnSpc>
            </a:pPr>
            <a:endParaRPr lang="en-US" altLang="en-US" sz="2400" dirty="0"/>
          </a:p>
          <a:p>
            <a:pPr eaLnBrk="1" hangingPunct="1">
              <a:lnSpc>
                <a:spcPct val="150000"/>
              </a:lnSpc>
            </a:pPr>
            <a:r>
              <a:rPr lang="en-US" altLang="en-US" sz="2400" b="1" dirty="0"/>
              <a:t>Shortest-path weight </a:t>
            </a:r>
            <a:r>
              <a:rPr lang="en-US" altLang="en-US" sz="2400" dirty="0"/>
              <a:t>from </a:t>
            </a:r>
            <a:r>
              <a:rPr lang="en-US" altLang="en-US" sz="2400" dirty="0">
                <a:latin typeface="Comic Sans MS" panose="030F0702030302020204" pitchFamily="66" charset="0"/>
              </a:rPr>
              <a:t>u</a:t>
            </a:r>
            <a:r>
              <a:rPr lang="en-US" altLang="en-US" sz="2400" dirty="0"/>
              <a:t> to </a:t>
            </a:r>
            <a:r>
              <a:rPr lang="en-US" altLang="en-US" sz="2400" dirty="0">
                <a:latin typeface="Comic Sans MS" panose="030F0702030302020204" pitchFamily="66" charset="0"/>
              </a:rPr>
              <a:t>v</a:t>
            </a:r>
            <a:r>
              <a:rPr lang="en-US" altLang="en-US" sz="2400" dirty="0"/>
              <a:t>: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en-US" sz="2400" dirty="0"/>
              <a:t>	</a:t>
            </a:r>
            <a:r>
              <a:rPr lang="en-US" altLang="en-US" sz="2400" dirty="0">
                <a:latin typeface="Comic Sans MS" panose="030F0702030302020204" pitchFamily="66" charset="0"/>
              </a:rPr>
              <a:t>δ(u, v)</a:t>
            </a:r>
            <a:r>
              <a:rPr lang="en-US" altLang="en-US" sz="2400" dirty="0"/>
              <a:t> = min  w(p) : </a:t>
            </a:r>
            <a:r>
              <a:rPr lang="en-US" altLang="en-US" sz="2400" dirty="0">
                <a:latin typeface="Comic Sans MS" panose="030F0702030302020204" pitchFamily="66" charset="0"/>
              </a:rPr>
              <a:t>u      v</a:t>
            </a:r>
            <a:r>
              <a:rPr lang="en-US" altLang="en-US" sz="2400" dirty="0"/>
              <a:t>  if there exists a path from </a:t>
            </a:r>
            <a:r>
              <a:rPr lang="en-US" altLang="en-US" sz="2400" dirty="0">
                <a:latin typeface="Comic Sans MS" panose="030F0702030302020204" pitchFamily="66" charset="0"/>
              </a:rPr>
              <a:t>u</a:t>
            </a:r>
            <a:r>
              <a:rPr lang="en-US" altLang="en-US" sz="2400" dirty="0"/>
              <a:t> to </a:t>
            </a:r>
            <a:r>
              <a:rPr lang="en-US" altLang="en-US" sz="2400" dirty="0">
                <a:latin typeface="Comic Sans MS" panose="030F0702030302020204" pitchFamily="66" charset="0"/>
              </a:rPr>
              <a:t>v</a:t>
            </a:r>
            <a:r>
              <a:rPr lang="en-US" altLang="en-US" sz="2400" dirty="0"/>
              <a:t>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en-US" sz="2400" dirty="0"/>
              <a:t>			     ∞                   otherwise 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Shortest Path Problems</a:t>
            </a:r>
          </a:p>
        </p:txBody>
      </p:sp>
      <p:graphicFrame>
        <p:nvGraphicFramePr>
          <p:cNvPr id="768004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9745352"/>
              </p:ext>
            </p:extLst>
          </p:nvPr>
        </p:nvGraphicFramePr>
        <p:xfrm>
          <a:off x="3071020" y="3284538"/>
          <a:ext cx="2324100" cy="790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3" imgW="1269449" imgH="431613" progId="">
                  <p:embed/>
                </p:oleObj>
              </mc:Choice>
              <mc:Fallback>
                <p:oleObj name="Equation" r:id="rId3" imgW="1269449" imgH="431613" progId="">
                  <p:embed/>
                  <p:pic>
                    <p:nvPicPr>
                      <p:cNvPr id="0" name="Picture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020" y="3284538"/>
                        <a:ext cx="2324100" cy="7901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532108" y="4923064"/>
            <a:ext cx="1577975" cy="1081088"/>
            <a:chOff x="1606" y="2964"/>
            <a:chExt cx="994" cy="681"/>
          </a:xfrm>
        </p:grpSpPr>
        <p:sp>
          <p:nvSpPr>
            <p:cNvPr id="6187" name="Freeform 6"/>
            <p:cNvSpPr>
              <a:spLocks/>
            </p:cNvSpPr>
            <p:nvPr/>
          </p:nvSpPr>
          <p:spPr bwMode="auto">
            <a:xfrm>
              <a:off x="2371" y="3152"/>
              <a:ext cx="229" cy="57"/>
            </a:xfrm>
            <a:custGeom>
              <a:avLst/>
              <a:gdLst>
                <a:gd name="T0" fmla="*/ 0 w 229"/>
                <a:gd name="T1" fmla="*/ 26 h 57"/>
                <a:gd name="T2" fmla="*/ 54 w 229"/>
                <a:gd name="T3" fmla="*/ 4 h 57"/>
                <a:gd name="T4" fmla="*/ 108 w 229"/>
                <a:gd name="T5" fmla="*/ 53 h 57"/>
                <a:gd name="T6" fmla="*/ 175 w 229"/>
                <a:gd name="T7" fmla="*/ 26 h 57"/>
                <a:gd name="T8" fmla="*/ 229 w 229"/>
                <a:gd name="T9" fmla="*/ 26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9"/>
                <a:gd name="T16" fmla="*/ 0 h 57"/>
                <a:gd name="T17" fmla="*/ 229 w 229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9" h="57">
                  <a:moveTo>
                    <a:pt x="0" y="26"/>
                  </a:moveTo>
                  <a:cubicBezTo>
                    <a:pt x="18" y="13"/>
                    <a:pt x="36" y="0"/>
                    <a:pt x="54" y="4"/>
                  </a:cubicBezTo>
                  <a:cubicBezTo>
                    <a:pt x="72" y="8"/>
                    <a:pt x="88" y="49"/>
                    <a:pt x="108" y="53"/>
                  </a:cubicBezTo>
                  <a:cubicBezTo>
                    <a:pt x="128" y="57"/>
                    <a:pt x="155" y="30"/>
                    <a:pt x="175" y="26"/>
                  </a:cubicBezTo>
                  <a:cubicBezTo>
                    <a:pt x="195" y="22"/>
                    <a:pt x="212" y="24"/>
                    <a:pt x="229" y="26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8" name="Text Box 7"/>
            <p:cNvSpPr txBox="1">
              <a:spLocks noChangeArrowheads="1"/>
            </p:cNvSpPr>
            <p:nvPr/>
          </p:nvSpPr>
          <p:spPr bwMode="auto">
            <a:xfrm>
              <a:off x="2386" y="2964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Comic Sans MS" panose="030F0702030302020204" pitchFamily="66" charset="0"/>
                </a:rPr>
                <a:t>p</a:t>
              </a:r>
            </a:p>
          </p:txBody>
        </p:sp>
        <p:sp>
          <p:nvSpPr>
            <p:cNvPr id="6189" name="AutoShape 8"/>
            <p:cNvSpPr>
              <a:spLocks/>
            </p:cNvSpPr>
            <p:nvPr/>
          </p:nvSpPr>
          <p:spPr bwMode="auto">
            <a:xfrm>
              <a:off x="1606" y="3055"/>
              <a:ext cx="56" cy="590"/>
            </a:xfrm>
            <a:prstGeom prst="leftBrace">
              <a:avLst>
                <a:gd name="adj1" fmla="val 87798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396706" y="1697129"/>
            <a:ext cx="2998788" cy="2528888"/>
            <a:chOff x="5540375" y="1122363"/>
            <a:chExt cx="2998788" cy="2528888"/>
          </a:xfrm>
        </p:grpSpPr>
        <p:sp>
          <p:nvSpPr>
            <p:cNvPr id="6157" name="Oval 15"/>
            <p:cNvSpPr>
              <a:spLocks noChangeArrowheads="1"/>
            </p:cNvSpPr>
            <p:nvPr/>
          </p:nvSpPr>
          <p:spPr bwMode="auto">
            <a:xfrm>
              <a:off x="5821363" y="2187576"/>
              <a:ext cx="422275" cy="4206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158" name="Oval 16"/>
            <p:cNvSpPr>
              <a:spLocks noChangeArrowheads="1"/>
            </p:cNvSpPr>
            <p:nvPr/>
          </p:nvSpPr>
          <p:spPr bwMode="auto">
            <a:xfrm>
              <a:off x="6502400" y="1449388"/>
              <a:ext cx="422275" cy="4206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159" name="Oval 17"/>
            <p:cNvSpPr>
              <a:spLocks noChangeArrowheads="1"/>
            </p:cNvSpPr>
            <p:nvPr/>
          </p:nvSpPr>
          <p:spPr bwMode="auto">
            <a:xfrm>
              <a:off x="7823200" y="1449388"/>
              <a:ext cx="422275" cy="4206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160" name="Oval 18"/>
            <p:cNvSpPr>
              <a:spLocks noChangeArrowheads="1"/>
            </p:cNvSpPr>
            <p:nvPr/>
          </p:nvSpPr>
          <p:spPr bwMode="auto">
            <a:xfrm>
              <a:off x="6502400" y="2927351"/>
              <a:ext cx="422275" cy="4206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161" name="Oval 19"/>
            <p:cNvSpPr>
              <a:spLocks noChangeArrowheads="1"/>
            </p:cNvSpPr>
            <p:nvPr/>
          </p:nvSpPr>
          <p:spPr bwMode="auto">
            <a:xfrm>
              <a:off x="7823200" y="2927351"/>
              <a:ext cx="422275" cy="4206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6162" name="Line 20"/>
            <p:cNvSpPr>
              <a:spLocks noChangeShapeType="1"/>
            </p:cNvSpPr>
            <p:nvPr/>
          </p:nvSpPr>
          <p:spPr bwMode="auto">
            <a:xfrm>
              <a:off x="6921500" y="1647826"/>
              <a:ext cx="9223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3" name="Line 21"/>
            <p:cNvSpPr>
              <a:spLocks noChangeShapeType="1"/>
            </p:cNvSpPr>
            <p:nvPr/>
          </p:nvSpPr>
          <p:spPr bwMode="auto">
            <a:xfrm flipV="1">
              <a:off x="6149975" y="1809751"/>
              <a:ext cx="414338" cy="414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4" name="Line 22"/>
            <p:cNvSpPr>
              <a:spLocks noChangeShapeType="1"/>
            </p:cNvSpPr>
            <p:nvPr/>
          </p:nvSpPr>
          <p:spPr bwMode="auto">
            <a:xfrm>
              <a:off x="6151563" y="2552701"/>
              <a:ext cx="406400" cy="428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5" name="Text Box 23"/>
            <p:cNvSpPr txBox="1">
              <a:spLocks noChangeArrowheads="1"/>
            </p:cNvSpPr>
            <p:nvPr/>
          </p:nvSpPr>
          <p:spPr bwMode="auto">
            <a:xfrm>
              <a:off x="6116638" y="1757363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166" name="Text Box 24"/>
            <p:cNvSpPr txBox="1">
              <a:spLocks noChangeArrowheads="1"/>
            </p:cNvSpPr>
            <p:nvPr/>
          </p:nvSpPr>
          <p:spPr bwMode="auto">
            <a:xfrm>
              <a:off x="7227888" y="1331913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167" name="Text Box 25"/>
            <p:cNvSpPr txBox="1">
              <a:spLocks noChangeArrowheads="1"/>
            </p:cNvSpPr>
            <p:nvPr/>
          </p:nvSpPr>
          <p:spPr bwMode="auto">
            <a:xfrm>
              <a:off x="6134100" y="2659063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168" name="Text Box 26"/>
            <p:cNvSpPr txBox="1">
              <a:spLocks noChangeArrowheads="1"/>
            </p:cNvSpPr>
            <p:nvPr/>
          </p:nvSpPr>
          <p:spPr bwMode="auto">
            <a:xfrm>
              <a:off x="8242300" y="2393951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169" name="Text Box 27"/>
            <p:cNvSpPr txBox="1">
              <a:spLocks noChangeArrowheads="1"/>
            </p:cNvSpPr>
            <p:nvPr/>
          </p:nvSpPr>
          <p:spPr bwMode="auto">
            <a:xfrm>
              <a:off x="7237413" y="3103563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170" name="Text Box 28"/>
            <p:cNvSpPr txBox="1">
              <a:spLocks noChangeArrowheads="1"/>
            </p:cNvSpPr>
            <p:nvPr/>
          </p:nvSpPr>
          <p:spPr bwMode="auto">
            <a:xfrm>
              <a:off x="5540375" y="2206626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6171" name="Text Box 29"/>
            <p:cNvSpPr txBox="1">
              <a:spLocks noChangeArrowheads="1"/>
            </p:cNvSpPr>
            <p:nvPr/>
          </p:nvSpPr>
          <p:spPr bwMode="auto">
            <a:xfrm>
              <a:off x="6589713" y="1122363"/>
              <a:ext cx="2476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6172" name="Text Box 30"/>
            <p:cNvSpPr txBox="1">
              <a:spLocks noChangeArrowheads="1"/>
            </p:cNvSpPr>
            <p:nvPr/>
          </p:nvSpPr>
          <p:spPr bwMode="auto">
            <a:xfrm>
              <a:off x="7894638" y="1122363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6173" name="Text Box 31"/>
            <p:cNvSpPr txBox="1">
              <a:spLocks noChangeArrowheads="1"/>
            </p:cNvSpPr>
            <p:nvPr/>
          </p:nvSpPr>
          <p:spPr bwMode="auto">
            <a:xfrm>
              <a:off x="6564313" y="3284538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6174" name="Text Box 32"/>
            <p:cNvSpPr txBox="1">
              <a:spLocks noChangeArrowheads="1"/>
            </p:cNvSpPr>
            <p:nvPr/>
          </p:nvSpPr>
          <p:spPr bwMode="auto">
            <a:xfrm>
              <a:off x="7920038" y="3284538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6175" name="Line 33"/>
            <p:cNvSpPr>
              <a:spLocks noChangeShapeType="1"/>
            </p:cNvSpPr>
            <p:nvPr/>
          </p:nvSpPr>
          <p:spPr bwMode="auto">
            <a:xfrm flipV="1">
              <a:off x="6931025" y="3151188"/>
              <a:ext cx="9080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6" name="Line 34"/>
            <p:cNvSpPr>
              <a:spLocks noChangeShapeType="1"/>
            </p:cNvSpPr>
            <p:nvPr/>
          </p:nvSpPr>
          <p:spPr bwMode="auto">
            <a:xfrm flipV="1">
              <a:off x="6821488" y="1795463"/>
              <a:ext cx="1063625" cy="11509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7" name="Freeform 35"/>
            <p:cNvSpPr>
              <a:spLocks/>
            </p:cNvSpPr>
            <p:nvPr/>
          </p:nvSpPr>
          <p:spPr bwMode="auto">
            <a:xfrm>
              <a:off x="6513513" y="1846263"/>
              <a:ext cx="136525" cy="1092200"/>
            </a:xfrm>
            <a:custGeom>
              <a:avLst/>
              <a:gdLst>
                <a:gd name="T0" fmla="*/ 82 w 86"/>
                <a:gd name="T1" fmla="*/ 0 h 688"/>
                <a:gd name="T2" fmla="*/ 1 w 86"/>
                <a:gd name="T3" fmla="*/ 297 h 688"/>
                <a:gd name="T4" fmla="*/ 86 w 86"/>
                <a:gd name="T5" fmla="*/ 688 h 688"/>
                <a:gd name="T6" fmla="*/ 0 60000 65536"/>
                <a:gd name="T7" fmla="*/ 0 60000 65536"/>
                <a:gd name="T8" fmla="*/ 0 60000 65536"/>
                <a:gd name="T9" fmla="*/ 0 w 86"/>
                <a:gd name="T10" fmla="*/ 0 h 688"/>
                <a:gd name="T11" fmla="*/ 86 w 86"/>
                <a:gd name="T12" fmla="*/ 688 h 6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" h="688">
                  <a:moveTo>
                    <a:pt x="82" y="0"/>
                  </a:moveTo>
                  <a:cubicBezTo>
                    <a:pt x="41" y="91"/>
                    <a:pt x="0" y="182"/>
                    <a:pt x="1" y="297"/>
                  </a:cubicBezTo>
                  <a:cubicBezTo>
                    <a:pt x="2" y="412"/>
                    <a:pt x="72" y="624"/>
                    <a:pt x="86" y="688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8" name="Freeform 36"/>
            <p:cNvSpPr>
              <a:spLocks/>
            </p:cNvSpPr>
            <p:nvPr/>
          </p:nvSpPr>
          <p:spPr bwMode="auto">
            <a:xfrm>
              <a:off x="7808913" y="1863726"/>
              <a:ext cx="136525" cy="1092200"/>
            </a:xfrm>
            <a:custGeom>
              <a:avLst/>
              <a:gdLst>
                <a:gd name="T0" fmla="*/ 82 w 86"/>
                <a:gd name="T1" fmla="*/ 0 h 688"/>
                <a:gd name="T2" fmla="*/ 1 w 86"/>
                <a:gd name="T3" fmla="*/ 297 h 688"/>
                <a:gd name="T4" fmla="*/ 86 w 86"/>
                <a:gd name="T5" fmla="*/ 688 h 688"/>
                <a:gd name="T6" fmla="*/ 0 60000 65536"/>
                <a:gd name="T7" fmla="*/ 0 60000 65536"/>
                <a:gd name="T8" fmla="*/ 0 60000 65536"/>
                <a:gd name="T9" fmla="*/ 0 w 86"/>
                <a:gd name="T10" fmla="*/ 0 h 688"/>
                <a:gd name="T11" fmla="*/ 86 w 86"/>
                <a:gd name="T12" fmla="*/ 688 h 6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" h="688">
                  <a:moveTo>
                    <a:pt x="82" y="0"/>
                  </a:moveTo>
                  <a:cubicBezTo>
                    <a:pt x="41" y="91"/>
                    <a:pt x="0" y="182"/>
                    <a:pt x="1" y="297"/>
                  </a:cubicBezTo>
                  <a:cubicBezTo>
                    <a:pt x="2" y="412"/>
                    <a:pt x="72" y="624"/>
                    <a:pt x="86" y="688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9" name="Freeform 37"/>
            <p:cNvSpPr>
              <a:spLocks/>
            </p:cNvSpPr>
            <p:nvPr/>
          </p:nvSpPr>
          <p:spPr bwMode="auto">
            <a:xfrm rot="10800000">
              <a:off x="8118475" y="1844676"/>
              <a:ext cx="136525" cy="1092200"/>
            </a:xfrm>
            <a:custGeom>
              <a:avLst/>
              <a:gdLst>
                <a:gd name="T0" fmla="*/ 82 w 86"/>
                <a:gd name="T1" fmla="*/ 0 h 688"/>
                <a:gd name="T2" fmla="*/ 1 w 86"/>
                <a:gd name="T3" fmla="*/ 297 h 688"/>
                <a:gd name="T4" fmla="*/ 86 w 86"/>
                <a:gd name="T5" fmla="*/ 688 h 688"/>
                <a:gd name="T6" fmla="*/ 0 60000 65536"/>
                <a:gd name="T7" fmla="*/ 0 60000 65536"/>
                <a:gd name="T8" fmla="*/ 0 60000 65536"/>
                <a:gd name="T9" fmla="*/ 0 w 86"/>
                <a:gd name="T10" fmla="*/ 0 h 688"/>
                <a:gd name="T11" fmla="*/ 86 w 86"/>
                <a:gd name="T12" fmla="*/ 688 h 6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" h="688">
                  <a:moveTo>
                    <a:pt x="82" y="0"/>
                  </a:moveTo>
                  <a:cubicBezTo>
                    <a:pt x="41" y="91"/>
                    <a:pt x="0" y="182"/>
                    <a:pt x="1" y="297"/>
                  </a:cubicBezTo>
                  <a:cubicBezTo>
                    <a:pt x="2" y="412"/>
                    <a:pt x="72" y="624"/>
                    <a:pt x="86" y="688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0" name="Freeform 38"/>
            <p:cNvSpPr>
              <a:spLocks/>
            </p:cNvSpPr>
            <p:nvPr/>
          </p:nvSpPr>
          <p:spPr bwMode="auto">
            <a:xfrm rot="10800000">
              <a:off x="6778625" y="1839913"/>
              <a:ext cx="136525" cy="1092200"/>
            </a:xfrm>
            <a:custGeom>
              <a:avLst/>
              <a:gdLst>
                <a:gd name="T0" fmla="*/ 82 w 86"/>
                <a:gd name="T1" fmla="*/ 0 h 688"/>
                <a:gd name="T2" fmla="*/ 1 w 86"/>
                <a:gd name="T3" fmla="*/ 297 h 688"/>
                <a:gd name="T4" fmla="*/ 86 w 86"/>
                <a:gd name="T5" fmla="*/ 688 h 688"/>
                <a:gd name="T6" fmla="*/ 0 60000 65536"/>
                <a:gd name="T7" fmla="*/ 0 60000 65536"/>
                <a:gd name="T8" fmla="*/ 0 60000 65536"/>
                <a:gd name="T9" fmla="*/ 0 w 86"/>
                <a:gd name="T10" fmla="*/ 0 h 688"/>
                <a:gd name="T11" fmla="*/ 86 w 86"/>
                <a:gd name="T12" fmla="*/ 688 h 6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" h="688">
                  <a:moveTo>
                    <a:pt x="82" y="0"/>
                  </a:moveTo>
                  <a:cubicBezTo>
                    <a:pt x="41" y="91"/>
                    <a:pt x="0" y="182"/>
                    <a:pt x="1" y="297"/>
                  </a:cubicBezTo>
                  <a:cubicBezTo>
                    <a:pt x="2" y="412"/>
                    <a:pt x="72" y="624"/>
                    <a:pt x="86" y="688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1" name="Line 39"/>
            <p:cNvSpPr>
              <a:spLocks noChangeShapeType="1"/>
            </p:cNvSpPr>
            <p:nvPr/>
          </p:nvSpPr>
          <p:spPr bwMode="auto">
            <a:xfrm flipH="1" flipV="1">
              <a:off x="6221413" y="2474913"/>
              <a:ext cx="1636713" cy="577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82" name="Text Box 40"/>
            <p:cNvSpPr txBox="1">
              <a:spLocks noChangeArrowheads="1"/>
            </p:cNvSpPr>
            <p:nvPr/>
          </p:nvSpPr>
          <p:spPr bwMode="auto">
            <a:xfrm>
              <a:off x="7575550" y="2390776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183" name="Text Box 41"/>
            <p:cNvSpPr txBox="1">
              <a:spLocks noChangeArrowheads="1"/>
            </p:cNvSpPr>
            <p:nvPr/>
          </p:nvSpPr>
          <p:spPr bwMode="auto">
            <a:xfrm>
              <a:off x="6281738" y="2114551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184" name="Text Box 42"/>
            <p:cNvSpPr txBox="1">
              <a:spLocks noChangeArrowheads="1"/>
            </p:cNvSpPr>
            <p:nvPr/>
          </p:nvSpPr>
          <p:spPr bwMode="auto">
            <a:xfrm>
              <a:off x="6831013" y="2103438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85" name="Text Box 43"/>
            <p:cNvSpPr txBox="1">
              <a:spLocks noChangeArrowheads="1"/>
            </p:cNvSpPr>
            <p:nvPr/>
          </p:nvSpPr>
          <p:spPr bwMode="auto">
            <a:xfrm>
              <a:off x="7278688" y="1962151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86" name="Text Box 44"/>
            <p:cNvSpPr txBox="1">
              <a:spLocks noChangeArrowheads="1"/>
            </p:cNvSpPr>
            <p:nvPr/>
          </p:nvSpPr>
          <p:spPr bwMode="auto">
            <a:xfrm>
              <a:off x="7299325" y="2622551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0561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Variants of Shortest Paths</a:t>
            </a:r>
          </a:p>
        </p:txBody>
      </p:sp>
      <p:sp>
        <p:nvSpPr>
          <p:cNvPr id="7690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b="1" dirty="0"/>
              <a:t>Single-source shortest path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/>
              <a:t>Given G = (V, E), </a:t>
            </a:r>
            <a:r>
              <a:rPr lang="en-US" altLang="en-US" sz="2000" dirty="0">
                <a:sym typeface="Symbol" panose="05050102010706020507" pitchFamily="18" charset="2"/>
              </a:rPr>
              <a:t>find a shortest path from a given source vertex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sym typeface="Symbol" panose="05050102010706020507" pitchFamily="18" charset="2"/>
              </a:rPr>
              <a:t> to each vertex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v  V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b="1" dirty="0">
                <a:sym typeface="Symbol" panose="05050102010706020507" pitchFamily="18" charset="2"/>
              </a:rPr>
              <a:t>Single-destination shortest path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Find a shortest path to a given destination vertex </a:t>
            </a:r>
            <a:r>
              <a:rPr lang="en-US" altLang="en-US" sz="2000" b="1" dirty="0"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from each vertex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Reverse the direction of each edge  single-source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b="1" dirty="0">
                <a:sym typeface="Symbol" panose="05050102010706020507" pitchFamily="18" charset="2"/>
              </a:rPr>
              <a:t>Single-pair shortest path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Find a shortest path from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u</a:t>
            </a:r>
            <a:r>
              <a:rPr lang="en-US" altLang="en-US" sz="2000" dirty="0">
                <a:sym typeface="Symbol" panose="05050102010706020507" pitchFamily="18" charset="2"/>
              </a:rPr>
              <a:t> to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000" dirty="0">
                <a:sym typeface="Symbol" panose="05050102010706020507" pitchFamily="18" charset="2"/>
              </a:rPr>
              <a:t> for given vertices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u</a:t>
            </a:r>
            <a:r>
              <a:rPr lang="en-US" altLang="en-US" sz="2000" dirty="0">
                <a:sym typeface="Symbol" panose="05050102010706020507" pitchFamily="18" charset="2"/>
              </a:rPr>
              <a:t> and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Solve the single-source problem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b="1" dirty="0">
                <a:sym typeface="Symbol" panose="05050102010706020507" pitchFamily="18" charset="2"/>
              </a:rPr>
              <a:t>All-pairs shortest-paths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Find a shortest path from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u</a:t>
            </a:r>
            <a:r>
              <a:rPr lang="en-US" altLang="en-US" sz="2000" dirty="0">
                <a:sym typeface="Symbol" panose="05050102010706020507" pitchFamily="18" charset="2"/>
              </a:rPr>
              <a:t> to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000" dirty="0">
                <a:sym typeface="Symbol" panose="05050102010706020507" pitchFamily="18" charset="2"/>
              </a:rPr>
              <a:t> for every pair of vertices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u</a:t>
            </a:r>
            <a:r>
              <a:rPr lang="en-US" altLang="en-US" sz="2000" dirty="0">
                <a:sym typeface="Symbol" panose="05050102010706020507" pitchFamily="18" charset="2"/>
              </a:rPr>
              <a:t> and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87501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Optimal Substructure of Shortest Paths</a:t>
            </a:r>
          </a:p>
        </p:txBody>
      </p:sp>
      <p:sp>
        <p:nvSpPr>
          <p:cNvPr id="770051" name="Rectangle 3"/>
          <p:cNvSpPr>
            <a:spLocks noGrp="1" noChangeArrowheads="1"/>
          </p:cNvSpPr>
          <p:nvPr>
            <p:ph idx="1"/>
          </p:nvPr>
        </p:nvSpPr>
        <p:spPr>
          <a:xfrm>
            <a:off x="155575" y="939800"/>
            <a:ext cx="8988425" cy="59182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en-US" sz="2400" dirty="0"/>
              <a:t>Given: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dirty="0"/>
              <a:t>A weighted, directed graph G = (V, E)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dirty="0"/>
              <a:t>A weight function w: E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>
                <a:latin typeface="Arial Black" panose="020B0A0402010202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sym typeface="Symbol" panose="05050102010706020507" pitchFamily="18" charset="2"/>
              </a:rPr>
              <a:t>,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A shortest path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p = </a:t>
            </a:r>
            <a:r>
              <a:rPr lang="en-US" altLang="en-US" sz="2000" dirty="0">
                <a:latin typeface="Comic Sans MS" panose="030F0702030302020204" pitchFamily="66" charset="0"/>
              </a:rPr>
              <a:t>v</a:t>
            </a:r>
            <a:r>
              <a:rPr lang="en-US" altLang="en-US" sz="2000" baseline="-25000" dirty="0">
                <a:latin typeface="Comic Sans MS" panose="030F0702030302020204" pitchFamily="66" charset="0"/>
              </a:rPr>
              <a:t>1</a:t>
            </a:r>
            <a:r>
              <a:rPr lang="en-US" altLang="en-US" sz="2000" dirty="0">
                <a:latin typeface="Comic Sans MS" panose="030F0702030302020204" pitchFamily="66" charset="0"/>
              </a:rPr>
              <a:t>, v</a:t>
            </a:r>
            <a:r>
              <a:rPr lang="en-US" altLang="en-US" sz="2000" baseline="-25000" dirty="0">
                <a:latin typeface="Comic Sans MS" panose="030F0702030302020204" pitchFamily="66" charset="0"/>
              </a:rPr>
              <a:t>2</a:t>
            </a:r>
            <a:r>
              <a:rPr lang="en-US" altLang="en-US" sz="2000" dirty="0">
                <a:latin typeface="Comic Sans MS" panose="030F0702030302020204" pitchFamily="66" charset="0"/>
              </a:rPr>
              <a:t>, . . . , </a:t>
            </a:r>
            <a:r>
              <a:rPr lang="en-US" altLang="en-US" sz="2000" dirty="0" err="1">
                <a:latin typeface="Comic Sans MS" panose="030F0702030302020204" pitchFamily="66" charset="0"/>
              </a:rPr>
              <a:t>v</a:t>
            </a:r>
            <a:r>
              <a:rPr lang="en-US" altLang="en-US" sz="2000" baseline="-25000" dirty="0" err="1">
                <a:latin typeface="Comic Sans MS" panose="030F0702030302020204" pitchFamily="66" charset="0"/>
              </a:rPr>
              <a:t>k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</a:t>
            </a:r>
            <a:r>
              <a:rPr lang="en-US" altLang="en-US" sz="2000" dirty="0">
                <a:sym typeface="Symbol" panose="05050102010706020507" pitchFamily="18" charset="2"/>
              </a:rPr>
              <a:t> from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0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ym typeface="Symbol" panose="05050102010706020507" pitchFamily="18" charset="2"/>
              </a:rPr>
              <a:t> to </a:t>
            </a:r>
            <a:r>
              <a:rPr lang="en-US" altLang="en-US" sz="2000" dirty="0" err="1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0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k</a:t>
            </a:r>
            <a:endParaRPr lang="en-US" altLang="en-US" sz="2000" baseline="-25000" dirty="0"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A </a:t>
            </a:r>
            <a:r>
              <a:rPr lang="en-US" altLang="en-US" sz="2000" dirty="0" err="1">
                <a:sym typeface="Symbol" panose="05050102010706020507" pitchFamily="18" charset="2"/>
              </a:rPr>
              <a:t>subpath</a:t>
            </a:r>
            <a:r>
              <a:rPr lang="en-US" altLang="en-US" sz="2000" dirty="0">
                <a:sym typeface="Symbol" panose="05050102010706020507" pitchFamily="18" charset="2"/>
              </a:rPr>
              <a:t> of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ym typeface="Symbol" panose="05050102010706020507" pitchFamily="18" charset="2"/>
              </a:rPr>
              <a:t>: </a:t>
            </a:r>
            <a:r>
              <a:rPr lang="en-US" altLang="en-US" sz="20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0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 = </a:t>
            </a:r>
            <a:r>
              <a:rPr lang="en-US" altLang="en-US" sz="2000" dirty="0">
                <a:latin typeface="Comic Sans MS" panose="030F0702030302020204" pitchFamily="66" charset="0"/>
              </a:rPr>
              <a:t>v</a:t>
            </a:r>
            <a:r>
              <a:rPr lang="en-US" altLang="en-US" sz="2000" baseline="-25000" dirty="0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, v</a:t>
            </a:r>
            <a:r>
              <a:rPr lang="en-US" altLang="en-US" sz="2000" baseline="-25000" dirty="0">
                <a:latin typeface="Comic Sans MS" panose="030F0702030302020204" pitchFamily="66" charset="0"/>
              </a:rPr>
              <a:t>i+1</a:t>
            </a:r>
            <a:r>
              <a:rPr lang="en-US" altLang="en-US" sz="2000" dirty="0">
                <a:latin typeface="Comic Sans MS" panose="030F0702030302020204" pitchFamily="66" charset="0"/>
              </a:rPr>
              <a:t>, . . . , </a:t>
            </a:r>
            <a:r>
              <a:rPr lang="en-US" altLang="en-US" sz="2000" dirty="0" err="1">
                <a:latin typeface="Comic Sans MS" panose="030F0702030302020204" pitchFamily="66" charset="0"/>
              </a:rPr>
              <a:t>v</a:t>
            </a:r>
            <a:r>
              <a:rPr lang="en-US" altLang="en-US" sz="2000" baseline="-25000" dirty="0" err="1">
                <a:latin typeface="Comic Sans MS" panose="030F0702030302020204" pitchFamily="66" charset="0"/>
              </a:rPr>
              <a:t>j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</a:t>
            </a:r>
            <a:r>
              <a:rPr lang="en-US" altLang="en-US" sz="2000" dirty="0">
                <a:sym typeface="Symbol" panose="05050102010706020507" pitchFamily="18" charset="2"/>
              </a:rPr>
              <a:t>, with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1  </a:t>
            </a:r>
            <a:r>
              <a:rPr lang="en-US" altLang="en-US" sz="2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  j  k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Then: 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is a shortest path from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to 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endParaRPr lang="en-US" altLang="en-US" sz="2400" dirty="0"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en-US" sz="2400" b="1" dirty="0">
                <a:sym typeface="Symbol" panose="05050102010706020507" pitchFamily="18" charset="2"/>
              </a:rPr>
              <a:t>Proof</a:t>
            </a:r>
            <a:r>
              <a:rPr lang="en-US" altLang="en-US" sz="2400" dirty="0">
                <a:sym typeface="Symbol" panose="05050102010706020507" pitchFamily="18" charset="2"/>
              </a:rPr>
              <a:t>: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p = v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      v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        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      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k</a:t>
            </a:r>
            <a:endParaRPr lang="en-US" altLang="en-US" sz="2400" dirty="0"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>
              <a:lnSpc>
                <a:spcPct val="13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  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w(p) = w(p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1i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+ 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+ 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jk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 Assume  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’</a:t>
            </a:r>
            <a:r>
              <a:rPr lang="en-US" altLang="en-US" sz="2400" dirty="0">
                <a:sym typeface="Symbol" panose="05050102010706020507" pitchFamily="18" charset="2"/>
              </a:rPr>
              <a:t> from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 to 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</a:t>
            </a:r>
            <a:r>
              <a:rPr lang="en-US" altLang="en-US" sz="2400" dirty="0">
                <a:sym typeface="Symbol" panose="05050102010706020507" pitchFamily="18" charset="2"/>
              </a:rPr>
              <a:t> with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’) &lt; 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Adding w(p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1i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+ 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jk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in both sides of this inequality:</a:t>
            </a:r>
          </a:p>
          <a:p>
            <a:pPr>
              <a:lnSpc>
                <a:spcPct val="13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  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w(p’) = w(p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1i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+ 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’) + 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jk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&lt; w(p</a:t>
            </a:r>
            <a:r>
              <a:rPr lang="en-US" altLang="en-US" sz="2400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1i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+ 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+ w(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p</a:t>
            </a:r>
            <a:r>
              <a:rPr lang="en-US" altLang="en-US" sz="2400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jk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 = w(p)</a:t>
            </a:r>
            <a:r>
              <a:rPr lang="en-US" altLang="en-US" sz="2400" dirty="0">
                <a:sym typeface="Symbol" panose="05050102010706020507" pitchFamily="18" charset="2"/>
              </a:rPr>
              <a:t> 	</a:t>
            </a:r>
          </a:p>
          <a:p>
            <a:pPr>
              <a:lnSpc>
                <a:spcPct val="130000"/>
              </a:lnSpc>
            </a:pPr>
            <a:r>
              <a:rPr lang="en-US" altLang="en-US" sz="2000" dirty="0">
                <a:solidFill>
                  <a:srgbClr val="DD0111"/>
                </a:solidFill>
                <a:sym typeface="Symbol" panose="05050102010706020507" pitchFamily="18" charset="2"/>
              </a:rPr>
              <a:t>So there is a path </a:t>
            </a:r>
            <a:r>
              <a:rPr lang="en-US" altLang="en-US" sz="2000" i="1" dirty="0">
                <a:solidFill>
                  <a:srgbClr val="DD0111"/>
                </a:solidFill>
                <a:sym typeface="Symbol" panose="05050102010706020507" pitchFamily="18" charset="2"/>
              </a:rPr>
              <a:t>p’</a:t>
            </a:r>
            <a:r>
              <a:rPr lang="en-US" altLang="en-US" sz="2000" dirty="0">
                <a:solidFill>
                  <a:srgbClr val="DD0111"/>
                </a:solidFill>
                <a:sym typeface="Symbol" panose="05050102010706020507" pitchFamily="18" charset="2"/>
              </a:rPr>
              <a:t> from </a:t>
            </a:r>
            <a:r>
              <a:rPr lang="en-US" altLang="en-US" sz="2000" i="1" dirty="0">
                <a:solidFill>
                  <a:srgbClr val="DD0111"/>
                </a:solidFill>
                <a:sym typeface="Symbol" panose="05050102010706020507" pitchFamily="18" charset="2"/>
              </a:rPr>
              <a:t>v</a:t>
            </a:r>
            <a:r>
              <a:rPr lang="en-US" altLang="en-US" sz="2000" i="1" baseline="-25000" dirty="0">
                <a:solidFill>
                  <a:srgbClr val="DD011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000" i="1" dirty="0">
                <a:solidFill>
                  <a:srgbClr val="DD0111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rgbClr val="DD0111"/>
                </a:solidFill>
                <a:sym typeface="Symbol" panose="05050102010706020507" pitchFamily="18" charset="2"/>
              </a:rPr>
              <a:t>to </a:t>
            </a:r>
            <a:r>
              <a:rPr lang="en-US" altLang="en-US" sz="2000" i="1" dirty="0" err="1">
                <a:solidFill>
                  <a:srgbClr val="DD0111"/>
                </a:solidFill>
                <a:sym typeface="Symbol" panose="05050102010706020507" pitchFamily="18" charset="2"/>
              </a:rPr>
              <a:t>v</a:t>
            </a:r>
            <a:r>
              <a:rPr lang="en-US" altLang="en-US" sz="2000" i="1" baseline="-25000" dirty="0" err="1">
                <a:solidFill>
                  <a:srgbClr val="DD0111"/>
                </a:solidFill>
                <a:sym typeface="Symbol" panose="05050102010706020507" pitchFamily="18" charset="2"/>
              </a:rPr>
              <a:t>k</a:t>
            </a:r>
            <a:r>
              <a:rPr lang="en-US" altLang="en-US" sz="2000" i="1" dirty="0">
                <a:solidFill>
                  <a:srgbClr val="DD0111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rgbClr val="DD0111"/>
                </a:solidFill>
                <a:sym typeface="Symbol" panose="05050102010706020507" pitchFamily="18" charset="2"/>
              </a:rPr>
              <a:t>which is shorter than the shortest path </a:t>
            </a:r>
            <a:r>
              <a:rPr lang="en-US" altLang="en-US" sz="2000" i="1" dirty="0">
                <a:solidFill>
                  <a:srgbClr val="DD0111"/>
                </a:solidFill>
                <a:sym typeface="Symbol" panose="05050102010706020507" pitchFamily="18" charset="2"/>
              </a:rPr>
              <a:t>p </a:t>
            </a:r>
            <a:r>
              <a:rPr lang="en-US" altLang="en-US" sz="2000" dirty="0">
                <a:solidFill>
                  <a:srgbClr val="DD0111"/>
                </a:solidFill>
                <a:sym typeface="Symbol" panose="05050102010706020507" pitchFamily="18" charset="2"/>
              </a:rPr>
              <a:t>between them; but this contradicts our initial assumption that </a:t>
            </a:r>
            <a:r>
              <a:rPr lang="en-US" altLang="en-US" sz="2000" i="1" dirty="0">
                <a:solidFill>
                  <a:srgbClr val="DD0111"/>
                </a:solidFill>
                <a:sym typeface="Symbol" panose="05050102010706020507" pitchFamily="18" charset="2"/>
              </a:rPr>
              <a:t>p </a:t>
            </a:r>
            <a:r>
              <a:rPr lang="en-US" altLang="en-US" sz="2000" dirty="0">
                <a:solidFill>
                  <a:srgbClr val="DD0111"/>
                </a:solidFill>
                <a:sym typeface="Symbol" panose="05050102010706020507" pitchFamily="18" charset="2"/>
              </a:rPr>
              <a:t>is the shortest path.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746581" y="3283379"/>
            <a:ext cx="2263775" cy="495299"/>
            <a:chOff x="1377" y="2574"/>
            <a:chExt cx="1426" cy="312"/>
          </a:xfrm>
        </p:grpSpPr>
        <p:sp>
          <p:nvSpPr>
            <p:cNvPr id="8214" name="Freeform 5"/>
            <p:cNvSpPr>
              <a:spLocks/>
            </p:cNvSpPr>
            <p:nvPr/>
          </p:nvSpPr>
          <p:spPr bwMode="auto">
            <a:xfrm>
              <a:off x="1397" y="2814"/>
              <a:ext cx="229" cy="57"/>
            </a:xfrm>
            <a:custGeom>
              <a:avLst/>
              <a:gdLst>
                <a:gd name="T0" fmla="*/ 0 w 229"/>
                <a:gd name="T1" fmla="*/ 26 h 57"/>
                <a:gd name="T2" fmla="*/ 54 w 229"/>
                <a:gd name="T3" fmla="*/ 4 h 57"/>
                <a:gd name="T4" fmla="*/ 108 w 229"/>
                <a:gd name="T5" fmla="*/ 53 h 57"/>
                <a:gd name="T6" fmla="*/ 175 w 229"/>
                <a:gd name="T7" fmla="*/ 26 h 57"/>
                <a:gd name="T8" fmla="*/ 229 w 229"/>
                <a:gd name="T9" fmla="*/ 26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9"/>
                <a:gd name="T16" fmla="*/ 0 h 57"/>
                <a:gd name="T17" fmla="*/ 229 w 229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9" h="57">
                  <a:moveTo>
                    <a:pt x="0" y="26"/>
                  </a:moveTo>
                  <a:cubicBezTo>
                    <a:pt x="18" y="13"/>
                    <a:pt x="36" y="0"/>
                    <a:pt x="54" y="4"/>
                  </a:cubicBezTo>
                  <a:cubicBezTo>
                    <a:pt x="72" y="8"/>
                    <a:pt x="88" y="49"/>
                    <a:pt x="108" y="53"/>
                  </a:cubicBezTo>
                  <a:cubicBezTo>
                    <a:pt x="128" y="57"/>
                    <a:pt x="155" y="30"/>
                    <a:pt x="175" y="26"/>
                  </a:cubicBezTo>
                  <a:cubicBezTo>
                    <a:pt x="195" y="22"/>
                    <a:pt x="212" y="24"/>
                    <a:pt x="229" y="26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5" name="Text Box 6"/>
            <p:cNvSpPr txBox="1">
              <a:spLocks noChangeArrowheads="1"/>
            </p:cNvSpPr>
            <p:nvPr/>
          </p:nvSpPr>
          <p:spPr bwMode="auto">
            <a:xfrm>
              <a:off x="1377" y="2574"/>
              <a:ext cx="2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p</a:t>
              </a:r>
              <a:r>
                <a:rPr lang="en-US" altLang="en-US" sz="1800" baseline="-250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1i</a:t>
              </a:r>
              <a:endParaRPr lang="en-US" altLang="en-US" sz="1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8216" name="Freeform 7"/>
            <p:cNvSpPr>
              <a:spLocks/>
            </p:cNvSpPr>
            <p:nvPr/>
          </p:nvSpPr>
          <p:spPr bwMode="auto">
            <a:xfrm>
              <a:off x="1988" y="2822"/>
              <a:ext cx="229" cy="57"/>
            </a:xfrm>
            <a:custGeom>
              <a:avLst/>
              <a:gdLst>
                <a:gd name="T0" fmla="*/ 0 w 229"/>
                <a:gd name="T1" fmla="*/ 26 h 57"/>
                <a:gd name="T2" fmla="*/ 54 w 229"/>
                <a:gd name="T3" fmla="*/ 4 h 57"/>
                <a:gd name="T4" fmla="*/ 108 w 229"/>
                <a:gd name="T5" fmla="*/ 53 h 57"/>
                <a:gd name="T6" fmla="*/ 175 w 229"/>
                <a:gd name="T7" fmla="*/ 26 h 57"/>
                <a:gd name="T8" fmla="*/ 229 w 229"/>
                <a:gd name="T9" fmla="*/ 26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9"/>
                <a:gd name="T16" fmla="*/ 0 h 57"/>
                <a:gd name="T17" fmla="*/ 229 w 229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9" h="57">
                  <a:moveTo>
                    <a:pt x="0" y="26"/>
                  </a:moveTo>
                  <a:cubicBezTo>
                    <a:pt x="18" y="13"/>
                    <a:pt x="36" y="0"/>
                    <a:pt x="54" y="4"/>
                  </a:cubicBezTo>
                  <a:cubicBezTo>
                    <a:pt x="72" y="8"/>
                    <a:pt x="88" y="49"/>
                    <a:pt x="108" y="53"/>
                  </a:cubicBezTo>
                  <a:cubicBezTo>
                    <a:pt x="128" y="57"/>
                    <a:pt x="155" y="30"/>
                    <a:pt x="175" y="26"/>
                  </a:cubicBezTo>
                  <a:cubicBezTo>
                    <a:pt x="195" y="22"/>
                    <a:pt x="212" y="24"/>
                    <a:pt x="229" y="26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7" name="Text Box 8"/>
            <p:cNvSpPr txBox="1">
              <a:spLocks noChangeArrowheads="1"/>
            </p:cNvSpPr>
            <p:nvPr/>
          </p:nvSpPr>
          <p:spPr bwMode="auto">
            <a:xfrm>
              <a:off x="1968" y="2589"/>
              <a:ext cx="25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p</a:t>
              </a:r>
              <a:r>
                <a:rPr lang="en-US" altLang="en-US" sz="1800" baseline="-25000" dirty="0" err="1">
                  <a:solidFill>
                    <a:schemeClr val="tx1"/>
                  </a:solidFill>
                  <a:latin typeface="Comic Sans MS" panose="030F0702030302020204" pitchFamily="66" charset="0"/>
                </a:rPr>
                <a:t>ij</a:t>
              </a:r>
              <a:endParaRPr lang="en-US" altLang="en-US" sz="1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8218" name="Freeform 9"/>
            <p:cNvSpPr>
              <a:spLocks/>
            </p:cNvSpPr>
            <p:nvPr/>
          </p:nvSpPr>
          <p:spPr bwMode="auto">
            <a:xfrm>
              <a:off x="2539" y="2829"/>
              <a:ext cx="229" cy="57"/>
            </a:xfrm>
            <a:custGeom>
              <a:avLst/>
              <a:gdLst>
                <a:gd name="T0" fmla="*/ 0 w 229"/>
                <a:gd name="T1" fmla="*/ 26 h 57"/>
                <a:gd name="T2" fmla="*/ 54 w 229"/>
                <a:gd name="T3" fmla="*/ 4 h 57"/>
                <a:gd name="T4" fmla="*/ 108 w 229"/>
                <a:gd name="T5" fmla="*/ 53 h 57"/>
                <a:gd name="T6" fmla="*/ 175 w 229"/>
                <a:gd name="T7" fmla="*/ 26 h 57"/>
                <a:gd name="T8" fmla="*/ 229 w 229"/>
                <a:gd name="T9" fmla="*/ 26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9"/>
                <a:gd name="T16" fmla="*/ 0 h 57"/>
                <a:gd name="T17" fmla="*/ 229 w 229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9" h="57">
                  <a:moveTo>
                    <a:pt x="0" y="26"/>
                  </a:moveTo>
                  <a:cubicBezTo>
                    <a:pt x="18" y="13"/>
                    <a:pt x="36" y="0"/>
                    <a:pt x="54" y="4"/>
                  </a:cubicBezTo>
                  <a:cubicBezTo>
                    <a:pt x="72" y="8"/>
                    <a:pt x="88" y="49"/>
                    <a:pt x="108" y="53"/>
                  </a:cubicBezTo>
                  <a:cubicBezTo>
                    <a:pt x="128" y="57"/>
                    <a:pt x="155" y="30"/>
                    <a:pt x="175" y="26"/>
                  </a:cubicBezTo>
                  <a:cubicBezTo>
                    <a:pt x="195" y="22"/>
                    <a:pt x="212" y="24"/>
                    <a:pt x="229" y="26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9" name="Text Box 10"/>
            <p:cNvSpPr txBox="1">
              <a:spLocks noChangeArrowheads="1"/>
            </p:cNvSpPr>
            <p:nvPr/>
          </p:nvSpPr>
          <p:spPr bwMode="auto">
            <a:xfrm>
              <a:off x="2519" y="2596"/>
              <a:ext cx="2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Comic Sans MS" panose="030F0702030302020204" pitchFamily="66" charset="0"/>
                </a:rPr>
                <a:t>p</a:t>
              </a:r>
              <a:r>
                <a:rPr lang="en-US" altLang="en-US" sz="1800" baseline="-25000">
                  <a:solidFill>
                    <a:schemeClr val="tx1"/>
                  </a:solidFill>
                  <a:latin typeface="Comic Sans MS" panose="030F0702030302020204" pitchFamily="66" charset="0"/>
                </a:rPr>
                <a:t>jk</a:t>
              </a:r>
              <a:endParaRPr lang="en-US" altLang="en-US" sz="180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8198" name="Oval 11"/>
          <p:cNvSpPr>
            <a:spLocks noChangeArrowheads="1"/>
          </p:cNvSpPr>
          <p:nvPr/>
        </p:nvSpPr>
        <p:spPr bwMode="auto">
          <a:xfrm>
            <a:off x="5929313" y="2179638"/>
            <a:ext cx="285750" cy="2857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8199" name="Oval 12"/>
          <p:cNvSpPr>
            <a:spLocks noChangeArrowheads="1"/>
          </p:cNvSpPr>
          <p:nvPr/>
        </p:nvSpPr>
        <p:spPr bwMode="auto">
          <a:xfrm>
            <a:off x="6824663" y="2444750"/>
            <a:ext cx="285750" cy="2857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8200" name="Oval 13"/>
          <p:cNvSpPr>
            <a:spLocks noChangeArrowheads="1"/>
          </p:cNvSpPr>
          <p:nvPr/>
        </p:nvSpPr>
        <p:spPr bwMode="auto">
          <a:xfrm>
            <a:off x="7518400" y="1717675"/>
            <a:ext cx="285750" cy="2857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8201" name="Oval 14"/>
          <p:cNvSpPr>
            <a:spLocks noChangeArrowheads="1"/>
          </p:cNvSpPr>
          <p:nvPr/>
        </p:nvSpPr>
        <p:spPr bwMode="auto">
          <a:xfrm>
            <a:off x="8439150" y="2054225"/>
            <a:ext cx="285750" cy="2857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8202" name="Freeform 15"/>
          <p:cNvSpPr>
            <a:spLocks/>
          </p:cNvSpPr>
          <p:nvPr/>
        </p:nvSpPr>
        <p:spPr bwMode="auto">
          <a:xfrm>
            <a:off x="6208713" y="2344738"/>
            <a:ext cx="649287" cy="163512"/>
          </a:xfrm>
          <a:custGeom>
            <a:avLst/>
            <a:gdLst>
              <a:gd name="T0" fmla="*/ 0 w 409"/>
              <a:gd name="T1" fmla="*/ 20161188 h 103"/>
              <a:gd name="T2" fmla="*/ 259575100 w 409"/>
              <a:gd name="T3" fmla="*/ 10080594 h 103"/>
              <a:gd name="T4" fmla="*/ 350300655 w 409"/>
              <a:gd name="T5" fmla="*/ 32761137 h 103"/>
              <a:gd name="T6" fmla="*/ 418345615 w 409"/>
              <a:gd name="T7" fmla="*/ 78123811 h 103"/>
              <a:gd name="T8" fmla="*/ 476308371 w 409"/>
              <a:gd name="T9" fmla="*/ 123486485 h 103"/>
              <a:gd name="T10" fmla="*/ 486388988 w 409"/>
              <a:gd name="T11" fmla="*/ 156249210 h 103"/>
              <a:gd name="T12" fmla="*/ 894653986 w 409"/>
              <a:gd name="T13" fmla="*/ 236893963 h 103"/>
              <a:gd name="T14" fmla="*/ 1030742319 w 409"/>
              <a:gd name="T15" fmla="*/ 259574506 h 10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09"/>
              <a:gd name="T25" fmla="*/ 0 h 103"/>
              <a:gd name="T26" fmla="*/ 409 w 409"/>
              <a:gd name="T27" fmla="*/ 103 h 10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09" h="103">
                <a:moveTo>
                  <a:pt x="0" y="8"/>
                </a:moveTo>
                <a:cubicBezTo>
                  <a:pt x="38" y="1"/>
                  <a:pt x="63" y="0"/>
                  <a:pt x="103" y="4"/>
                </a:cubicBezTo>
                <a:cubicBezTo>
                  <a:pt x="115" y="7"/>
                  <a:pt x="128" y="8"/>
                  <a:pt x="139" y="13"/>
                </a:cubicBezTo>
                <a:cubicBezTo>
                  <a:pt x="149" y="18"/>
                  <a:pt x="166" y="31"/>
                  <a:pt x="166" y="31"/>
                </a:cubicBezTo>
                <a:cubicBezTo>
                  <a:pt x="207" y="90"/>
                  <a:pt x="143" y="3"/>
                  <a:pt x="189" y="49"/>
                </a:cubicBezTo>
                <a:cubicBezTo>
                  <a:pt x="192" y="52"/>
                  <a:pt x="190" y="59"/>
                  <a:pt x="193" y="62"/>
                </a:cubicBezTo>
                <a:cubicBezTo>
                  <a:pt x="233" y="102"/>
                  <a:pt x="309" y="92"/>
                  <a:pt x="355" y="94"/>
                </a:cubicBezTo>
                <a:cubicBezTo>
                  <a:pt x="368" y="96"/>
                  <a:pt x="395" y="103"/>
                  <a:pt x="409" y="103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3" name="Freeform 16"/>
          <p:cNvSpPr>
            <a:spLocks/>
          </p:cNvSpPr>
          <p:nvPr/>
        </p:nvSpPr>
        <p:spPr bwMode="auto">
          <a:xfrm>
            <a:off x="6951663" y="1871663"/>
            <a:ext cx="557212" cy="565150"/>
          </a:xfrm>
          <a:custGeom>
            <a:avLst/>
            <a:gdLst>
              <a:gd name="T0" fmla="*/ 55443388 w 351"/>
              <a:gd name="T1" fmla="*/ 897175625 h 356"/>
              <a:gd name="T2" fmla="*/ 0 w 351"/>
              <a:gd name="T3" fmla="*/ 725805000 h 356"/>
              <a:gd name="T4" fmla="*/ 10080616 w 351"/>
              <a:gd name="T5" fmla="*/ 556953738 h 356"/>
              <a:gd name="T6" fmla="*/ 340219995 w 351"/>
              <a:gd name="T7" fmla="*/ 398184688 h 356"/>
              <a:gd name="T8" fmla="*/ 441026154 w 351"/>
              <a:gd name="T9" fmla="*/ 352821875 h 356"/>
              <a:gd name="T10" fmla="*/ 531751698 w 351"/>
              <a:gd name="T11" fmla="*/ 262096250 h 356"/>
              <a:gd name="T12" fmla="*/ 703122169 w 351"/>
              <a:gd name="T13" fmla="*/ 90725625 h 356"/>
              <a:gd name="T14" fmla="*/ 884573256 w 351"/>
              <a:gd name="T15" fmla="*/ 0 h 3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51"/>
              <a:gd name="T25" fmla="*/ 0 h 356"/>
              <a:gd name="T26" fmla="*/ 351 w 351"/>
              <a:gd name="T27" fmla="*/ 356 h 35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51" h="356">
                <a:moveTo>
                  <a:pt x="22" y="356"/>
                </a:moveTo>
                <a:cubicBezTo>
                  <a:pt x="15" y="333"/>
                  <a:pt x="7" y="311"/>
                  <a:pt x="0" y="288"/>
                </a:cubicBezTo>
                <a:cubicBezTo>
                  <a:pt x="1" y="266"/>
                  <a:pt x="2" y="243"/>
                  <a:pt x="4" y="221"/>
                </a:cubicBezTo>
                <a:cubicBezTo>
                  <a:pt x="10" y="170"/>
                  <a:pt x="99" y="162"/>
                  <a:pt x="135" y="158"/>
                </a:cubicBezTo>
                <a:cubicBezTo>
                  <a:pt x="149" y="153"/>
                  <a:pt x="160" y="144"/>
                  <a:pt x="175" y="140"/>
                </a:cubicBezTo>
                <a:cubicBezTo>
                  <a:pt x="191" y="130"/>
                  <a:pt x="198" y="117"/>
                  <a:pt x="211" y="104"/>
                </a:cubicBezTo>
                <a:cubicBezTo>
                  <a:pt x="218" y="85"/>
                  <a:pt x="260" y="43"/>
                  <a:pt x="279" y="36"/>
                </a:cubicBezTo>
                <a:cubicBezTo>
                  <a:pt x="300" y="15"/>
                  <a:pt x="332" y="19"/>
                  <a:pt x="351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0065" name="Freeform 17"/>
          <p:cNvSpPr>
            <a:spLocks/>
          </p:cNvSpPr>
          <p:nvPr/>
        </p:nvSpPr>
        <p:spPr bwMode="auto">
          <a:xfrm>
            <a:off x="7108825" y="2022475"/>
            <a:ext cx="506413" cy="506413"/>
          </a:xfrm>
          <a:custGeom>
            <a:avLst/>
            <a:gdLst>
              <a:gd name="T0" fmla="*/ 0 w 319"/>
              <a:gd name="T1" fmla="*/ 803931431 h 319"/>
              <a:gd name="T2" fmla="*/ 249496509 w 319"/>
              <a:gd name="T3" fmla="*/ 748487939 h 319"/>
              <a:gd name="T4" fmla="*/ 317540001 w 319"/>
              <a:gd name="T5" fmla="*/ 680442859 h 319"/>
              <a:gd name="T6" fmla="*/ 362902858 w 319"/>
              <a:gd name="T7" fmla="*/ 612399367 h 319"/>
              <a:gd name="T8" fmla="*/ 463709208 w 319"/>
              <a:gd name="T9" fmla="*/ 418346351 h 319"/>
              <a:gd name="T10" fmla="*/ 567036510 w 319"/>
              <a:gd name="T11" fmla="*/ 362902858 h 319"/>
              <a:gd name="T12" fmla="*/ 667842859 w 319"/>
              <a:gd name="T13" fmla="*/ 304940001 h 319"/>
              <a:gd name="T14" fmla="*/ 713205717 w 319"/>
              <a:gd name="T15" fmla="*/ 249496509 h 319"/>
              <a:gd name="T16" fmla="*/ 771168574 w 319"/>
              <a:gd name="T17" fmla="*/ 113407937 h 319"/>
              <a:gd name="T18" fmla="*/ 803931431 w 319"/>
              <a:gd name="T19" fmla="*/ 0 h 3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19"/>
              <a:gd name="T31" fmla="*/ 0 h 319"/>
              <a:gd name="T32" fmla="*/ 319 w 319"/>
              <a:gd name="T33" fmla="*/ 319 h 319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19" h="319">
                <a:moveTo>
                  <a:pt x="0" y="319"/>
                </a:moveTo>
                <a:cubicBezTo>
                  <a:pt x="38" y="316"/>
                  <a:pt x="64" y="307"/>
                  <a:pt x="99" y="297"/>
                </a:cubicBezTo>
                <a:cubicBezTo>
                  <a:pt x="108" y="288"/>
                  <a:pt x="118" y="280"/>
                  <a:pt x="126" y="270"/>
                </a:cubicBezTo>
                <a:cubicBezTo>
                  <a:pt x="133" y="262"/>
                  <a:pt x="144" y="243"/>
                  <a:pt x="144" y="243"/>
                </a:cubicBezTo>
                <a:cubicBezTo>
                  <a:pt x="150" y="222"/>
                  <a:pt x="167" y="178"/>
                  <a:pt x="184" y="166"/>
                </a:cubicBezTo>
                <a:cubicBezTo>
                  <a:pt x="192" y="145"/>
                  <a:pt x="203" y="148"/>
                  <a:pt x="225" y="144"/>
                </a:cubicBezTo>
                <a:cubicBezTo>
                  <a:pt x="256" y="123"/>
                  <a:pt x="242" y="130"/>
                  <a:pt x="265" y="121"/>
                </a:cubicBezTo>
                <a:cubicBezTo>
                  <a:pt x="278" y="86"/>
                  <a:pt x="259" y="130"/>
                  <a:pt x="283" y="99"/>
                </a:cubicBezTo>
                <a:cubicBezTo>
                  <a:pt x="289" y="91"/>
                  <a:pt x="302" y="56"/>
                  <a:pt x="306" y="45"/>
                </a:cubicBezTo>
                <a:cubicBezTo>
                  <a:pt x="308" y="32"/>
                  <a:pt x="309" y="10"/>
                  <a:pt x="319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5" name="Freeform 18"/>
          <p:cNvSpPr>
            <a:spLocks/>
          </p:cNvSpPr>
          <p:nvPr/>
        </p:nvSpPr>
        <p:spPr bwMode="auto">
          <a:xfrm>
            <a:off x="7808913" y="1865313"/>
            <a:ext cx="652462" cy="252412"/>
          </a:xfrm>
          <a:custGeom>
            <a:avLst/>
            <a:gdLst>
              <a:gd name="T0" fmla="*/ 0 w 411"/>
              <a:gd name="T1" fmla="*/ 0 h 159"/>
              <a:gd name="T2" fmla="*/ 226813889 w 411"/>
              <a:gd name="T3" fmla="*/ 32761173 h 159"/>
              <a:gd name="T4" fmla="*/ 317539444 w 411"/>
              <a:gd name="T5" fmla="*/ 100806050 h 159"/>
              <a:gd name="T6" fmla="*/ 567033928 w 411"/>
              <a:gd name="T7" fmla="*/ 259574786 h 159"/>
              <a:gd name="T8" fmla="*/ 940016767 w 411"/>
              <a:gd name="T9" fmla="*/ 317539058 h 159"/>
              <a:gd name="T10" fmla="*/ 962698950 w 411"/>
              <a:gd name="T11" fmla="*/ 350300231 h 159"/>
              <a:gd name="T12" fmla="*/ 997981110 w 411"/>
              <a:gd name="T13" fmla="*/ 362901781 h 159"/>
              <a:gd name="T14" fmla="*/ 1020661705 w 411"/>
              <a:gd name="T15" fmla="*/ 395662954 h 15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11"/>
              <a:gd name="T25" fmla="*/ 0 h 159"/>
              <a:gd name="T26" fmla="*/ 411 w 411"/>
              <a:gd name="T27" fmla="*/ 159 h 15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11" h="159">
                <a:moveTo>
                  <a:pt x="0" y="0"/>
                </a:moveTo>
                <a:cubicBezTo>
                  <a:pt x="33" y="3"/>
                  <a:pt x="58" y="7"/>
                  <a:pt x="90" y="13"/>
                </a:cubicBezTo>
                <a:cubicBezTo>
                  <a:pt x="106" y="19"/>
                  <a:pt x="111" y="30"/>
                  <a:pt x="126" y="40"/>
                </a:cubicBezTo>
                <a:cubicBezTo>
                  <a:pt x="147" y="72"/>
                  <a:pt x="188" y="97"/>
                  <a:pt x="225" y="103"/>
                </a:cubicBezTo>
                <a:cubicBezTo>
                  <a:pt x="274" y="100"/>
                  <a:pt x="330" y="96"/>
                  <a:pt x="373" y="126"/>
                </a:cubicBezTo>
                <a:cubicBezTo>
                  <a:pt x="376" y="130"/>
                  <a:pt x="378" y="136"/>
                  <a:pt x="382" y="139"/>
                </a:cubicBezTo>
                <a:cubicBezTo>
                  <a:pt x="386" y="142"/>
                  <a:pt x="392" y="140"/>
                  <a:pt x="396" y="144"/>
                </a:cubicBezTo>
                <a:cubicBezTo>
                  <a:pt x="411" y="159"/>
                  <a:pt x="392" y="157"/>
                  <a:pt x="405" y="157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6" name="Text Box 19"/>
          <p:cNvSpPr txBox="1">
            <a:spLocks noChangeArrowheads="1"/>
          </p:cNvSpPr>
          <p:nvPr/>
        </p:nvSpPr>
        <p:spPr bwMode="auto">
          <a:xfrm>
            <a:off x="5880100" y="1819275"/>
            <a:ext cx="3825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v</a:t>
            </a:r>
            <a:r>
              <a:rPr lang="en-US" altLang="en-US" sz="1800" baseline="-250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207" name="Text Box 20"/>
          <p:cNvSpPr txBox="1">
            <a:spLocks noChangeArrowheads="1"/>
          </p:cNvSpPr>
          <p:nvPr/>
        </p:nvSpPr>
        <p:spPr bwMode="auto">
          <a:xfrm>
            <a:off x="6789738" y="2714625"/>
            <a:ext cx="3317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v</a:t>
            </a:r>
            <a:r>
              <a:rPr lang="en-US" altLang="en-US" sz="1800" baseline="-2500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8208" name="Text Box 21"/>
          <p:cNvSpPr txBox="1">
            <a:spLocks noChangeArrowheads="1"/>
          </p:cNvSpPr>
          <p:nvPr/>
        </p:nvSpPr>
        <p:spPr bwMode="auto">
          <a:xfrm>
            <a:off x="7556500" y="1347788"/>
            <a:ext cx="3317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v</a:t>
            </a:r>
            <a:r>
              <a:rPr lang="en-US" altLang="en-US" sz="1800" baseline="-2500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8209" name="Text Box 22"/>
          <p:cNvSpPr txBox="1">
            <a:spLocks noChangeArrowheads="1"/>
          </p:cNvSpPr>
          <p:nvPr/>
        </p:nvSpPr>
        <p:spPr bwMode="auto">
          <a:xfrm>
            <a:off x="8455025" y="2322513"/>
            <a:ext cx="374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v</a:t>
            </a:r>
            <a:r>
              <a:rPr lang="en-US" altLang="en-US" sz="1800" baseline="-2500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8210" name="Text Box 23"/>
          <p:cNvSpPr txBox="1">
            <a:spLocks noChangeArrowheads="1"/>
          </p:cNvSpPr>
          <p:nvPr/>
        </p:nvSpPr>
        <p:spPr bwMode="auto">
          <a:xfrm>
            <a:off x="6300788" y="2028825"/>
            <a:ext cx="428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p</a:t>
            </a:r>
            <a:r>
              <a:rPr lang="en-US" altLang="en-US" sz="1800" baseline="-25000">
                <a:solidFill>
                  <a:schemeClr val="tx1"/>
                </a:solidFill>
              </a:rPr>
              <a:t>1i</a:t>
            </a:r>
          </a:p>
        </p:txBody>
      </p:sp>
      <p:sp>
        <p:nvSpPr>
          <p:cNvPr id="8211" name="Text Box 24"/>
          <p:cNvSpPr txBox="1">
            <a:spLocks noChangeArrowheads="1"/>
          </p:cNvSpPr>
          <p:nvPr/>
        </p:nvSpPr>
        <p:spPr bwMode="auto">
          <a:xfrm>
            <a:off x="6805613" y="1760538"/>
            <a:ext cx="377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p</a:t>
            </a:r>
            <a:r>
              <a:rPr lang="en-US" altLang="en-US" sz="1800" baseline="-25000">
                <a:solidFill>
                  <a:schemeClr val="tx1"/>
                </a:solidFill>
              </a:rPr>
              <a:t>ij</a:t>
            </a:r>
          </a:p>
        </p:txBody>
      </p:sp>
      <p:sp>
        <p:nvSpPr>
          <p:cNvPr id="770073" name="Text Box 25"/>
          <p:cNvSpPr txBox="1">
            <a:spLocks noChangeArrowheads="1"/>
          </p:cNvSpPr>
          <p:nvPr/>
        </p:nvSpPr>
        <p:spPr bwMode="auto">
          <a:xfrm>
            <a:off x="7294563" y="2255838"/>
            <a:ext cx="428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p</a:t>
            </a:r>
            <a:r>
              <a:rPr lang="en-US" altLang="en-US" sz="1800" baseline="-25000">
                <a:solidFill>
                  <a:schemeClr val="tx1"/>
                </a:solidFill>
              </a:rPr>
              <a:t>ij</a:t>
            </a:r>
            <a:r>
              <a:rPr lang="en-US" altLang="en-US" sz="1800">
                <a:solidFill>
                  <a:schemeClr val="tx1"/>
                </a:solidFill>
              </a:rPr>
              <a:t>’</a:t>
            </a:r>
            <a:endParaRPr lang="en-US" altLang="en-US" sz="1800" baseline="-25000">
              <a:solidFill>
                <a:schemeClr val="tx1"/>
              </a:solidFill>
            </a:endParaRPr>
          </a:p>
        </p:txBody>
      </p:sp>
      <p:sp>
        <p:nvSpPr>
          <p:cNvPr id="8213" name="Text Box 26"/>
          <p:cNvSpPr txBox="1">
            <a:spLocks noChangeArrowheads="1"/>
          </p:cNvSpPr>
          <p:nvPr/>
        </p:nvSpPr>
        <p:spPr bwMode="auto">
          <a:xfrm>
            <a:off x="8001000" y="1647825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p</a:t>
            </a:r>
            <a:r>
              <a:rPr lang="en-US" altLang="en-US" sz="1800" baseline="-25000">
                <a:solidFill>
                  <a:schemeClr val="tx1"/>
                </a:solidFill>
              </a:rPr>
              <a:t>jk</a:t>
            </a:r>
          </a:p>
        </p:txBody>
      </p:sp>
    </p:spTree>
    <p:extLst>
      <p:ext uri="{BB962C8B-B14F-4D97-AF65-F5344CB8AC3E}">
        <p14:creationId xmlns:p14="http://schemas.microsoft.com/office/powerpoint/2010/main" val="15023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Shortest-Path Idea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5494" y="1030941"/>
            <a:ext cx="8655423" cy="47244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/>
          <a:p>
            <a:pPr lvl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</a:pPr>
            <a:r>
              <a:rPr lang="en-US" sz="2400" dirty="0"/>
              <a:t> Recall: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u,v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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total weight/cost of the shortest path from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0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All SSSP algorithms maintain a field d[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for every vertex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 d[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will be an estimate of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s,u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 As the algorithm progresses, we will refine d[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until, at termination, </a:t>
            </a:r>
          </a:p>
          <a:p>
            <a:pPr marL="0" marR="0" lvl="0" indent="0" algn="ctr" defTabSz="914400" rtl="0" eaLnBrk="0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s,u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0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Whenever we discover a new shortest path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we update d[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].</a:t>
            </a:r>
          </a:p>
          <a:p>
            <a:pPr marL="0" marR="0" lvl="0" indent="0" algn="l" defTabSz="914400" rtl="0" eaLnBrk="0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fact, d[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will always be an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overestimate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s,u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d[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³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s,u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We’ll use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to point to the parent (or predecessor) of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on the shortest path from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 We update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when we update d[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].</a:t>
            </a:r>
          </a:p>
          <a:p>
            <a:pPr lvl="0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</a:pPr>
            <a:r>
              <a:rPr lang="en-US" sz="2400" dirty="0"/>
              <a:t> At the end, </a:t>
            </a:r>
            <a:r>
              <a:rPr lang="en-US" sz="2400" dirty="0">
                <a:latin typeface="Symbol" pitchFamily="18" charset="2"/>
              </a:rPr>
              <a:t>p </a:t>
            </a:r>
            <a:r>
              <a:rPr lang="en-US" sz="2400" dirty="0"/>
              <a:t>will induce a tree, called </a:t>
            </a:r>
            <a:r>
              <a:rPr lang="en-US" sz="2400" b="1" dirty="0"/>
              <a:t>shortest path tree</a:t>
            </a:r>
            <a:r>
              <a:rPr lang="en-US" sz="2400" dirty="0"/>
              <a:t>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975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Initialization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lnSpc>
                <a:spcPct val="120000"/>
              </a:lnSpc>
              <a:buFontTx/>
              <a:buNone/>
            </a:pPr>
            <a:r>
              <a:rPr lang="en-US" altLang="en-US">
                <a:solidFill>
                  <a:srgbClr val="DD0111"/>
                </a:solidFill>
                <a:latin typeface="Monotype Corsiva" panose="03010101010201010101" pitchFamily="66" charset="0"/>
              </a:rPr>
              <a:t>Alg.: </a:t>
            </a:r>
            <a:r>
              <a:rPr lang="en-US" altLang="en-US"/>
              <a:t>INITIALIZE-SINGLE-SOURCE(V, s)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b="1"/>
              <a:t> for </a:t>
            </a:r>
            <a:r>
              <a:rPr lang="en-US" altLang="en-US"/>
              <a:t>each v </a:t>
            </a:r>
            <a:r>
              <a:rPr lang="en-US" altLang="en-US">
                <a:sym typeface="Symbol" panose="05050102010706020507" pitchFamily="18" charset="2"/>
              </a:rPr>
              <a:t></a:t>
            </a:r>
            <a:r>
              <a:rPr lang="en-US" altLang="en-US"/>
              <a:t> V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b="1"/>
              <a:t>       do </a:t>
            </a:r>
            <a:r>
              <a:rPr lang="en-US" altLang="en-US"/>
              <a:t>d[v] ← </a:t>
            </a:r>
            <a:r>
              <a:rPr lang="en-US" altLang="en-US">
                <a:sym typeface="Symbol" panose="05050102010706020507" pitchFamily="18" charset="2"/>
              </a:rPr>
              <a:t>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             </a:t>
            </a:r>
            <a:r>
              <a:rPr lang="en-US" altLang="en-US"/>
              <a:t>[v] ← NIL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/>
              <a:t>d[s] ← 0</a:t>
            </a:r>
          </a:p>
          <a:p>
            <a:pPr marL="533400" indent="-533400" eaLnBrk="1" hangingPunct="1">
              <a:lnSpc>
                <a:spcPct val="120000"/>
              </a:lnSpc>
              <a:buFontTx/>
              <a:buNone/>
            </a:pPr>
            <a:endParaRPr lang="en-US" altLang="en-US"/>
          </a:p>
          <a:p>
            <a:pPr marL="533400" indent="-533400" eaLnBrk="1" hangingPunct="1">
              <a:lnSpc>
                <a:spcPct val="120000"/>
              </a:lnSpc>
            </a:pPr>
            <a:r>
              <a:rPr lang="en-US" altLang="en-US"/>
              <a:t>All the shortest-paths algorithms start with INITIALIZE-SINGLE-SOURCE</a:t>
            </a:r>
          </a:p>
        </p:txBody>
      </p:sp>
    </p:spTree>
    <p:extLst>
      <p:ext uri="{BB962C8B-B14F-4D97-AF65-F5344CB8AC3E}">
        <p14:creationId xmlns:p14="http://schemas.microsoft.com/office/powerpoint/2010/main" val="3773401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Relaxation</a:t>
            </a:r>
          </a:p>
        </p:txBody>
      </p:sp>
      <p:sp>
        <p:nvSpPr>
          <p:cNvPr id="786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Relaxing </a:t>
            </a:r>
            <a:r>
              <a:rPr lang="en-US" altLang="en-US"/>
              <a:t>an edge (u, v) = testing whether we can improve the shortest path to v found so far by going through u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	If </a:t>
            </a:r>
            <a:r>
              <a:rPr lang="en-US" altLang="en-US">
                <a:latin typeface="Comic Sans MS" panose="030F0702030302020204" pitchFamily="66" charset="0"/>
              </a:rPr>
              <a:t>d[v] &gt; d[u] + w(u, v) 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		 we can improve the shortest path to v 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		 </a:t>
            </a:r>
            <a:r>
              <a:rPr lang="en-US" altLang="en-US">
                <a:sym typeface="Symbol" panose="05050102010706020507" pitchFamily="18" charset="2"/>
              </a:rPr>
              <a:t></a:t>
            </a:r>
            <a:r>
              <a:rPr lang="en-US" altLang="en-US"/>
              <a:t> update d[v] and </a:t>
            </a:r>
            <a:r>
              <a:rPr lang="en-US" altLang="en-US">
                <a:sym typeface="Symbol" panose="05050102010706020507" pitchFamily="18" charset="2"/>
              </a:rPr>
              <a:t></a:t>
            </a:r>
            <a:r>
              <a:rPr lang="en-US" altLang="en-US"/>
              <a:t>[v]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332627" y="3458913"/>
            <a:ext cx="1743075" cy="747712"/>
            <a:chOff x="717" y="2115"/>
            <a:chExt cx="1098" cy="471"/>
          </a:xfrm>
        </p:grpSpPr>
        <p:sp>
          <p:nvSpPr>
            <p:cNvPr id="11304" name="Oval 5"/>
            <p:cNvSpPr>
              <a:spLocks noChangeArrowheads="1"/>
            </p:cNvSpPr>
            <p:nvPr/>
          </p:nvSpPr>
          <p:spPr bwMode="auto">
            <a:xfrm>
              <a:off x="717" y="2321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305" name="Oval 6"/>
            <p:cNvSpPr>
              <a:spLocks noChangeArrowheads="1"/>
            </p:cNvSpPr>
            <p:nvPr/>
          </p:nvSpPr>
          <p:spPr bwMode="auto">
            <a:xfrm>
              <a:off x="1549" y="2321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1306" name="Line 7"/>
            <p:cNvSpPr>
              <a:spLocks noChangeShapeType="1"/>
            </p:cNvSpPr>
            <p:nvPr/>
          </p:nvSpPr>
          <p:spPr bwMode="auto">
            <a:xfrm>
              <a:off x="981" y="2446"/>
              <a:ext cx="5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7" name="Text Box 8"/>
            <p:cNvSpPr txBox="1">
              <a:spLocks noChangeArrowheads="1"/>
            </p:cNvSpPr>
            <p:nvPr/>
          </p:nvSpPr>
          <p:spPr bwMode="auto">
            <a:xfrm>
              <a:off x="1174" y="224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308" name="Text Box 9"/>
            <p:cNvSpPr txBox="1">
              <a:spLocks noChangeArrowheads="1"/>
            </p:cNvSpPr>
            <p:nvPr/>
          </p:nvSpPr>
          <p:spPr bwMode="auto">
            <a:xfrm>
              <a:off x="772" y="2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1309" name="Text Box 10"/>
            <p:cNvSpPr txBox="1">
              <a:spLocks noChangeArrowheads="1"/>
            </p:cNvSpPr>
            <p:nvPr/>
          </p:nvSpPr>
          <p:spPr bwMode="auto">
            <a:xfrm>
              <a:off x="1594" y="211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v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2332627" y="4974975"/>
            <a:ext cx="1743075" cy="747713"/>
            <a:chOff x="717" y="2115"/>
            <a:chExt cx="1098" cy="471"/>
          </a:xfrm>
        </p:grpSpPr>
        <p:sp>
          <p:nvSpPr>
            <p:cNvPr id="11298" name="Oval 12"/>
            <p:cNvSpPr>
              <a:spLocks noChangeArrowheads="1"/>
            </p:cNvSpPr>
            <p:nvPr/>
          </p:nvSpPr>
          <p:spPr bwMode="auto">
            <a:xfrm>
              <a:off x="717" y="2321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299" name="Oval 13"/>
            <p:cNvSpPr>
              <a:spLocks noChangeArrowheads="1"/>
            </p:cNvSpPr>
            <p:nvPr/>
          </p:nvSpPr>
          <p:spPr bwMode="auto">
            <a:xfrm>
              <a:off x="1549" y="2321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1300" name="Line 14"/>
            <p:cNvSpPr>
              <a:spLocks noChangeShapeType="1"/>
            </p:cNvSpPr>
            <p:nvPr/>
          </p:nvSpPr>
          <p:spPr bwMode="auto">
            <a:xfrm>
              <a:off x="981" y="2446"/>
              <a:ext cx="5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Text Box 15"/>
            <p:cNvSpPr txBox="1">
              <a:spLocks noChangeArrowheads="1"/>
            </p:cNvSpPr>
            <p:nvPr/>
          </p:nvSpPr>
          <p:spPr bwMode="auto">
            <a:xfrm>
              <a:off x="1174" y="224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302" name="Text Box 16"/>
            <p:cNvSpPr txBox="1">
              <a:spLocks noChangeArrowheads="1"/>
            </p:cNvSpPr>
            <p:nvPr/>
          </p:nvSpPr>
          <p:spPr bwMode="auto">
            <a:xfrm>
              <a:off x="772" y="2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1303" name="Text Box 17"/>
            <p:cNvSpPr txBox="1">
              <a:spLocks noChangeArrowheads="1"/>
            </p:cNvSpPr>
            <p:nvPr/>
          </p:nvSpPr>
          <p:spPr bwMode="auto">
            <a:xfrm>
              <a:off x="1594" y="211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v</a:t>
              </a:r>
            </a:p>
          </p:txBody>
        </p:sp>
      </p:grpSp>
      <p:sp>
        <p:nvSpPr>
          <p:cNvPr id="786450" name="AutoShape 18"/>
          <p:cNvSpPr>
            <a:spLocks noChangeArrowheads="1"/>
          </p:cNvSpPr>
          <p:nvPr/>
        </p:nvSpPr>
        <p:spPr bwMode="auto">
          <a:xfrm rot="5400000">
            <a:off x="2700134" y="4516981"/>
            <a:ext cx="979488" cy="263525"/>
          </a:xfrm>
          <a:custGeom>
            <a:avLst/>
            <a:gdLst>
              <a:gd name="T0" fmla="*/ 1510605664 w 21600"/>
              <a:gd name="T1" fmla="*/ 0 h 21600"/>
              <a:gd name="T2" fmla="*/ 0 w 21600"/>
              <a:gd name="T3" fmla="*/ 19612348 h 21600"/>
              <a:gd name="T4" fmla="*/ 1510605664 w 21600"/>
              <a:gd name="T5" fmla="*/ 39224549 h 21600"/>
              <a:gd name="T6" fmla="*/ 2014140719 w 21600"/>
              <a:gd name="T7" fmla="*/ 19612348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6451" name="Text Box 19"/>
          <p:cNvSpPr txBox="1">
            <a:spLocks noChangeArrowheads="1"/>
          </p:cNvSpPr>
          <p:nvPr/>
        </p:nvSpPr>
        <p:spPr bwMode="auto">
          <a:xfrm>
            <a:off x="3378790" y="4462213"/>
            <a:ext cx="174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RELAX(u, v, w)</a:t>
            </a:r>
          </a:p>
        </p:txBody>
      </p: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5436190" y="3468438"/>
            <a:ext cx="1743075" cy="747712"/>
            <a:chOff x="717" y="2115"/>
            <a:chExt cx="1098" cy="471"/>
          </a:xfrm>
        </p:grpSpPr>
        <p:sp>
          <p:nvSpPr>
            <p:cNvPr id="11292" name="Oval 21"/>
            <p:cNvSpPr>
              <a:spLocks noChangeArrowheads="1"/>
            </p:cNvSpPr>
            <p:nvPr/>
          </p:nvSpPr>
          <p:spPr bwMode="auto">
            <a:xfrm>
              <a:off x="717" y="2321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293" name="Oval 22"/>
            <p:cNvSpPr>
              <a:spLocks noChangeArrowheads="1"/>
            </p:cNvSpPr>
            <p:nvPr/>
          </p:nvSpPr>
          <p:spPr bwMode="auto">
            <a:xfrm>
              <a:off x="1549" y="2321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294" name="Line 23"/>
            <p:cNvSpPr>
              <a:spLocks noChangeShapeType="1"/>
            </p:cNvSpPr>
            <p:nvPr/>
          </p:nvSpPr>
          <p:spPr bwMode="auto">
            <a:xfrm>
              <a:off x="981" y="2446"/>
              <a:ext cx="5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Text Box 24"/>
            <p:cNvSpPr txBox="1">
              <a:spLocks noChangeArrowheads="1"/>
            </p:cNvSpPr>
            <p:nvPr/>
          </p:nvSpPr>
          <p:spPr bwMode="auto">
            <a:xfrm>
              <a:off x="1174" y="224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296" name="Text Box 25"/>
            <p:cNvSpPr txBox="1">
              <a:spLocks noChangeArrowheads="1"/>
            </p:cNvSpPr>
            <p:nvPr/>
          </p:nvSpPr>
          <p:spPr bwMode="auto">
            <a:xfrm>
              <a:off x="772" y="2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1297" name="Text Box 26"/>
            <p:cNvSpPr txBox="1">
              <a:spLocks noChangeArrowheads="1"/>
            </p:cNvSpPr>
            <p:nvPr/>
          </p:nvSpPr>
          <p:spPr bwMode="auto">
            <a:xfrm>
              <a:off x="1594" y="211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v</a:t>
              </a:r>
            </a:p>
          </p:txBody>
        </p:sp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5436190" y="4984500"/>
            <a:ext cx="1743075" cy="747713"/>
            <a:chOff x="717" y="2115"/>
            <a:chExt cx="1098" cy="471"/>
          </a:xfrm>
        </p:grpSpPr>
        <p:sp>
          <p:nvSpPr>
            <p:cNvPr id="11286" name="Oval 28"/>
            <p:cNvSpPr>
              <a:spLocks noChangeArrowheads="1"/>
            </p:cNvSpPr>
            <p:nvPr/>
          </p:nvSpPr>
          <p:spPr bwMode="auto">
            <a:xfrm>
              <a:off x="717" y="2321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287" name="Oval 29"/>
            <p:cNvSpPr>
              <a:spLocks noChangeArrowheads="1"/>
            </p:cNvSpPr>
            <p:nvPr/>
          </p:nvSpPr>
          <p:spPr bwMode="auto">
            <a:xfrm>
              <a:off x="1549" y="2321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288" name="Line 30"/>
            <p:cNvSpPr>
              <a:spLocks noChangeShapeType="1"/>
            </p:cNvSpPr>
            <p:nvPr/>
          </p:nvSpPr>
          <p:spPr bwMode="auto">
            <a:xfrm>
              <a:off x="981" y="2446"/>
              <a:ext cx="5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Text Box 31"/>
            <p:cNvSpPr txBox="1">
              <a:spLocks noChangeArrowheads="1"/>
            </p:cNvSpPr>
            <p:nvPr/>
          </p:nvSpPr>
          <p:spPr bwMode="auto">
            <a:xfrm>
              <a:off x="1174" y="224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290" name="Text Box 32"/>
            <p:cNvSpPr txBox="1">
              <a:spLocks noChangeArrowheads="1"/>
            </p:cNvSpPr>
            <p:nvPr/>
          </p:nvSpPr>
          <p:spPr bwMode="auto">
            <a:xfrm>
              <a:off x="772" y="2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1291" name="Text Box 33"/>
            <p:cNvSpPr txBox="1">
              <a:spLocks noChangeArrowheads="1"/>
            </p:cNvSpPr>
            <p:nvPr/>
          </p:nvSpPr>
          <p:spPr bwMode="auto">
            <a:xfrm>
              <a:off x="1594" y="211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v</a:t>
              </a:r>
            </a:p>
          </p:txBody>
        </p:sp>
      </p:grpSp>
      <p:sp>
        <p:nvSpPr>
          <p:cNvPr id="786466" name="AutoShape 34"/>
          <p:cNvSpPr>
            <a:spLocks noChangeArrowheads="1"/>
          </p:cNvSpPr>
          <p:nvPr/>
        </p:nvSpPr>
        <p:spPr bwMode="auto">
          <a:xfrm rot="5400000">
            <a:off x="5803696" y="4526506"/>
            <a:ext cx="979488" cy="263525"/>
          </a:xfrm>
          <a:custGeom>
            <a:avLst/>
            <a:gdLst>
              <a:gd name="T0" fmla="*/ 1510605664 w 21600"/>
              <a:gd name="T1" fmla="*/ 0 h 21600"/>
              <a:gd name="T2" fmla="*/ 0 w 21600"/>
              <a:gd name="T3" fmla="*/ 19612348 h 21600"/>
              <a:gd name="T4" fmla="*/ 1510605664 w 21600"/>
              <a:gd name="T5" fmla="*/ 39224549 h 21600"/>
              <a:gd name="T6" fmla="*/ 2014140719 w 21600"/>
              <a:gd name="T7" fmla="*/ 19612348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6467" name="Text Box 35"/>
          <p:cNvSpPr txBox="1">
            <a:spLocks noChangeArrowheads="1"/>
          </p:cNvSpPr>
          <p:nvPr/>
        </p:nvSpPr>
        <p:spPr bwMode="auto">
          <a:xfrm>
            <a:off x="6482352" y="4471738"/>
            <a:ext cx="174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RELAX(u, v, w)</a:t>
            </a:r>
          </a:p>
        </p:txBody>
      </p:sp>
      <p:sp>
        <p:nvSpPr>
          <p:cNvPr id="786468" name="Rectangle 36"/>
          <p:cNvSpPr>
            <a:spLocks noChangeArrowheads="1"/>
          </p:cNvSpPr>
          <p:nvPr/>
        </p:nvSpPr>
        <p:spPr bwMode="auto">
          <a:xfrm>
            <a:off x="1762714" y="6007505"/>
            <a:ext cx="58816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After relaxation: </a:t>
            </a:r>
            <a:r>
              <a:rPr lang="en-US" altLang="en-US" dirty="0">
                <a:latin typeface="Comic Sans MS" panose="030F0702030302020204" pitchFamily="66" charset="0"/>
              </a:rPr>
              <a:t>d[v]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</a:t>
            </a:r>
            <a:r>
              <a:rPr lang="en-US" altLang="en-US" dirty="0">
                <a:latin typeface="Comic Sans MS" panose="030F0702030302020204" pitchFamily="66" charset="0"/>
              </a:rPr>
              <a:t> d[u] + w(u, v)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1861140" y="3136650"/>
            <a:ext cx="1908175" cy="684213"/>
            <a:chOff x="163" y="2242"/>
            <a:chExt cx="1202" cy="431"/>
          </a:xfrm>
        </p:grpSpPr>
        <p:sp>
          <p:nvSpPr>
            <p:cNvPr id="11283" name="Oval 38"/>
            <p:cNvSpPr>
              <a:spLocks noChangeArrowheads="1"/>
            </p:cNvSpPr>
            <p:nvPr/>
          </p:nvSpPr>
          <p:spPr bwMode="auto">
            <a:xfrm>
              <a:off x="163" y="2242"/>
              <a:ext cx="238" cy="22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1284" name="Freeform 39"/>
            <p:cNvSpPr>
              <a:spLocks/>
            </p:cNvSpPr>
            <p:nvPr/>
          </p:nvSpPr>
          <p:spPr bwMode="auto">
            <a:xfrm>
              <a:off x="369" y="2442"/>
              <a:ext cx="163" cy="231"/>
            </a:xfrm>
            <a:custGeom>
              <a:avLst/>
              <a:gdLst>
                <a:gd name="T0" fmla="*/ 0 w 163"/>
                <a:gd name="T1" fmla="*/ 0 h 231"/>
                <a:gd name="T2" fmla="*/ 57 w 163"/>
                <a:gd name="T3" fmla="*/ 25 h 231"/>
                <a:gd name="T4" fmla="*/ 69 w 163"/>
                <a:gd name="T5" fmla="*/ 81 h 231"/>
                <a:gd name="T6" fmla="*/ 113 w 163"/>
                <a:gd name="T7" fmla="*/ 131 h 231"/>
                <a:gd name="T8" fmla="*/ 151 w 163"/>
                <a:gd name="T9" fmla="*/ 200 h 231"/>
                <a:gd name="T10" fmla="*/ 163 w 163"/>
                <a:gd name="T11" fmla="*/ 231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3"/>
                <a:gd name="T19" fmla="*/ 0 h 231"/>
                <a:gd name="T20" fmla="*/ 163 w 163"/>
                <a:gd name="T21" fmla="*/ 231 h 2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3" h="231">
                  <a:moveTo>
                    <a:pt x="0" y="0"/>
                  </a:moveTo>
                  <a:cubicBezTo>
                    <a:pt x="19" y="12"/>
                    <a:pt x="36" y="18"/>
                    <a:pt x="57" y="25"/>
                  </a:cubicBezTo>
                  <a:cubicBezTo>
                    <a:pt x="72" y="48"/>
                    <a:pt x="79" y="55"/>
                    <a:pt x="69" y="81"/>
                  </a:cubicBezTo>
                  <a:cubicBezTo>
                    <a:pt x="77" y="116"/>
                    <a:pt x="80" y="121"/>
                    <a:pt x="113" y="131"/>
                  </a:cubicBezTo>
                  <a:cubicBezTo>
                    <a:pt x="145" y="153"/>
                    <a:pt x="130" y="169"/>
                    <a:pt x="151" y="200"/>
                  </a:cubicBezTo>
                  <a:cubicBezTo>
                    <a:pt x="158" y="223"/>
                    <a:pt x="154" y="213"/>
                    <a:pt x="163" y="23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Freeform 40"/>
            <p:cNvSpPr>
              <a:spLocks/>
            </p:cNvSpPr>
            <p:nvPr/>
          </p:nvSpPr>
          <p:spPr bwMode="auto">
            <a:xfrm>
              <a:off x="354" y="2413"/>
              <a:ext cx="1011" cy="242"/>
            </a:xfrm>
            <a:custGeom>
              <a:avLst/>
              <a:gdLst>
                <a:gd name="T0" fmla="*/ 28 w 1011"/>
                <a:gd name="T1" fmla="*/ 10 h 242"/>
                <a:gd name="T2" fmla="*/ 72 w 1011"/>
                <a:gd name="T3" fmla="*/ 29 h 242"/>
                <a:gd name="T4" fmla="*/ 109 w 1011"/>
                <a:gd name="T5" fmla="*/ 41 h 242"/>
                <a:gd name="T6" fmla="*/ 166 w 1011"/>
                <a:gd name="T7" fmla="*/ 22 h 242"/>
                <a:gd name="T8" fmla="*/ 291 w 1011"/>
                <a:gd name="T9" fmla="*/ 41 h 242"/>
                <a:gd name="T10" fmla="*/ 441 w 1011"/>
                <a:gd name="T11" fmla="*/ 85 h 242"/>
                <a:gd name="T12" fmla="*/ 610 w 1011"/>
                <a:gd name="T13" fmla="*/ 98 h 242"/>
                <a:gd name="T14" fmla="*/ 673 w 1011"/>
                <a:gd name="T15" fmla="*/ 116 h 242"/>
                <a:gd name="T16" fmla="*/ 823 w 1011"/>
                <a:gd name="T17" fmla="*/ 166 h 242"/>
                <a:gd name="T18" fmla="*/ 955 w 1011"/>
                <a:gd name="T19" fmla="*/ 210 h 242"/>
                <a:gd name="T20" fmla="*/ 992 w 1011"/>
                <a:gd name="T21" fmla="*/ 235 h 242"/>
                <a:gd name="T22" fmla="*/ 1011 w 1011"/>
                <a:gd name="T23" fmla="*/ 242 h 24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11"/>
                <a:gd name="T37" fmla="*/ 0 h 242"/>
                <a:gd name="T38" fmla="*/ 1011 w 1011"/>
                <a:gd name="T39" fmla="*/ 242 h 24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11" h="242">
                  <a:moveTo>
                    <a:pt x="28" y="10"/>
                  </a:moveTo>
                  <a:cubicBezTo>
                    <a:pt x="85" y="28"/>
                    <a:pt x="0" y="0"/>
                    <a:pt x="72" y="29"/>
                  </a:cubicBezTo>
                  <a:cubicBezTo>
                    <a:pt x="84" y="34"/>
                    <a:pt x="109" y="41"/>
                    <a:pt x="109" y="41"/>
                  </a:cubicBezTo>
                  <a:cubicBezTo>
                    <a:pt x="153" y="27"/>
                    <a:pt x="135" y="34"/>
                    <a:pt x="166" y="22"/>
                  </a:cubicBezTo>
                  <a:cubicBezTo>
                    <a:pt x="215" y="26"/>
                    <a:pt x="247" y="27"/>
                    <a:pt x="291" y="41"/>
                  </a:cubicBezTo>
                  <a:cubicBezTo>
                    <a:pt x="343" y="76"/>
                    <a:pt x="375" y="79"/>
                    <a:pt x="441" y="85"/>
                  </a:cubicBezTo>
                  <a:cubicBezTo>
                    <a:pt x="501" y="77"/>
                    <a:pt x="552" y="84"/>
                    <a:pt x="610" y="98"/>
                  </a:cubicBezTo>
                  <a:cubicBezTo>
                    <a:pt x="631" y="103"/>
                    <a:pt x="673" y="116"/>
                    <a:pt x="673" y="116"/>
                  </a:cubicBezTo>
                  <a:cubicBezTo>
                    <a:pt x="714" y="157"/>
                    <a:pt x="768" y="162"/>
                    <a:pt x="823" y="166"/>
                  </a:cubicBezTo>
                  <a:cubicBezTo>
                    <a:pt x="873" y="175"/>
                    <a:pt x="909" y="195"/>
                    <a:pt x="955" y="210"/>
                  </a:cubicBezTo>
                  <a:cubicBezTo>
                    <a:pt x="964" y="217"/>
                    <a:pt x="982" y="230"/>
                    <a:pt x="992" y="235"/>
                  </a:cubicBezTo>
                  <a:cubicBezTo>
                    <a:pt x="998" y="238"/>
                    <a:pt x="1011" y="242"/>
                    <a:pt x="1011" y="24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4953590" y="3136650"/>
            <a:ext cx="1908175" cy="684213"/>
            <a:chOff x="163" y="2242"/>
            <a:chExt cx="1202" cy="431"/>
          </a:xfrm>
        </p:grpSpPr>
        <p:sp>
          <p:nvSpPr>
            <p:cNvPr id="11280" name="Oval 42"/>
            <p:cNvSpPr>
              <a:spLocks noChangeArrowheads="1"/>
            </p:cNvSpPr>
            <p:nvPr/>
          </p:nvSpPr>
          <p:spPr bwMode="auto">
            <a:xfrm>
              <a:off x="163" y="2242"/>
              <a:ext cx="238" cy="22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1281" name="Freeform 43"/>
            <p:cNvSpPr>
              <a:spLocks/>
            </p:cNvSpPr>
            <p:nvPr/>
          </p:nvSpPr>
          <p:spPr bwMode="auto">
            <a:xfrm>
              <a:off x="369" y="2442"/>
              <a:ext cx="163" cy="231"/>
            </a:xfrm>
            <a:custGeom>
              <a:avLst/>
              <a:gdLst>
                <a:gd name="T0" fmla="*/ 0 w 163"/>
                <a:gd name="T1" fmla="*/ 0 h 231"/>
                <a:gd name="T2" fmla="*/ 57 w 163"/>
                <a:gd name="T3" fmla="*/ 25 h 231"/>
                <a:gd name="T4" fmla="*/ 69 w 163"/>
                <a:gd name="T5" fmla="*/ 81 h 231"/>
                <a:gd name="T6" fmla="*/ 113 w 163"/>
                <a:gd name="T7" fmla="*/ 131 h 231"/>
                <a:gd name="T8" fmla="*/ 151 w 163"/>
                <a:gd name="T9" fmla="*/ 200 h 231"/>
                <a:gd name="T10" fmla="*/ 163 w 163"/>
                <a:gd name="T11" fmla="*/ 231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3"/>
                <a:gd name="T19" fmla="*/ 0 h 231"/>
                <a:gd name="T20" fmla="*/ 163 w 163"/>
                <a:gd name="T21" fmla="*/ 231 h 2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3" h="231">
                  <a:moveTo>
                    <a:pt x="0" y="0"/>
                  </a:moveTo>
                  <a:cubicBezTo>
                    <a:pt x="19" y="12"/>
                    <a:pt x="36" y="18"/>
                    <a:pt x="57" y="25"/>
                  </a:cubicBezTo>
                  <a:cubicBezTo>
                    <a:pt x="72" y="48"/>
                    <a:pt x="79" y="55"/>
                    <a:pt x="69" y="81"/>
                  </a:cubicBezTo>
                  <a:cubicBezTo>
                    <a:pt x="77" y="116"/>
                    <a:pt x="80" y="121"/>
                    <a:pt x="113" y="131"/>
                  </a:cubicBezTo>
                  <a:cubicBezTo>
                    <a:pt x="145" y="153"/>
                    <a:pt x="130" y="169"/>
                    <a:pt x="151" y="200"/>
                  </a:cubicBezTo>
                  <a:cubicBezTo>
                    <a:pt x="158" y="223"/>
                    <a:pt x="154" y="213"/>
                    <a:pt x="163" y="23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2" name="Freeform 44"/>
            <p:cNvSpPr>
              <a:spLocks/>
            </p:cNvSpPr>
            <p:nvPr/>
          </p:nvSpPr>
          <p:spPr bwMode="auto">
            <a:xfrm>
              <a:off x="354" y="2413"/>
              <a:ext cx="1011" cy="242"/>
            </a:xfrm>
            <a:custGeom>
              <a:avLst/>
              <a:gdLst>
                <a:gd name="T0" fmla="*/ 28 w 1011"/>
                <a:gd name="T1" fmla="*/ 10 h 242"/>
                <a:gd name="T2" fmla="*/ 72 w 1011"/>
                <a:gd name="T3" fmla="*/ 29 h 242"/>
                <a:gd name="T4" fmla="*/ 109 w 1011"/>
                <a:gd name="T5" fmla="*/ 41 h 242"/>
                <a:gd name="T6" fmla="*/ 166 w 1011"/>
                <a:gd name="T7" fmla="*/ 22 h 242"/>
                <a:gd name="T8" fmla="*/ 291 w 1011"/>
                <a:gd name="T9" fmla="*/ 41 h 242"/>
                <a:gd name="T10" fmla="*/ 441 w 1011"/>
                <a:gd name="T11" fmla="*/ 85 h 242"/>
                <a:gd name="T12" fmla="*/ 610 w 1011"/>
                <a:gd name="T13" fmla="*/ 98 h 242"/>
                <a:gd name="T14" fmla="*/ 673 w 1011"/>
                <a:gd name="T15" fmla="*/ 116 h 242"/>
                <a:gd name="T16" fmla="*/ 823 w 1011"/>
                <a:gd name="T17" fmla="*/ 166 h 242"/>
                <a:gd name="T18" fmla="*/ 955 w 1011"/>
                <a:gd name="T19" fmla="*/ 210 h 242"/>
                <a:gd name="T20" fmla="*/ 992 w 1011"/>
                <a:gd name="T21" fmla="*/ 235 h 242"/>
                <a:gd name="T22" fmla="*/ 1011 w 1011"/>
                <a:gd name="T23" fmla="*/ 242 h 24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11"/>
                <a:gd name="T37" fmla="*/ 0 h 242"/>
                <a:gd name="T38" fmla="*/ 1011 w 1011"/>
                <a:gd name="T39" fmla="*/ 242 h 24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11" h="242">
                  <a:moveTo>
                    <a:pt x="28" y="10"/>
                  </a:moveTo>
                  <a:cubicBezTo>
                    <a:pt x="85" y="28"/>
                    <a:pt x="0" y="0"/>
                    <a:pt x="72" y="29"/>
                  </a:cubicBezTo>
                  <a:cubicBezTo>
                    <a:pt x="84" y="34"/>
                    <a:pt x="109" y="41"/>
                    <a:pt x="109" y="41"/>
                  </a:cubicBezTo>
                  <a:cubicBezTo>
                    <a:pt x="153" y="27"/>
                    <a:pt x="135" y="34"/>
                    <a:pt x="166" y="22"/>
                  </a:cubicBezTo>
                  <a:cubicBezTo>
                    <a:pt x="215" y="26"/>
                    <a:pt x="247" y="27"/>
                    <a:pt x="291" y="41"/>
                  </a:cubicBezTo>
                  <a:cubicBezTo>
                    <a:pt x="343" y="76"/>
                    <a:pt x="375" y="79"/>
                    <a:pt x="441" y="85"/>
                  </a:cubicBezTo>
                  <a:cubicBezTo>
                    <a:pt x="501" y="77"/>
                    <a:pt x="552" y="84"/>
                    <a:pt x="610" y="98"/>
                  </a:cubicBezTo>
                  <a:cubicBezTo>
                    <a:pt x="631" y="103"/>
                    <a:pt x="673" y="116"/>
                    <a:pt x="673" y="116"/>
                  </a:cubicBezTo>
                  <a:cubicBezTo>
                    <a:pt x="714" y="157"/>
                    <a:pt x="768" y="162"/>
                    <a:pt x="823" y="166"/>
                  </a:cubicBezTo>
                  <a:cubicBezTo>
                    <a:pt x="873" y="175"/>
                    <a:pt x="909" y="195"/>
                    <a:pt x="955" y="210"/>
                  </a:cubicBezTo>
                  <a:cubicBezTo>
                    <a:pt x="964" y="217"/>
                    <a:pt x="982" y="230"/>
                    <a:pt x="992" y="235"/>
                  </a:cubicBezTo>
                  <a:cubicBezTo>
                    <a:pt x="998" y="238"/>
                    <a:pt x="1011" y="242"/>
                    <a:pt x="1011" y="24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715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6450" grpId="0" animBg="1"/>
      <p:bldP spid="786451" grpId="0"/>
      <p:bldP spid="786466" grpId="0" animBg="1"/>
      <p:bldP spid="786467" grpId="0"/>
      <p:bldP spid="7864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RELAX(u, v, w)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en-US" altLang="en-US" b="1"/>
              <a:t>if </a:t>
            </a:r>
            <a:r>
              <a:rPr lang="en-US" altLang="en-US">
                <a:latin typeface="Comic Sans MS" panose="030F0702030302020204" pitchFamily="66" charset="0"/>
              </a:rPr>
              <a:t>d[v] &gt; d[u] + w(u, v)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b="1"/>
              <a:t>   then </a:t>
            </a:r>
            <a:r>
              <a:rPr lang="en-US" altLang="en-US">
                <a:latin typeface="Comic Sans MS" panose="030F0702030302020204" pitchFamily="66" charset="0"/>
              </a:rPr>
              <a:t>d[v] ← d[u] + w(u, v)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/>
              <a:t>            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</a:t>
            </a:r>
            <a:r>
              <a:rPr lang="en-US" altLang="en-US">
                <a:latin typeface="Comic Sans MS" panose="030F0702030302020204" pitchFamily="66" charset="0"/>
              </a:rPr>
              <a:t>[v] ← u</a:t>
            </a:r>
          </a:p>
          <a:p>
            <a:pPr marL="533400" indent="-533400" eaLnBrk="1" hangingPunct="1"/>
            <a:endParaRPr lang="en-US" altLang="en-US"/>
          </a:p>
          <a:p>
            <a:pPr marL="533400" indent="-533400" eaLnBrk="1" hangingPunct="1"/>
            <a:r>
              <a:rPr lang="en-US" altLang="en-US"/>
              <a:t>All the single-source shortest-paths algorithms </a:t>
            </a:r>
          </a:p>
          <a:p>
            <a:pPr marL="914400" lvl="1" indent="-457200" eaLnBrk="1" hangingPunct="1"/>
            <a:r>
              <a:rPr lang="en-US" altLang="en-US"/>
              <a:t>start by calling INIT-SINGLE-SOURCE</a:t>
            </a:r>
          </a:p>
          <a:p>
            <a:pPr marL="914400" lvl="1" indent="-457200" eaLnBrk="1" hangingPunct="1"/>
            <a:r>
              <a:rPr lang="en-US" altLang="en-US"/>
              <a:t>then relax edges</a:t>
            </a:r>
          </a:p>
          <a:p>
            <a:pPr marL="533400" indent="-533400" eaLnBrk="1" hangingPunct="1"/>
            <a:r>
              <a:rPr lang="en-US" altLang="en-US"/>
              <a:t>The algorithms differ in the order and how many times they relax each edge</a:t>
            </a:r>
          </a:p>
        </p:txBody>
      </p:sp>
    </p:spTree>
    <p:extLst>
      <p:ext uri="{BB962C8B-B14F-4D97-AF65-F5344CB8AC3E}">
        <p14:creationId xmlns:p14="http://schemas.microsoft.com/office/powerpoint/2010/main" val="2571539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Dijkstra’s Algorithm</a:t>
            </a:r>
          </a:p>
        </p:txBody>
      </p:sp>
      <p:sp>
        <p:nvSpPr>
          <p:cNvPr id="803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dirty="0"/>
              <a:t>Single-source shortest path problem: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No negative-weight edges</a:t>
            </a:r>
            <a:r>
              <a:rPr lang="en-US" altLang="en-US" dirty="0"/>
              <a:t>: w(u, v) &gt; 0 </a:t>
            </a:r>
            <a:r>
              <a:rPr lang="en-US" altLang="en-US" dirty="0">
                <a:sym typeface="Symbol" panose="05050102010706020507" pitchFamily="18" charset="2"/>
              </a:rPr>
              <a:t>(u, v)  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dirty="0"/>
              <a:t>Maintains two sets of vertices: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dirty="0"/>
              <a:t>K = vertices whose final shortest-path weights have already been determined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dirty="0"/>
              <a:t>Q = vertices in V – K: min-priority queue</a:t>
            </a:r>
          </a:p>
          <a:p>
            <a:pPr lvl="2" eaLnBrk="1" hangingPunct="1">
              <a:lnSpc>
                <a:spcPct val="130000"/>
              </a:lnSpc>
            </a:pPr>
            <a:r>
              <a:rPr lang="en-US" altLang="en-US" dirty="0"/>
              <a:t>Keys in Q are estimates of shortest-path weights (d[v])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dirty="0"/>
              <a:t>Repeatedly select a vertex u </a:t>
            </a:r>
            <a:r>
              <a:rPr lang="en-US" altLang="en-US" dirty="0">
                <a:sym typeface="Symbol" panose="05050102010706020507" pitchFamily="18" charset="2"/>
              </a:rPr>
              <a:t> V – K, with the minimum shortest-path estimate </a:t>
            </a:r>
            <a:r>
              <a:rPr lang="en-US" altLang="en-US" dirty="0"/>
              <a:t>d[v] and RELAXs its incident edges.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967" y="644566"/>
            <a:ext cx="2040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/>
            <a:r>
              <a:rPr lang="en-US" dirty="0">
                <a:latin typeface="Agency FB" pitchFamily="34" charset="0"/>
                <a:cs typeface="Times New Roman" pitchFamily="18" charset="0"/>
              </a:rPr>
              <a:t>(pronounced “DIKE-</a:t>
            </a:r>
            <a:r>
              <a:rPr lang="en-US" dirty="0" err="1">
                <a:latin typeface="Agency FB" pitchFamily="34" charset="0"/>
                <a:cs typeface="Times New Roman" pitchFamily="18" charset="0"/>
              </a:rPr>
              <a:t>stra</a:t>
            </a:r>
            <a:r>
              <a:rPr lang="en-US" dirty="0">
                <a:latin typeface="Agency FB" pitchFamily="34" charset="0"/>
                <a:cs typeface="Times New Roman" pitchFamily="18" charset="0"/>
              </a:rPr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266335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Dijkstra (G, w, s)</a:t>
            </a:r>
          </a:p>
        </p:txBody>
      </p:sp>
      <p:sp>
        <p:nvSpPr>
          <p:cNvPr id="8048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INITIALIZE-SINGLE-SOURCE(</a:t>
            </a:r>
            <a:r>
              <a:rPr lang="en-US" altLang="en-US" dirty="0">
                <a:latin typeface="Comic Sans MS" panose="030F0702030302020204" pitchFamily="66" charset="0"/>
              </a:rPr>
              <a:t>V, s</a:t>
            </a:r>
            <a:r>
              <a:rPr lang="en-US" altLang="en-US" dirty="0"/>
              <a:t>)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K ←  </a:t>
            </a:r>
            <a:r>
              <a:rPr lang="en-US" altLang="en-US" dirty="0">
                <a:sym typeface="Symbol" panose="05050102010706020507" pitchFamily="18" charset="2"/>
              </a:rPr>
              <a:t> 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Q ← V[G]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</a:t>
            </a:r>
            <a:r>
              <a:rPr lang="en-US" altLang="en-US" b="1" dirty="0"/>
              <a:t>while </a:t>
            </a:r>
            <a:r>
              <a:rPr lang="en-US" altLang="en-US" dirty="0"/>
              <a:t>Q </a:t>
            </a:r>
            <a:r>
              <a:rPr lang="en-US" altLang="en-US" dirty="0">
                <a:sym typeface="Symbol" panose="05050102010706020507" pitchFamily="18" charset="2"/>
              </a:rPr>
              <a:t>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</a:t>
            </a:r>
            <a:endParaRPr lang="en-US" altLang="en-US" b="1" dirty="0"/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     </a:t>
            </a:r>
            <a:r>
              <a:rPr lang="en-US" altLang="en-US" b="1" dirty="0"/>
              <a:t>do</a:t>
            </a:r>
            <a:r>
              <a:rPr lang="en-US" altLang="en-US" dirty="0"/>
              <a:t> </a:t>
            </a:r>
            <a:r>
              <a:rPr lang="en-US" altLang="en-US" dirty="0">
                <a:latin typeface="Comic Sans MS" panose="030F0702030302020204" pitchFamily="66" charset="0"/>
              </a:rPr>
              <a:t>u</a:t>
            </a:r>
            <a:r>
              <a:rPr lang="en-US" altLang="en-US" dirty="0"/>
              <a:t> ← EXTRACT-MIN(Q)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          K ← K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r>
              <a:rPr lang="en-US" altLang="en-US" dirty="0"/>
              <a:t> {</a:t>
            </a:r>
            <a:r>
              <a:rPr lang="en-US" altLang="en-US" dirty="0">
                <a:latin typeface="Comic Sans MS" panose="030F0702030302020204" pitchFamily="66" charset="0"/>
              </a:rPr>
              <a:t>u</a:t>
            </a:r>
            <a:r>
              <a:rPr lang="en-US" altLang="en-US" dirty="0"/>
              <a:t>} 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          </a:t>
            </a:r>
            <a:r>
              <a:rPr lang="en-US" altLang="en-US" b="1" dirty="0"/>
              <a:t>for </a:t>
            </a:r>
            <a:r>
              <a:rPr lang="en-US" altLang="en-US" dirty="0"/>
              <a:t>each vertex </a:t>
            </a:r>
            <a:r>
              <a:rPr lang="en-US" altLang="en-US" dirty="0">
                <a:latin typeface="Comic Sans MS" panose="030F0702030302020204" pitchFamily="66" charset="0"/>
              </a:rPr>
              <a:t>v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</a:t>
            </a:r>
            <a:r>
              <a:rPr lang="en-US" altLang="en-US" dirty="0">
                <a:latin typeface="Comic Sans MS" panose="030F0702030302020204" pitchFamily="66" charset="0"/>
              </a:rPr>
              <a:t> </a:t>
            </a:r>
            <a:r>
              <a:rPr lang="en-US" altLang="en-US" dirty="0" err="1">
                <a:latin typeface="Comic Sans MS" panose="030F0702030302020204" pitchFamily="66" charset="0"/>
              </a:rPr>
              <a:t>Adj</a:t>
            </a:r>
            <a:r>
              <a:rPr lang="en-US" altLang="en-US" dirty="0">
                <a:latin typeface="Comic Sans MS" panose="030F0702030302020204" pitchFamily="66" charset="0"/>
              </a:rPr>
              <a:t>[u]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                </a:t>
            </a:r>
            <a:r>
              <a:rPr lang="en-US" altLang="en-US" b="1" dirty="0"/>
              <a:t>do </a:t>
            </a:r>
            <a:r>
              <a:rPr lang="en-US" altLang="en-US" dirty="0"/>
              <a:t>RELAX(</a:t>
            </a:r>
            <a:r>
              <a:rPr lang="en-US" altLang="en-US" dirty="0">
                <a:latin typeface="Comic Sans MS" panose="030F0702030302020204" pitchFamily="66" charset="0"/>
              </a:rPr>
              <a:t>u, v, w</a:t>
            </a:r>
            <a:r>
              <a:rPr lang="en-US" altLang="en-US" dirty="0"/>
              <a:t>)</a:t>
            </a:r>
          </a:p>
        </p:txBody>
      </p:sp>
      <p:grpSp>
        <p:nvGrpSpPr>
          <p:cNvPr id="14341" name="Group 4"/>
          <p:cNvGrpSpPr>
            <a:grpSpLocks/>
          </p:cNvGrpSpPr>
          <p:nvPr/>
        </p:nvGrpSpPr>
        <p:grpSpPr bwMode="auto">
          <a:xfrm>
            <a:off x="6099175" y="1090613"/>
            <a:ext cx="2882900" cy="2528887"/>
            <a:chOff x="1370" y="1413"/>
            <a:chExt cx="1816" cy="1593"/>
          </a:xfrm>
        </p:grpSpPr>
        <p:sp>
          <p:nvSpPr>
            <p:cNvPr id="14379" name="Oval 5"/>
            <p:cNvSpPr>
              <a:spLocks noChangeArrowheads="1"/>
            </p:cNvSpPr>
            <p:nvPr/>
          </p:nvSpPr>
          <p:spPr bwMode="auto">
            <a:xfrm>
              <a:off x="1547" y="2084"/>
              <a:ext cx="266" cy="265"/>
            </a:xfrm>
            <a:prstGeom prst="ellipse">
              <a:avLst/>
            </a:prstGeom>
            <a:solidFill>
              <a:srgbClr val="EAEAEA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4380" name="Oval 6"/>
            <p:cNvSpPr>
              <a:spLocks noChangeArrowheads="1"/>
            </p:cNvSpPr>
            <p:nvPr/>
          </p:nvSpPr>
          <p:spPr bwMode="auto">
            <a:xfrm>
              <a:off x="1976" y="1619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381" name="Oval 7"/>
            <p:cNvSpPr>
              <a:spLocks noChangeArrowheads="1"/>
            </p:cNvSpPr>
            <p:nvPr/>
          </p:nvSpPr>
          <p:spPr bwMode="auto">
            <a:xfrm>
              <a:off x="2808" y="1619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382" name="Oval 8"/>
            <p:cNvSpPr>
              <a:spLocks noChangeArrowheads="1"/>
            </p:cNvSpPr>
            <p:nvPr/>
          </p:nvSpPr>
          <p:spPr bwMode="auto">
            <a:xfrm>
              <a:off x="1976" y="2550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4383" name="Oval 9"/>
            <p:cNvSpPr>
              <a:spLocks noChangeArrowheads="1"/>
            </p:cNvSpPr>
            <p:nvPr/>
          </p:nvSpPr>
          <p:spPr bwMode="auto">
            <a:xfrm>
              <a:off x="2808" y="2550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4384" name="Line 10"/>
            <p:cNvSpPr>
              <a:spLocks noChangeShapeType="1"/>
            </p:cNvSpPr>
            <p:nvPr/>
          </p:nvSpPr>
          <p:spPr bwMode="auto">
            <a:xfrm flipV="1">
              <a:off x="1754" y="1846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Line 11"/>
            <p:cNvSpPr>
              <a:spLocks noChangeShapeType="1"/>
            </p:cNvSpPr>
            <p:nvPr/>
          </p:nvSpPr>
          <p:spPr bwMode="auto">
            <a:xfrm>
              <a:off x="1755" y="2314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6" name="Text Box 12"/>
            <p:cNvSpPr txBox="1">
              <a:spLocks noChangeArrowheads="1"/>
            </p:cNvSpPr>
            <p:nvPr/>
          </p:nvSpPr>
          <p:spPr bwMode="auto">
            <a:xfrm>
              <a:off x="1667" y="1819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4387" name="Text Box 13"/>
            <p:cNvSpPr txBox="1">
              <a:spLocks noChangeArrowheads="1"/>
            </p:cNvSpPr>
            <p:nvPr/>
          </p:nvSpPr>
          <p:spPr bwMode="auto">
            <a:xfrm>
              <a:off x="2419" y="148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388" name="Text Box 14"/>
            <p:cNvSpPr txBox="1">
              <a:spLocks noChangeArrowheads="1"/>
            </p:cNvSpPr>
            <p:nvPr/>
          </p:nvSpPr>
          <p:spPr bwMode="auto">
            <a:xfrm>
              <a:off x="1744" y="2381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4389" name="Text Box 15"/>
            <p:cNvSpPr txBox="1">
              <a:spLocks noChangeArrowheads="1"/>
            </p:cNvSpPr>
            <p:nvPr/>
          </p:nvSpPr>
          <p:spPr bwMode="auto">
            <a:xfrm>
              <a:off x="2439" y="2661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390" name="Text Box 16"/>
            <p:cNvSpPr txBox="1">
              <a:spLocks noChangeArrowheads="1"/>
            </p:cNvSpPr>
            <p:nvPr/>
          </p:nvSpPr>
          <p:spPr bwMode="auto">
            <a:xfrm>
              <a:off x="1370" y="2096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4391" name="Text Box 17"/>
            <p:cNvSpPr txBox="1">
              <a:spLocks noChangeArrowheads="1"/>
            </p:cNvSpPr>
            <p:nvPr/>
          </p:nvSpPr>
          <p:spPr bwMode="auto">
            <a:xfrm>
              <a:off x="2031" y="1413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14392" name="Text Box 18"/>
            <p:cNvSpPr txBox="1">
              <a:spLocks noChangeArrowheads="1"/>
            </p:cNvSpPr>
            <p:nvPr/>
          </p:nvSpPr>
          <p:spPr bwMode="auto">
            <a:xfrm>
              <a:off x="2853" y="141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4393" name="Text Box 19"/>
            <p:cNvSpPr txBox="1">
              <a:spLocks noChangeArrowheads="1"/>
            </p:cNvSpPr>
            <p:nvPr/>
          </p:nvSpPr>
          <p:spPr bwMode="auto">
            <a:xfrm>
              <a:off x="2015" y="277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4394" name="Text Box 20"/>
            <p:cNvSpPr txBox="1">
              <a:spLocks noChangeArrowheads="1"/>
            </p:cNvSpPr>
            <p:nvPr/>
          </p:nvSpPr>
          <p:spPr bwMode="auto">
            <a:xfrm>
              <a:off x="2869" y="277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14395" name="Line 21"/>
            <p:cNvSpPr>
              <a:spLocks noChangeShapeType="1"/>
            </p:cNvSpPr>
            <p:nvPr/>
          </p:nvSpPr>
          <p:spPr bwMode="auto">
            <a:xfrm flipV="1">
              <a:off x="2246" y="2691"/>
              <a:ext cx="5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Line 22"/>
            <p:cNvSpPr>
              <a:spLocks noChangeShapeType="1"/>
            </p:cNvSpPr>
            <p:nvPr/>
          </p:nvSpPr>
          <p:spPr bwMode="auto">
            <a:xfrm flipV="1">
              <a:off x="2177" y="1837"/>
              <a:ext cx="670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7" name="Line 23"/>
            <p:cNvSpPr>
              <a:spLocks noChangeShapeType="1"/>
            </p:cNvSpPr>
            <p:nvPr/>
          </p:nvSpPr>
          <p:spPr bwMode="auto">
            <a:xfrm flipH="1" flipV="1">
              <a:off x="1799" y="2265"/>
              <a:ext cx="1031" cy="3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8" name="Text Box 24"/>
            <p:cNvSpPr txBox="1">
              <a:spLocks noChangeArrowheads="1"/>
            </p:cNvSpPr>
            <p:nvPr/>
          </p:nvSpPr>
          <p:spPr bwMode="auto">
            <a:xfrm>
              <a:off x="1864" y="202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399" name="Text Box 25"/>
            <p:cNvSpPr txBox="1">
              <a:spLocks noChangeArrowheads="1"/>
            </p:cNvSpPr>
            <p:nvPr/>
          </p:nvSpPr>
          <p:spPr bwMode="auto">
            <a:xfrm>
              <a:off x="2165" y="204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4400" name="Text Box 26"/>
            <p:cNvSpPr txBox="1">
              <a:spLocks noChangeArrowheads="1"/>
            </p:cNvSpPr>
            <p:nvPr/>
          </p:nvSpPr>
          <p:spPr bwMode="auto">
            <a:xfrm>
              <a:off x="2578" y="1813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4401" name="Text Box 27"/>
            <p:cNvSpPr txBox="1">
              <a:spLocks noChangeArrowheads="1"/>
            </p:cNvSpPr>
            <p:nvPr/>
          </p:nvSpPr>
          <p:spPr bwMode="auto">
            <a:xfrm>
              <a:off x="2478" y="2358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4402" name="Freeform 28"/>
            <p:cNvSpPr>
              <a:spLocks/>
            </p:cNvSpPr>
            <p:nvPr/>
          </p:nvSpPr>
          <p:spPr bwMode="auto">
            <a:xfrm rot="5400000">
              <a:off x="1820" y="21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3" name="Freeform 29"/>
            <p:cNvSpPr>
              <a:spLocks/>
            </p:cNvSpPr>
            <p:nvPr/>
          </p:nvSpPr>
          <p:spPr bwMode="auto">
            <a:xfrm rot="5400000" flipH="1" flipV="1">
              <a:off x="1692" y="21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Line 30"/>
            <p:cNvSpPr>
              <a:spLocks noChangeShapeType="1"/>
            </p:cNvSpPr>
            <p:nvPr/>
          </p:nvSpPr>
          <p:spPr bwMode="auto">
            <a:xfrm flipV="1">
              <a:off x="2264" y="1749"/>
              <a:ext cx="5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5" name="Text Box 31"/>
            <p:cNvSpPr txBox="1">
              <a:spLocks noChangeArrowheads="1"/>
            </p:cNvSpPr>
            <p:nvPr/>
          </p:nvSpPr>
          <p:spPr bwMode="auto">
            <a:xfrm>
              <a:off x="2698" y="202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406" name="Text Box 32"/>
            <p:cNvSpPr txBox="1">
              <a:spLocks noChangeArrowheads="1"/>
            </p:cNvSpPr>
            <p:nvPr/>
          </p:nvSpPr>
          <p:spPr bwMode="auto">
            <a:xfrm>
              <a:off x="2999" y="204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4407" name="Freeform 33"/>
            <p:cNvSpPr>
              <a:spLocks/>
            </p:cNvSpPr>
            <p:nvPr/>
          </p:nvSpPr>
          <p:spPr bwMode="auto">
            <a:xfrm rot="5400000">
              <a:off x="2654" y="21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8" name="Freeform 34"/>
            <p:cNvSpPr>
              <a:spLocks/>
            </p:cNvSpPr>
            <p:nvPr/>
          </p:nvSpPr>
          <p:spPr bwMode="auto">
            <a:xfrm rot="5400000" flipH="1" flipV="1">
              <a:off x="2526" y="21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6099175" y="3576638"/>
            <a:ext cx="2882900" cy="2528887"/>
            <a:chOff x="1370" y="1413"/>
            <a:chExt cx="1816" cy="1593"/>
          </a:xfrm>
        </p:grpSpPr>
        <p:sp>
          <p:nvSpPr>
            <p:cNvPr id="14349" name="Oval 36"/>
            <p:cNvSpPr>
              <a:spLocks noChangeArrowheads="1"/>
            </p:cNvSpPr>
            <p:nvPr/>
          </p:nvSpPr>
          <p:spPr bwMode="auto">
            <a:xfrm>
              <a:off x="1547" y="2084"/>
              <a:ext cx="266" cy="265"/>
            </a:xfrm>
            <a:prstGeom prst="ellipse">
              <a:avLst/>
            </a:prstGeom>
            <a:solidFill>
              <a:schemeClr val="tx1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4350" name="Oval 37"/>
            <p:cNvSpPr>
              <a:spLocks noChangeArrowheads="1"/>
            </p:cNvSpPr>
            <p:nvPr/>
          </p:nvSpPr>
          <p:spPr bwMode="auto">
            <a:xfrm>
              <a:off x="1976" y="1619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351" name="Oval 38"/>
            <p:cNvSpPr>
              <a:spLocks noChangeArrowheads="1"/>
            </p:cNvSpPr>
            <p:nvPr/>
          </p:nvSpPr>
          <p:spPr bwMode="auto">
            <a:xfrm>
              <a:off x="2808" y="1619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352" name="Oval 39"/>
            <p:cNvSpPr>
              <a:spLocks noChangeArrowheads="1"/>
            </p:cNvSpPr>
            <p:nvPr/>
          </p:nvSpPr>
          <p:spPr bwMode="auto">
            <a:xfrm>
              <a:off x="1976" y="2550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4353" name="Oval 40"/>
            <p:cNvSpPr>
              <a:spLocks noChangeArrowheads="1"/>
            </p:cNvSpPr>
            <p:nvPr/>
          </p:nvSpPr>
          <p:spPr bwMode="auto">
            <a:xfrm>
              <a:off x="2808" y="2550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4354" name="Line 41"/>
            <p:cNvSpPr>
              <a:spLocks noChangeShapeType="1"/>
            </p:cNvSpPr>
            <p:nvPr/>
          </p:nvSpPr>
          <p:spPr bwMode="auto">
            <a:xfrm flipV="1">
              <a:off x="1754" y="1846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Line 42"/>
            <p:cNvSpPr>
              <a:spLocks noChangeShapeType="1"/>
            </p:cNvSpPr>
            <p:nvPr/>
          </p:nvSpPr>
          <p:spPr bwMode="auto">
            <a:xfrm>
              <a:off x="1755" y="2314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6" name="Text Box 43"/>
            <p:cNvSpPr txBox="1">
              <a:spLocks noChangeArrowheads="1"/>
            </p:cNvSpPr>
            <p:nvPr/>
          </p:nvSpPr>
          <p:spPr bwMode="auto">
            <a:xfrm>
              <a:off x="1667" y="1819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4357" name="Text Box 44"/>
            <p:cNvSpPr txBox="1">
              <a:spLocks noChangeArrowheads="1"/>
            </p:cNvSpPr>
            <p:nvPr/>
          </p:nvSpPr>
          <p:spPr bwMode="auto">
            <a:xfrm>
              <a:off x="2419" y="148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358" name="Text Box 45"/>
            <p:cNvSpPr txBox="1">
              <a:spLocks noChangeArrowheads="1"/>
            </p:cNvSpPr>
            <p:nvPr/>
          </p:nvSpPr>
          <p:spPr bwMode="auto">
            <a:xfrm>
              <a:off x="1744" y="2381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4359" name="Text Box 46"/>
            <p:cNvSpPr txBox="1">
              <a:spLocks noChangeArrowheads="1"/>
            </p:cNvSpPr>
            <p:nvPr/>
          </p:nvSpPr>
          <p:spPr bwMode="auto">
            <a:xfrm>
              <a:off x="2439" y="2661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360" name="Text Box 47"/>
            <p:cNvSpPr txBox="1">
              <a:spLocks noChangeArrowheads="1"/>
            </p:cNvSpPr>
            <p:nvPr/>
          </p:nvSpPr>
          <p:spPr bwMode="auto">
            <a:xfrm>
              <a:off x="1370" y="2096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4361" name="Text Box 48"/>
            <p:cNvSpPr txBox="1">
              <a:spLocks noChangeArrowheads="1"/>
            </p:cNvSpPr>
            <p:nvPr/>
          </p:nvSpPr>
          <p:spPr bwMode="auto">
            <a:xfrm>
              <a:off x="2031" y="1413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14362" name="Text Box 49"/>
            <p:cNvSpPr txBox="1">
              <a:spLocks noChangeArrowheads="1"/>
            </p:cNvSpPr>
            <p:nvPr/>
          </p:nvSpPr>
          <p:spPr bwMode="auto">
            <a:xfrm>
              <a:off x="2853" y="141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4363" name="Text Box 50"/>
            <p:cNvSpPr txBox="1">
              <a:spLocks noChangeArrowheads="1"/>
            </p:cNvSpPr>
            <p:nvPr/>
          </p:nvSpPr>
          <p:spPr bwMode="auto">
            <a:xfrm>
              <a:off x="2015" y="277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4364" name="Text Box 51"/>
            <p:cNvSpPr txBox="1">
              <a:spLocks noChangeArrowheads="1"/>
            </p:cNvSpPr>
            <p:nvPr/>
          </p:nvSpPr>
          <p:spPr bwMode="auto">
            <a:xfrm>
              <a:off x="2869" y="277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14365" name="Line 52"/>
            <p:cNvSpPr>
              <a:spLocks noChangeShapeType="1"/>
            </p:cNvSpPr>
            <p:nvPr/>
          </p:nvSpPr>
          <p:spPr bwMode="auto">
            <a:xfrm flipV="1">
              <a:off x="2246" y="2691"/>
              <a:ext cx="5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Line 53"/>
            <p:cNvSpPr>
              <a:spLocks noChangeShapeType="1"/>
            </p:cNvSpPr>
            <p:nvPr/>
          </p:nvSpPr>
          <p:spPr bwMode="auto">
            <a:xfrm flipV="1">
              <a:off x="2177" y="1837"/>
              <a:ext cx="670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Line 54"/>
            <p:cNvSpPr>
              <a:spLocks noChangeShapeType="1"/>
            </p:cNvSpPr>
            <p:nvPr/>
          </p:nvSpPr>
          <p:spPr bwMode="auto">
            <a:xfrm flipH="1" flipV="1">
              <a:off x="1799" y="2265"/>
              <a:ext cx="1031" cy="3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Text Box 55"/>
            <p:cNvSpPr txBox="1">
              <a:spLocks noChangeArrowheads="1"/>
            </p:cNvSpPr>
            <p:nvPr/>
          </p:nvSpPr>
          <p:spPr bwMode="auto">
            <a:xfrm>
              <a:off x="1864" y="202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369" name="Text Box 56"/>
            <p:cNvSpPr txBox="1">
              <a:spLocks noChangeArrowheads="1"/>
            </p:cNvSpPr>
            <p:nvPr/>
          </p:nvSpPr>
          <p:spPr bwMode="auto">
            <a:xfrm>
              <a:off x="2165" y="204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4370" name="Text Box 57"/>
            <p:cNvSpPr txBox="1">
              <a:spLocks noChangeArrowheads="1"/>
            </p:cNvSpPr>
            <p:nvPr/>
          </p:nvSpPr>
          <p:spPr bwMode="auto">
            <a:xfrm>
              <a:off x="2578" y="1813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4371" name="Text Box 58"/>
            <p:cNvSpPr txBox="1">
              <a:spLocks noChangeArrowheads="1"/>
            </p:cNvSpPr>
            <p:nvPr/>
          </p:nvSpPr>
          <p:spPr bwMode="auto">
            <a:xfrm>
              <a:off x="2478" y="2358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4372" name="Freeform 59"/>
            <p:cNvSpPr>
              <a:spLocks/>
            </p:cNvSpPr>
            <p:nvPr/>
          </p:nvSpPr>
          <p:spPr bwMode="auto">
            <a:xfrm rot="5400000">
              <a:off x="1820" y="21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Freeform 60"/>
            <p:cNvSpPr>
              <a:spLocks/>
            </p:cNvSpPr>
            <p:nvPr/>
          </p:nvSpPr>
          <p:spPr bwMode="auto">
            <a:xfrm rot="5400000" flipH="1" flipV="1">
              <a:off x="1692" y="21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Line 61"/>
            <p:cNvSpPr>
              <a:spLocks noChangeShapeType="1"/>
            </p:cNvSpPr>
            <p:nvPr/>
          </p:nvSpPr>
          <p:spPr bwMode="auto">
            <a:xfrm flipV="1">
              <a:off x="2264" y="1749"/>
              <a:ext cx="5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Text Box 62"/>
            <p:cNvSpPr txBox="1">
              <a:spLocks noChangeArrowheads="1"/>
            </p:cNvSpPr>
            <p:nvPr/>
          </p:nvSpPr>
          <p:spPr bwMode="auto">
            <a:xfrm>
              <a:off x="2698" y="202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376" name="Text Box 63"/>
            <p:cNvSpPr txBox="1">
              <a:spLocks noChangeArrowheads="1"/>
            </p:cNvSpPr>
            <p:nvPr/>
          </p:nvSpPr>
          <p:spPr bwMode="auto">
            <a:xfrm>
              <a:off x="2999" y="204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4377" name="Freeform 64"/>
            <p:cNvSpPr>
              <a:spLocks/>
            </p:cNvSpPr>
            <p:nvPr/>
          </p:nvSpPr>
          <p:spPr bwMode="auto">
            <a:xfrm rot="5400000">
              <a:off x="2654" y="21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8" name="Freeform 65"/>
            <p:cNvSpPr>
              <a:spLocks/>
            </p:cNvSpPr>
            <p:nvPr/>
          </p:nvSpPr>
          <p:spPr bwMode="auto">
            <a:xfrm rot="5400000" flipH="1" flipV="1">
              <a:off x="2526" y="21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6699250" y="3962400"/>
            <a:ext cx="738188" cy="695325"/>
            <a:chOff x="4220" y="2496"/>
            <a:chExt cx="465" cy="438"/>
          </a:xfrm>
        </p:grpSpPr>
        <p:sp>
          <p:nvSpPr>
            <p:cNvPr id="14347" name="Line 67"/>
            <p:cNvSpPr>
              <a:spLocks noChangeShapeType="1"/>
            </p:cNvSpPr>
            <p:nvPr/>
          </p:nvSpPr>
          <p:spPr bwMode="auto">
            <a:xfrm flipV="1">
              <a:off x="4220" y="2676"/>
              <a:ext cx="282" cy="258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Oval 68"/>
            <p:cNvSpPr>
              <a:spLocks noChangeArrowheads="1"/>
            </p:cNvSpPr>
            <p:nvPr/>
          </p:nvSpPr>
          <p:spPr bwMode="auto">
            <a:xfrm>
              <a:off x="4465" y="2496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10</a:t>
              </a:r>
            </a:p>
          </p:txBody>
        </p:sp>
      </p:grpSp>
      <p:grpSp>
        <p:nvGrpSpPr>
          <p:cNvPr id="5" name="Group 69"/>
          <p:cNvGrpSpPr>
            <a:grpSpLocks/>
          </p:cNvGrpSpPr>
          <p:nvPr/>
        </p:nvGrpSpPr>
        <p:grpSpPr bwMode="auto">
          <a:xfrm>
            <a:off x="6727825" y="5010150"/>
            <a:ext cx="709613" cy="752475"/>
            <a:chOff x="4238" y="3156"/>
            <a:chExt cx="447" cy="474"/>
          </a:xfrm>
        </p:grpSpPr>
        <p:sp>
          <p:nvSpPr>
            <p:cNvPr id="14345" name="Line 70"/>
            <p:cNvSpPr>
              <a:spLocks noChangeShapeType="1"/>
            </p:cNvSpPr>
            <p:nvPr/>
          </p:nvSpPr>
          <p:spPr bwMode="auto">
            <a:xfrm rot="5400000" flipV="1">
              <a:off x="4226" y="3168"/>
              <a:ext cx="282" cy="258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Oval 71"/>
            <p:cNvSpPr>
              <a:spLocks noChangeArrowheads="1"/>
            </p:cNvSpPr>
            <p:nvPr/>
          </p:nvSpPr>
          <p:spPr bwMode="auto">
            <a:xfrm>
              <a:off x="4465" y="3432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99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5364" name="Group 3"/>
          <p:cNvGrpSpPr>
            <a:grpSpLocks/>
          </p:cNvGrpSpPr>
          <p:nvPr/>
        </p:nvGrpSpPr>
        <p:grpSpPr bwMode="auto">
          <a:xfrm>
            <a:off x="869950" y="1204913"/>
            <a:ext cx="2882900" cy="2528887"/>
            <a:chOff x="200" y="759"/>
            <a:chExt cx="1816" cy="1593"/>
          </a:xfrm>
        </p:grpSpPr>
        <p:sp>
          <p:nvSpPr>
            <p:cNvPr id="15493" name="Oval 4"/>
            <p:cNvSpPr>
              <a:spLocks noChangeArrowheads="1"/>
            </p:cNvSpPr>
            <p:nvPr/>
          </p:nvSpPr>
          <p:spPr bwMode="auto">
            <a:xfrm>
              <a:off x="377" y="1430"/>
              <a:ext cx="266" cy="265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5494" name="Oval 5"/>
            <p:cNvSpPr>
              <a:spLocks noChangeArrowheads="1"/>
            </p:cNvSpPr>
            <p:nvPr/>
          </p:nvSpPr>
          <p:spPr bwMode="auto">
            <a:xfrm>
              <a:off x="806" y="96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15495" name="Oval 6"/>
            <p:cNvSpPr>
              <a:spLocks noChangeArrowheads="1"/>
            </p:cNvSpPr>
            <p:nvPr/>
          </p:nvSpPr>
          <p:spPr bwMode="auto">
            <a:xfrm>
              <a:off x="1638" y="96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5496" name="Oval 7"/>
            <p:cNvSpPr>
              <a:spLocks noChangeArrowheads="1"/>
            </p:cNvSpPr>
            <p:nvPr/>
          </p:nvSpPr>
          <p:spPr bwMode="auto">
            <a:xfrm>
              <a:off x="806" y="1896"/>
              <a:ext cx="266" cy="265"/>
            </a:xfrm>
            <a:prstGeom prst="ellipse">
              <a:avLst/>
            </a:prstGeom>
            <a:solidFill>
              <a:schemeClr val="tx1"/>
            </a:solidFill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bg1"/>
                  </a:solidFill>
                  <a:sym typeface="Symbol" panose="05050102010706020507" pitchFamily="18" charset="2"/>
                </a:rPr>
                <a:t>5</a:t>
              </a:r>
              <a:endParaRPr lang="en-US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15497" name="Oval 8"/>
            <p:cNvSpPr>
              <a:spLocks noChangeArrowheads="1"/>
            </p:cNvSpPr>
            <p:nvPr/>
          </p:nvSpPr>
          <p:spPr bwMode="auto">
            <a:xfrm>
              <a:off x="1638" y="1896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498" name="Line 9"/>
            <p:cNvSpPr>
              <a:spLocks noChangeShapeType="1"/>
            </p:cNvSpPr>
            <p:nvPr/>
          </p:nvSpPr>
          <p:spPr bwMode="auto">
            <a:xfrm flipV="1">
              <a:off x="584" y="1192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9" name="Line 10"/>
            <p:cNvSpPr>
              <a:spLocks noChangeShapeType="1"/>
            </p:cNvSpPr>
            <p:nvPr/>
          </p:nvSpPr>
          <p:spPr bwMode="auto">
            <a:xfrm>
              <a:off x="585" y="1660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0" name="Text Box 11"/>
            <p:cNvSpPr txBox="1">
              <a:spLocks noChangeArrowheads="1"/>
            </p:cNvSpPr>
            <p:nvPr/>
          </p:nvSpPr>
          <p:spPr bwMode="auto">
            <a:xfrm>
              <a:off x="497" y="1165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501" name="Text Box 12"/>
            <p:cNvSpPr txBox="1">
              <a:spLocks noChangeArrowheads="1"/>
            </p:cNvSpPr>
            <p:nvPr/>
          </p:nvSpPr>
          <p:spPr bwMode="auto">
            <a:xfrm>
              <a:off x="1249" y="828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5502" name="Text Box 13"/>
            <p:cNvSpPr txBox="1">
              <a:spLocks noChangeArrowheads="1"/>
            </p:cNvSpPr>
            <p:nvPr/>
          </p:nvSpPr>
          <p:spPr bwMode="auto">
            <a:xfrm>
              <a:off x="574" y="172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5503" name="Text Box 14"/>
            <p:cNvSpPr txBox="1">
              <a:spLocks noChangeArrowheads="1"/>
            </p:cNvSpPr>
            <p:nvPr/>
          </p:nvSpPr>
          <p:spPr bwMode="auto">
            <a:xfrm>
              <a:off x="1269" y="200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504" name="Text Box 15"/>
            <p:cNvSpPr txBox="1">
              <a:spLocks noChangeArrowheads="1"/>
            </p:cNvSpPr>
            <p:nvPr/>
          </p:nvSpPr>
          <p:spPr bwMode="auto">
            <a:xfrm>
              <a:off x="200" y="144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5505" name="Text Box 16"/>
            <p:cNvSpPr txBox="1">
              <a:spLocks noChangeArrowheads="1"/>
            </p:cNvSpPr>
            <p:nvPr/>
          </p:nvSpPr>
          <p:spPr bwMode="auto">
            <a:xfrm>
              <a:off x="861" y="759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15506" name="Text Box 17"/>
            <p:cNvSpPr txBox="1">
              <a:spLocks noChangeArrowheads="1"/>
            </p:cNvSpPr>
            <p:nvPr/>
          </p:nvSpPr>
          <p:spPr bwMode="auto">
            <a:xfrm>
              <a:off x="1683" y="75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5507" name="Text Box 18"/>
            <p:cNvSpPr txBox="1">
              <a:spLocks noChangeArrowheads="1"/>
            </p:cNvSpPr>
            <p:nvPr/>
          </p:nvSpPr>
          <p:spPr bwMode="auto">
            <a:xfrm>
              <a:off x="845" y="212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5508" name="Text Box 19"/>
            <p:cNvSpPr txBox="1">
              <a:spLocks noChangeArrowheads="1"/>
            </p:cNvSpPr>
            <p:nvPr/>
          </p:nvSpPr>
          <p:spPr bwMode="auto">
            <a:xfrm>
              <a:off x="1699" y="212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15509" name="Line 20"/>
            <p:cNvSpPr>
              <a:spLocks noChangeShapeType="1"/>
            </p:cNvSpPr>
            <p:nvPr/>
          </p:nvSpPr>
          <p:spPr bwMode="auto">
            <a:xfrm flipV="1">
              <a:off x="1076" y="2037"/>
              <a:ext cx="5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0" name="Line 21"/>
            <p:cNvSpPr>
              <a:spLocks noChangeShapeType="1"/>
            </p:cNvSpPr>
            <p:nvPr/>
          </p:nvSpPr>
          <p:spPr bwMode="auto">
            <a:xfrm flipV="1">
              <a:off x="1007" y="1183"/>
              <a:ext cx="670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1" name="Line 22"/>
            <p:cNvSpPr>
              <a:spLocks noChangeShapeType="1"/>
            </p:cNvSpPr>
            <p:nvPr/>
          </p:nvSpPr>
          <p:spPr bwMode="auto">
            <a:xfrm flipH="1" flipV="1">
              <a:off x="629" y="1611"/>
              <a:ext cx="1031" cy="3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2" name="Text Box 23"/>
            <p:cNvSpPr txBox="1">
              <a:spLocks noChangeArrowheads="1"/>
            </p:cNvSpPr>
            <p:nvPr/>
          </p:nvSpPr>
          <p:spPr bwMode="auto">
            <a:xfrm>
              <a:off x="694" y="1375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513" name="Text Box 24"/>
            <p:cNvSpPr txBox="1">
              <a:spLocks noChangeArrowheads="1"/>
            </p:cNvSpPr>
            <p:nvPr/>
          </p:nvSpPr>
          <p:spPr bwMode="auto">
            <a:xfrm>
              <a:off x="995" y="1395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514" name="Text Box 25"/>
            <p:cNvSpPr txBox="1">
              <a:spLocks noChangeArrowheads="1"/>
            </p:cNvSpPr>
            <p:nvPr/>
          </p:nvSpPr>
          <p:spPr bwMode="auto">
            <a:xfrm>
              <a:off x="1408" y="115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5515" name="Text Box 26"/>
            <p:cNvSpPr txBox="1">
              <a:spLocks noChangeArrowheads="1"/>
            </p:cNvSpPr>
            <p:nvPr/>
          </p:nvSpPr>
          <p:spPr bwMode="auto">
            <a:xfrm>
              <a:off x="1308" y="1704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5516" name="Freeform 27"/>
            <p:cNvSpPr>
              <a:spLocks/>
            </p:cNvSpPr>
            <p:nvPr/>
          </p:nvSpPr>
          <p:spPr bwMode="auto">
            <a:xfrm rot="5400000">
              <a:off x="650" y="1537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7" name="Freeform 28"/>
            <p:cNvSpPr>
              <a:spLocks/>
            </p:cNvSpPr>
            <p:nvPr/>
          </p:nvSpPr>
          <p:spPr bwMode="auto">
            <a:xfrm rot="5400000" flipH="1" flipV="1">
              <a:off x="522" y="1537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8" name="Line 29"/>
            <p:cNvSpPr>
              <a:spLocks noChangeShapeType="1"/>
            </p:cNvSpPr>
            <p:nvPr/>
          </p:nvSpPr>
          <p:spPr bwMode="auto">
            <a:xfrm flipV="1">
              <a:off x="1094" y="1095"/>
              <a:ext cx="5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9" name="Text Box 30"/>
            <p:cNvSpPr txBox="1">
              <a:spLocks noChangeArrowheads="1"/>
            </p:cNvSpPr>
            <p:nvPr/>
          </p:nvSpPr>
          <p:spPr bwMode="auto">
            <a:xfrm>
              <a:off x="1528" y="1375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5520" name="Text Box 31"/>
            <p:cNvSpPr txBox="1">
              <a:spLocks noChangeArrowheads="1"/>
            </p:cNvSpPr>
            <p:nvPr/>
          </p:nvSpPr>
          <p:spPr bwMode="auto">
            <a:xfrm>
              <a:off x="1829" y="1395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5521" name="Freeform 32"/>
            <p:cNvSpPr>
              <a:spLocks/>
            </p:cNvSpPr>
            <p:nvPr/>
          </p:nvSpPr>
          <p:spPr bwMode="auto">
            <a:xfrm rot="5400000">
              <a:off x="1484" y="1537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2" name="Freeform 33"/>
            <p:cNvSpPr>
              <a:spLocks/>
            </p:cNvSpPr>
            <p:nvPr/>
          </p:nvSpPr>
          <p:spPr bwMode="auto">
            <a:xfrm rot="5400000" flipH="1" flipV="1">
              <a:off x="1356" y="1537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3" name="Line 34"/>
            <p:cNvSpPr>
              <a:spLocks noChangeShapeType="1"/>
            </p:cNvSpPr>
            <p:nvPr/>
          </p:nvSpPr>
          <p:spPr bwMode="auto">
            <a:xfrm rot="5400000" flipV="1">
              <a:off x="584" y="1674"/>
              <a:ext cx="282" cy="258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05923" name="Line 35"/>
          <p:cNvSpPr>
            <a:spLocks noChangeShapeType="1"/>
          </p:cNvSpPr>
          <p:nvPr/>
        </p:nvSpPr>
        <p:spPr bwMode="auto">
          <a:xfrm flipV="1">
            <a:off x="1470025" y="1885950"/>
            <a:ext cx="447675" cy="409575"/>
          </a:xfrm>
          <a:prstGeom prst="line">
            <a:avLst/>
          </a:prstGeom>
          <a:noFill/>
          <a:ln w="57150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1868488" y="1571625"/>
            <a:ext cx="349250" cy="1431925"/>
            <a:chOff x="829" y="1002"/>
            <a:chExt cx="220" cy="902"/>
          </a:xfrm>
        </p:grpSpPr>
        <p:sp>
          <p:nvSpPr>
            <p:cNvPr id="15491" name="Freeform 37"/>
            <p:cNvSpPr>
              <a:spLocks/>
            </p:cNvSpPr>
            <p:nvPr/>
          </p:nvSpPr>
          <p:spPr bwMode="auto">
            <a:xfrm rot="5400000">
              <a:off x="650" y="153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57150">
              <a:solidFill>
                <a:srgbClr val="80808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2" name="Oval 38"/>
            <p:cNvSpPr>
              <a:spLocks noChangeArrowheads="1"/>
            </p:cNvSpPr>
            <p:nvPr/>
          </p:nvSpPr>
          <p:spPr bwMode="auto">
            <a:xfrm>
              <a:off x="829" y="1002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805927" name="Line 39"/>
          <p:cNvSpPr>
            <a:spLocks noChangeShapeType="1"/>
          </p:cNvSpPr>
          <p:nvPr/>
        </p:nvSpPr>
        <p:spPr bwMode="auto">
          <a:xfrm flipV="1">
            <a:off x="1454150" y="1893888"/>
            <a:ext cx="447675" cy="409575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2160588" y="1571625"/>
            <a:ext cx="1381125" cy="1419225"/>
            <a:chOff x="1013" y="1002"/>
            <a:chExt cx="870" cy="894"/>
          </a:xfrm>
        </p:grpSpPr>
        <p:sp>
          <p:nvSpPr>
            <p:cNvPr id="15489" name="Line 41"/>
            <p:cNvSpPr>
              <a:spLocks noChangeShapeType="1"/>
            </p:cNvSpPr>
            <p:nvPr/>
          </p:nvSpPr>
          <p:spPr bwMode="auto">
            <a:xfrm flipV="1">
              <a:off x="1013" y="1171"/>
              <a:ext cx="670" cy="725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0" name="Oval 42"/>
            <p:cNvSpPr>
              <a:spLocks noChangeArrowheads="1"/>
            </p:cNvSpPr>
            <p:nvPr/>
          </p:nvSpPr>
          <p:spPr bwMode="auto">
            <a:xfrm>
              <a:off x="1663" y="1002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14</a:t>
              </a:r>
            </a:p>
          </p:txBody>
        </p:sp>
      </p:grp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2279650" y="3048000"/>
            <a:ext cx="1271588" cy="314325"/>
            <a:chOff x="1088" y="1932"/>
            <a:chExt cx="801" cy="198"/>
          </a:xfrm>
        </p:grpSpPr>
        <p:sp>
          <p:nvSpPr>
            <p:cNvPr id="15487" name="Line 44"/>
            <p:cNvSpPr>
              <a:spLocks noChangeShapeType="1"/>
            </p:cNvSpPr>
            <p:nvPr/>
          </p:nvSpPr>
          <p:spPr bwMode="auto">
            <a:xfrm flipV="1">
              <a:off x="1088" y="2037"/>
              <a:ext cx="572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8" name="Oval 45"/>
            <p:cNvSpPr>
              <a:spLocks noChangeArrowheads="1"/>
            </p:cNvSpPr>
            <p:nvPr/>
          </p:nvSpPr>
          <p:spPr bwMode="auto">
            <a:xfrm>
              <a:off x="1669" y="1932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805934" name="Line 46"/>
          <p:cNvSpPr>
            <a:spLocks noChangeShapeType="1"/>
          </p:cNvSpPr>
          <p:nvPr/>
        </p:nvSpPr>
        <p:spPr bwMode="auto">
          <a:xfrm flipV="1">
            <a:off x="6018213" y="1849438"/>
            <a:ext cx="1063625" cy="1150937"/>
          </a:xfrm>
          <a:prstGeom prst="line">
            <a:avLst/>
          </a:prstGeom>
          <a:noFill/>
          <a:ln w="57150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4727575" y="1195388"/>
            <a:ext cx="2882900" cy="2528887"/>
            <a:chOff x="2222" y="813"/>
            <a:chExt cx="1816" cy="1593"/>
          </a:xfrm>
        </p:grpSpPr>
        <p:grpSp>
          <p:nvGrpSpPr>
            <p:cNvPr id="15453" name="Group 48"/>
            <p:cNvGrpSpPr>
              <a:grpSpLocks/>
            </p:cNvGrpSpPr>
            <p:nvPr/>
          </p:nvGrpSpPr>
          <p:grpSpPr bwMode="auto">
            <a:xfrm>
              <a:off x="2222" y="813"/>
              <a:ext cx="1816" cy="1593"/>
              <a:chOff x="200" y="759"/>
              <a:chExt cx="1816" cy="1593"/>
            </a:xfrm>
          </p:grpSpPr>
          <p:sp>
            <p:nvSpPr>
              <p:cNvPr id="15456" name="Oval 49"/>
              <p:cNvSpPr>
                <a:spLocks noChangeArrowheads="1"/>
              </p:cNvSpPr>
              <p:nvPr/>
            </p:nvSpPr>
            <p:spPr bwMode="auto">
              <a:xfrm>
                <a:off x="377" y="1430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15457" name="Oval 50"/>
              <p:cNvSpPr>
                <a:spLocks noChangeArrowheads="1"/>
              </p:cNvSpPr>
              <p:nvPr/>
            </p:nvSpPr>
            <p:spPr bwMode="auto">
              <a:xfrm>
                <a:off x="806" y="965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8</a:t>
                </a:r>
              </a:p>
            </p:txBody>
          </p:sp>
          <p:sp>
            <p:nvSpPr>
              <p:cNvPr id="15458" name="Oval 51"/>
              <p:cNvSpPr>
                <a:spLocks noChangeArrowheads="1"/>
              </p:cNvSpPr>
              <p:nvPr/>
            </p:nvSpPr>
            <p:spPr bwMode="auto">
              <a:xfrm>
                <a:off x="1638" y="965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14</a:t>
                </a:r>
              </a:p>
            </p:txBody>
          </p:sp>
          <p:sp>
            <p:nvSpPr>
              <p:cNvPr id="15459" name="Oval 52"/>
              <p:cNvSpPr>
                <a:spLocks noChangeArrowheads="1"/>
              </p:cNvSpPr>
              <p:nvPr/>
            </p:nvSpPr>
            <p:spPr bwMode="auto">
              <a:xfrm>
                <a:off x="806" y="1896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5</a:t>
                </a:r>
                <a:endParaRPr lang="en-US" altLang="en-US" sz="1800">
                  <a:solidFill>
                    <a:schemeClr val="bg1"/>
                  </a:solidFill>
                </a:endParaRPr>
              </a:p>
            </p:txBody>
          </p:sp>
          <p:sp>
            <p:nvSpPr>
              <p:cNvPr id="15460" name="Oval 53"/>
              <p:cNvSpPr>
                <a:spLocks noChangeArrowheads="1"/>
              </p:cNvSpPr>
              <p:nvPr/>
            </p:nvSpPr>
            <p:spPr bwMode="auto">
              <a:xfrm>
                <a:off x="1638" y="1896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7</a:t>
                </a:r>
                <a:endParaRPr lang="en-US" altLang="en-US" sz="1800">
                  <a:solidFill>
                    <a:schemeClr val="bg1"/>
                  </a:solidFill>
                </a:endParaRPr>
              </a:p>
            </p:txBody>
          </p:sp>
          <p:sp>
            <p:nvSpPr>
              <p:cNvPr id="15461" name="Line 54"/>
              <p:cNvSpPr>
                <a:spLocks noChangeShapeType="1"/>
              </p:cNvSpPr>
              <p:nvPr/>
            </p:nvSpPr>
            <p:spPr bwMode="auto">
              <a:xfrm flipV="1">
                <a:off x="584" y="1192"/>
                <a:ext cx="261" cy="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2" name="Line 55"/>
              <p:cNvSpPr>
                <a:spLocks noChangeShapeType="1"/>
              </p:cNvSpPr>
              <p:nvPr/>
            </p:nvSpPr>
            <p:spPr bwMode="auto">
              <a:xfrm>
                <a:off x="585" y="1660"/>
                <a:ext cx="256" cy="2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3" name="Text Box 56"/>
              <p:cNvSpPr txBox="1">
                <a:spLocks noChangeArrowheads="1"/>
              </p:cNvSpPr>
              <p:nvPr/>
            </p:nvSpPr>
            <p:spPr bwMode="auto">
              <a:xfrm>
                <a:off x="497" y="1165"/>
                <a:ext cx="25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5464" name="Text Box 57"/>
              <p:cNvSpPr txBox="1">
                <a:spLocks noChangeArrowheads="1"/>
              </p:cNvSpPr>
              <p:nvPr/>
            </p:nvSpPr>
            <p:spPr bwMode="auto">
              <a:xfrm>
                <a:off x="1249" y="82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5465" name="Text Box 58"/>
              <p:cNvSpPr txBox="1">
                <a:spLocks noChangeArrowheads="1"/>
              </p:cNvSpPr>
              <p:nvPr/>
            </p:nvSpPr>
            <p:spPr bwMode="auto">
              <a:xfrm>
                <a:off x="574" y="172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5466" name="Text Box 59"/>
              <p:cNvSpPr txBox="1">
                <a:spLocks noChangeArrowheads="1"/>
              </p:cNvSpPr>
              <p:nvPr/>
            </p:nvSpPr>
            <p:spPr bwMode="auto">
              <a:xfrm>
                <a:off x="1269" y="200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5467" name="Text Box 60"/>
              <p:cNvSpPr txBox="1">
                <a:spLocks noChangeArrowheads="1"/>
              </p:cNvSpPr>
              <p:nvPr/>
            </p:nvSpPr>
            <p:spPr bwMode="auto">
              <a:xfrm>
                <a:off x="200" y="1442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5468" name="Text Box 61"/>
              <p:cNvSpPr txBox="1">
                <a:spLocks noChangeArrowheads="1"/>
              </p:cNvSpPr>
              <p:nvPr/>
            </p:nvSpPr>
            <p:spPr bwMode="auto">
              <a:xfrm>
                <a:off x="861" y="759"/>
                <a:ext cx="1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t</a:t>
                </a:r>
              </a:p>
            </p:txBody>
          </p:sp>
          <p:sp>
            <p:nvSpPr>
              <p:cNvPr id="15469" name="Text Box 62"/>
              <p:cNvSpPr txBox="1">
                <a:spLocks noChangeArrowheads="1"/>
              </p:cNvSpPr>
              <p:nvPr/>
            </p:nvSpPr>
            <p:spPr bwMode="auto">
              <a:xfrm>
                <a:off x="1683" y="759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x</a:t>
                </a:r>
              </a:p>
            </p:txBody>
          </p:sp>
          <p:sp>
            <p:nvSpPr>
              <p:cNvPr id="15470" name="Text Box 63"/>
              <p:cNvSpPr txBox="1">
                <a:spLocks noChangeArrowheads="1"/>
              </p:cNvSpPr>
              <p:nvPr/>
            </p:nvSpPr>
            <p:spPr bwMode="auto">
              <a:xfrm>
                <a:off x="845" y="212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y</a:t>
                </a:r>
              </a:p>
            </p:txBody>
          </p:sp>
          <p:sp>
            <p:nvSpPr>
              <p:cNvPr id="15471" name="Text Box 64"/>
              <p:cNvSpPr txBox="1">
                <a:spLocks noChangeArrowheads="1"/>
              </p:cNvSpPr>
              <p:nvPr/>
            </p:nvSpPr>
            <p:spPr bwMode="auto">
              <a:xfrm>
                <a:off x="1699" y="212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z</a:t>
                </a:r>
              </a:p>
            </p:txBody>
          </p:sp>
          <p:sp>
            <p:nvSpPr>
              <p:cNvPr id="15472" name="Line 65"/>
              <p:cNvSpPr>
                <a:spLocks noChangeShapeType="1"/>
              </p:cNvSpPr>
              <p:nvPr/>
            </p:nvSpPr>
            <p:spPr bwMode="auto">
              <a:xfrm flipV="1">
                <a:off x="1076" y="2037"/>
                <a:ext cx="5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3" name="Line 66"/>
              <p:cNvSpPr>
                <a:spLocks noChangeShapeType="1"/>
              </p:cNvSpPr>
              <p:nvPr/>
            </p:nvSpPr>
            <p:spPr bwMode="auto">
              <a:xfrm flipV="1">
                <a:off x="1007" y="1183"/>
                <a:ext cx="670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4" name="Line 67"/>
              <p:cNvSpPr>
                <a:spLocks noChangeShapeType="1"/>
              </p:cNvSpPr>
              <p:nvPr/>
            </p:nvSpPr>
            <p:spPr bwMode="auto">
              <a:xfrm flipH="1" flipV="1">
                <a:off x="629" y="1611"/>
                <a:ext cx="1031" cy="3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5" name="Text Box 68"/>
              <p:cNvSpPr txBox="1">
                <a:spLocks noChangeArrowheads="1"/>
              </p:cNvSpPr>
              <p:nvPr/>
            </p:nvSpPr>
            <p:spPr bwMode="auto">
              <a:xfrm>
                <a:off x="694" y="137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5476" name="Text Box 69"/>
              <p:cNvSpPr txBox="1">
                <a:spLocks noChangeArrowheads="1"/>
              </p:cNvSpPr>
              <p:nvPr/>
            </p:nvSpPr>
            <p:spPr bwMode="auto">
              <a:xfrm>
                <a:off x="995" y="139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5477" name="Text Box 70"/>
              <p:cNvSpPr txBox="1">
                <a:spLocks noChangeArrowheads="1"/>
              </p:cNvSpPr>
              <p:nvPr/>
            </p:nvSpPr>
            <p:spPr bwMode="auto">
              <a:xfrm>
                <a:off x="1408" y="115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15478" name="Text Box 71"/>
              <p:cNvSpPr txBox="1">
                <a:spLocks noChangeArrowheads="1"/>
              </p:cNvSpPr>
              <p:nvPr/>
            </p:nvSpPr>
            <p:spPr bwMode="auto">
              <a:xfrm>
                <a:off x="1308" y="1704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479" name="Freeform 72"/>
              <p:cNvSpPr>
                <a:spLocks/>
              </p:cNvSpPr>
              <p:nvPr/>
            </p:nvSpPr>
            <p:spPr bwMode="auto">
              <a:xfrm rot="5400000">
                <a:off x="650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0" name="Freeform 73"/>
              <p:cNvSpPr>
                <a:spLocks/>
              </p:cNvSpPr>
              <p:nvPr/>
            </p:nvSpPr>
            <p:spPr bwMode="auto">
              <a:xfrm rot="5400000" flipH="1" flipV="1">
                <a:off x="522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1" name="Line 74"/>
              <p:cNvSpPr>
                <a:spLocks noChangeShapeType="1"/>
              </p:cNvSpPr>
              <p:nvPr/>
            </p:nvSpPr>
            <p:spPr bwMode="auto">
              <a:xfrm flipV="1">
                <a:off x="1094" y="1095"/>
                <a:ext cx="5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2" name="Text Box 75"/>
              <p:cNvSpPr txBox="1">
                <a:spLocks noChangeArrowheads="1"/>
              </p:cNvSpPr>
              <p:nvPr/>
            </p:nvSpPr>
            <p:spPr bwMode="auto">
              <a:xfrm>
                <a:off x="1528" y="137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5483" name="Text Box 76"/>
              <p:cNvSpPr txBox="1">
                <a:spLocks noChangeArrowheads="1"/>
              </p:cNvSpPr>
              <p:nvPr/>
            </p:nvSpPr>
            <p:spPr bwMode="auto">
              <a:xfrm>
                <a:off x="1829" y="139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5484" name="Freeform 77"/>
              <p:cNvSpPr>
                <a:spLocks/>
              </p:cNvSpPr>
              <p:nvPr/>
            </p:nvSpPr>
            <p:spPr bwMode="auto">
              <a:xfrm rot="5400000">
                <a:off x="1484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5" name="Freeform 78"/>
              <p:cNvSpPr>
                <a:spLocks/>
              </p:cNvSpPr>
              <p:nvPr/>
            </p:nvSpPr>
            <p:spPr bwMode="auto">
              <a:xfrm rot="5400000" flipH="1" flipV="1">
                <a:off x="1356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6" name="Line 79"/>
              <p:cNvSpPr>
                <a:spLocks noChangeShapeType="1"/>
              </p:cNvSpPr>
              <p:nvPr/>
            </p:nvSpPr>
            <p:spPr bwMode="auto">
              <a:xfrm rot="5400000" flipV="1">
                <a:off x="584" y="1674"/>
                <a:ext cx="282" cy="258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454" name="Freeform 80"/>
            <p:cNvSpPr>
              <a:spLocks/>
            </p:cNvSpPr>
            <p:nvPr/>
          </p:nvSpPr>
          <p:spPr bwMode="auto">
            <a:xfrm rot="5400000">
              <a:off x="2672" y="1585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57150">
              <a:solidFill>
                <a:srgbClr val="80808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5" name="Line 81"/>
            <p:cNvSpPr>
              <a:spLocks noChangeShapeType="1"/>
            </p:cNvSpPr>
            <p:nvPr/>
          </p:nvSpPr>
          <p:spPr bwMode="auto">
            <a:xfrm flipV="1">
              <a:off x="3110" y="2091"/>
              <a:ext cx="572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05970" name="Line 82"/>
          <p:cNvSpPr>
            <a:spLocks noChangeShapeType="1"/>
          </p:cNvSpPr>
          <p:nvPr/>
        </p:nvSpPr>
        <p:spPr bwMode="auto">
          <a:xfrm flipV="1">
            <a:off x="6018213" y="1858963"/>
            <a:ext cx="1063625" cy="1150937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" name="Group 83"/>
          <p:cNvGrpSpPr>
            <a:grpSpLocks/>
          </p:cNvGrpSpPr>
          <p:nvPr/>
        </p:nvGrpSpPr>
        <p:grpSpPr bwMode="auto">
          <a:xfrm>
            <a:off x="7059613" y="1571625"/>
            <a:ext cx="349250" cy="1450975"/>
            <a:chOff x="3691" y="1050"/>
            <a:chExt cx="220" cy="914"/>
          </a:xfrm>
        </p:grpSpPr>
        <p:sp>
          <p:nvSpPr>
            <p:cNvPr id="15451" name="Freeform 84"/>
            <p:cNvSpPr>
              <a:spLocks/>
            </p:cNvSpPr>
            <p:nvPr/>
          </p:nvSpPr>
          <p:spPr bwMode="auto">
            <a:xfrm rot="5400000">
              <a:off x="3512" y="1591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57150">
              <a:solidFill>
                <a:srgbClr val="80808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" name="Oval 85"/>
            <p:cNvSpPr>
              <a:spLocks noChangeArrowheads="1"/>
            </p:cNvSpPr>
            <p:nvPr/>
          </p:nvSpPr>
          <p:spPr bwMode="auto">
            <a:xfrm>
              <a:off x="3691" y="1050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13</a:t>
              </a:r>
            </a:p>
          </p:txBody>
        </p:sp>
      </p:grpSp>
      <p:grpSp>
        <p:nvGrpSpPr>
          <p:cNvPr id="9" name="Group 86"/>
          <p:cNvGrpSpPr>
            <a:grpSpLocks/>
          </p:cNvGrpSpPr>
          <p:nvPr/>
        </p:nvGrpSpPr>
        <p:grpSpPr bwMode="auto">
          <a:xfrm>
            <a:off x="860425" y="3919538"/>
            <a:ext cx="2882900" cy="2528887"/>
            <a:chOff x="224" y="2451"/>
            <a:chExt cx="1816" cy="1593"/>
          </a:xfrm>
        </p:grpSpPr>
        <p:grpSp>
          <p:nvGrpSpPr>
            <p:cNvPr id="15417" name="Group 87"/>
            <p:cNvGrpSpPr>
              <a:grpSpLocks/>
            </p:cNvGrpSpPr>
            <p:nvPr/>
          </p:nvGrpSpPr>
          <p:grpSpPr bwMode="auto">
            <a:xfrm>
              <a:off x="224" y="2451"/>
              <a:ext cx="1816" cy="1593"/>
              <a:chOff x="200" y="759"/>
              <a:chExt cx="1816" cy="1593"/>
            </a:xfrm>
          </p:grpSpPr>
          <p:sp>
            <p:nvSpPr>
              <p:cNvPr id="15420" name="Oval 88"/>
              <p:cNvSpPr>
                <a:spLocks noChangeArrowheads="1"/>
              </p:cNvSpPr>
              <p:nvPr/>
            </p:nvSpPr>
            <p:spPr bwMode="auto">
              <a:xfrm>
                <a:off x="377" y="1430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15421" name="Oval 89"/>
              <p:cNvSpPr>
                <a:spLocks noChangeArrowheads="1"/>
              </p:cNvSpPr>
              <p:nvPr/>
            </p:nvSpPr>
            <p:spPr bwMode="auto">
              <a:xfrm>
                <a:off x="806" y="965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8</a:t>
                </a:r>
              </a:p>
            </p:txBody>
          </p:sp>
          <p:sp>
            <p:nvSpPr>
              <p:cNvPr id="15422" name="Oval 90"/>
              <p:cNvSpPr>
                <a:spLocks noChangeArrowheads="1"/>
              </p:cNvSpPr>
              <p:nvPr/>
            </p:nvSpPr>
            <p:spPr bwMode="auto">
              <a:xfrm>
                <a:off x="1638" y="965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13</a:t>
                </a:r>
              </a:p>
            </p:txBody>
          </p:sp>
          <p:sp>
            <p:nvSpPr>
              <p:cNvPr id="15423" name="Oval 91"/>
              <p:cNvSpPr>
                <a:spLocks noChangeArrowheads="1"/>
              </p:cNvSpPr>
              <p:nvPr/>
            </p:nvSpPr>
            <p:spPr bwMode="auto">
              <a:xfrm>
                <a:off x="806" y="1896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5</a:t>
                </a:r>
                <a:endParaRPr lang="en-US" altLang="en-US" sz="1800">
                  <a:solidFill>
                    <a:schemeClr val="bg1"/>
                  </a:solidFill>
                </a:endParaRPr>
              </a:p>
            </p:txBody>
          </p:sp>
          <p:sp>
            <p:nvSpPr>
              <p:cNvPr id="15424" name="Oval 92"/>
              <p:cNvSpPr>
                <a:spLocks noChangeArrowheads="1"/>
              </p:cNvSpPr>
              <p:nvPr/>
            </p:nvSpPr>
            <p:spPr bwMode="auto">
              <a:xfrm>
                <a:off x="1638" y="1896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7</a:t>
                </a:r>
                <a:endParaRPr lang="en-US" altLang="en-US" sz="1800">
                  <a:solidFill>
                    <a:schemeClr val="bg1"/>
                  </a:solidFill>
                </a:endParaRPr>
              </a:p>
            </p:txBody>
          </p:sp>
          <p:sp>
            <p:nvSpPr>
              <p:cNvPr id="15425" name="Line 93"/>
              <p:cNvSpPr>
                <a:spLocks noChangeShapeType="1"/>
              </p:cNvSpPr>
              <p:nvPr/>
            </p:nvSpPr>
            <p:spPr bwMode="auto">
              <a:xfrm flipV="1">
                <a:off x="584" y="1192"/>
                <a:ext cx="261" cy="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6" name="Line 94"/>
              <p:cNvSpPr>
                <a:spLocks noChangeShapeType="1"/>
              </p:cNvSpPr>
              <p:nvPr/>
            </p:nvSpPr>
            <p:spPr bwMode="auto">
              <a:xfrm>
                <a:off x="585" y="1660"/>
                <a:ext cx="256" cy="2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7" name="Text Box 95"/>
              <p:cNvSpPr txBox="1">
                <a:spLocks noChangeArrowheads="1"/>
              </p:cNvSpPr>
              <p:nvPr/>
            </p:nvSpPr>
            <p:spPr bwMode="auto">
              <a:xfrm>
                <a:off x="497" y="1165"/>
                <a:ext cx="25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5428" name="Text Box 96"/>
              <p:cNvSpPr txBox="1">
                <a:spLocks noChangeArrowheads="1"/>
              </p:cNvSpPr>
              <p:nvPr/>
            </p:nvSpPr>
            <p:spPr bwMode="auto">
              <a:xfrm>
                <a:off x="1249" y="82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5429" name="Text Box 97"/>
              <p:cNvSpPr txBox="1">
                <a:spLocks noChangeArrowheads="1"/>
              </p:cNvSpPr>
              <p:nvPr/>
            </p:nvSpPr>
            <p:spPr bwMode="auto">
              <a:xfrm>
                <a:off x="574" y="172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5430" name="Text Box 98"/>
              <p:cNvSpPr txBox="1">
                <a:spLocks noChangeArrowheads="1"/>
              </p:cNvSpPr>
              <p:nvPr/>
            </p:nvSpPr>
            <p:spPr bwMode="auto">
              <a:xfrm>
                <a:off x="1269" y="200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5431" name="Text Box 99"/>
              <p:cNvSpPr txBox="1">
                <a:spLocks noChangeArrowheads="1"/>
              </p:cNvSpPr>
              <p:nvPr/>
            </p:nvSpPr>
            <p:spPr bwMode="auto">
              <a:xfrm>
                <a:off x="200" y="1442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5432" name="Text Box 100"/>
              <p:cNvSpPr txBox="1">
                <a:spLocks noChangeArrowheads="1"/>
              </p:cNvSpPr>
              <p:nvPr/>
            </p:nvSpPr>
            <p:spPr bwMode="auto">
              <a:xfrm>
                <a:off x="861" y="759"/>
                <a:ext cx="1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t</a:t>
                </a:r>
              </a:p>
            </p:txBody>
          </p:sp>
          <p:sp>
            <p:nvSpPr>
              <p:cNvPr id="15433" name="Text Box 101"/>
              <p:cNvSpPr txBox="1">
                <a:spLocks noChangeArrowheads="1"/>
              </p:cNvSpPr>
              <p:nvPr/>
            </p:nvSpPr>
            <p:spPr bwMode="auto">
              <a:xfrm>
                <a:off x="1683" y="759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x</a:t>
                </a:r>
              </a:p>
            </p:txBody>
          </p:sp>
          <p:sp>
            <p:nvSpPr>
              <p:cNvPr id="15434" name="Text Box 102"/>
              <p:cNvSpPr txBox="1">
                <a:spLocks noChangeArrowheads="1"/>
              </p:cNvSpPr>
              <p:nvPr/>
            </p:nvSpPr>
            <p:spPr bwMode="auto">
              <a:xfrm>
                <a:off x="845" y="212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y</a:t>
                </a:r>
              </a:p>
            </p:txBody>
          </p:sp>
          <p:sp>
            <p:nvSpPr>
              <p:cNvPr id="15435" name="Text Box 103"/>
              <p:cNvSpPr txBox="1">
                <a:spLocks noChangeArrowheads="1"/>
              </p:cNvSpPr>
              <p:nvPr/>
            </p:nvSpPr>
            <p:spPr bwMode="auto">
              <a:xfrm>
                <a:off x="1699" y="212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z</a:t>
                </a:r>
              </a:p>
            </p:txBody>
          </p:sp>
          <p:sp>
            <p:nvSpPr>
              <p:cNvPr id="15436" name="Line 104"/>
              <p:cNvSpPr>
                <a:spLocks noChangeShapeType="1"/>
              </p:cNvSpPr>
              <p:nvPr/>
            </p:nvSpPr>
            <p:spPr bwMode="auto">
              <a:xfrm flipV="1">
                <a:off x="1076" y="2037"/>
                <a:ext cx="5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7" name="Line 105"/>
              <p:cNvSpPr>
                <a:spLocks noChangeShapeType="1"/>
              </p:cNvSpPr>
              <p:nvPr/>
            </p:nvSpPr>
            <p:spPr bwMode="auto">
              <a:xfrm flipV="1">
                <a:off x="1007" y="1183"/>
                <a:ext cx="670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8" name="Line 106"/>
              <p:cNvSpPr>
                <a:spLocks noChangeShapeType="1"/>
              </p:cNvSpPr>
              <p:nvPr/>
            </p:nvSpPr>
            <p:spPr bwMode="auto">
              <a:xfrm flipH="1" flipV="1">
                <a:off x="629" y="1611"/>
                <a:ext cx="1031" cy="3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9" name="Text Box 107"/>
              <p:cNvSpPr txBox="1">
                <a:spLocks noChangeArrowheads="1"/>
              </p:cNvSpPr>
              <p:nvPr/>
            </p:nvSpPr>
            <p:spPr bwMode="auto">
              <a:xfrm>
                <a:off x="694" y="137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5440" name="Text Box 108"/>
              <p:cNvSpPr txBox="1">
                <a:spLocks noChangeArrowheads="1"/>
              </p:cNvSpPr>
              <p:nvPr/>
            </p:nvSpPr>
            <p:spPr bwMode="auto">
              <a:xfrm>
                <a:off x="995" y="139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5441" name="Text Box 109"/>
              <p:cNvSpPr txBox="1">
                <a:spLocks noChangeArrowheads="1"/>
              </p:cNvSpPr>
              <p:nvPr/>
            </p:nvSpPr>
            <p:spPr bwMode="auto">
              <a:xfrm>
                <a:off x="1408" y="115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15442" name="Text Box 110"/>
              <p:cNvSpPr txBox="1">
                <a:spLocks noChangeArrowheads="1"/>
              </p:cNvSpPr>
              <p:nvPr/>
            </p:nvSpPr>
            <p:spPr bwMode="auto">
              <a:xfrm>
                <a:off x="1308" y="1704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443" name="Freeform 111"/>
              <p:cNvSpPr>
                <a:spLocks/>
              </p:cNvSpPr>
              <p:nvPr/>
            </p:nvSpPr>
            <p:spPr bwMode="auto">
              <a:xfrm rot="5400000">
                <a:off x="650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4" name="Freeform 112"/>
              <p:cNvSpPr>
                <a:spLocks/>
              </p:cNvSpPr>
              <p:nvPr/>
            </p:nvSpPr>
            <p:spPr bwMode="auto">
              <a:xfrm rot="5400000" flipH="1" flipV="1">
                <a:off x="522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5" name="Line 113"/>
              <p:cNvSpPr>
                <a:spLocks noChangeShapeType="1"/>
              </p:cNvSpPr>
              <p:nvPr/>
            </p:nvSpPr>
            <p:spPr bwMode="auto">
              <a:xfrm flipV="1">
                <a:off x="1094" y="1095"/>
                <a:ext cx="5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6" name="Text Box 114"/>
              <p:cNvSpPr txBox="1">
                <a:spLocks noChangeArrowheads="1"/>
              </p:cNvSpPr>
              <p:nvPr/>
            </p:nvSpPr>
            <p:spPr bwMode="auto">
              <a:xfrm>
                <a:off x="1528" y="137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5447" name="Text Box 115"/>
              <p:cNvSpPr txBox="1">
                <a:spLocks noChangeArrowheads="1"/>
              </p:cNvSpPr>
              <p:nvPr/>
            </p:nvSpPr>
            <p:spPr bwMode="auto">
              <a:xfrm>
                <a:off x="1829" y="139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5448" name="Freeform 116"/>
              <p:cNvSpPr>
                <a:spLocks/>
              </p:cNvSpPr>
              <p:nvPr/>
            </p:nvSpPr>
            <p:spPr bwMode="auto">
              <a:xfrm rot="5400000">
                <a:off x="1484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9" name="Freeform 117"/>
              <p:cNvSpPr>
                <a:spLocks/>
              </p:cNvSpPr>
              <p:nvPr/>
            </p:nvSpPr>
            <p:spPr bwMode="auto">
              <a:xfrm rot="5400000" flipH="1" flipV="1">
                <a:off x="1356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50" name="Line 118"/>
              <p:cNvSpPr>
                <a:spLocks noChangeShapeType="1"/>
              </p:cNvSpPr>
              <p:nvPr/>
            </p:nvSpPr>
            <p:spPr bwMode="auto">
              <a:xfrm rot="5400000" flipV="1">
                <a:off x="584" y="1674"/>
                <a:ext cx="282" cy="258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418" name="Freeform 119"/>
            <p:cNvSpPr>
              <a:spLocks/>
            </p:cNvSpPr>
            <p:nvPr/>
          </p:nvSpPr>
          <p:spPr bwMode="auto">
            <a:xfrm rot="5400000">
              <a:off x="674" y="3223"/>
              <a:ext cx="696" cy="50"/>
            </a:xfrm>
            <a:custGeom>
              <a:avLst/>
              <a:gdLst>
                <a:gd name="T0" fmla="*/ 22 w 582"/>
                <a:gd name="T1" fmla="*/ 50 h 50"/>
                <a:gd name="T2" fmla="*/ 67 w 582"/>
                <a:gd name="T3" fmla="*/ 37 h 50"/>
                <a:gd name="T4" fmla="*/ 428 w 582"/>
                <a:gd name="T5" fmla="*/ 1 h 50"/>
                <a:gd name="T6" fmla="*/ 83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57150">
              <a:solidFill>
                <a:srgbClr val="80808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9" name="Line 120"/>
            <p:cNvSpPr>
              <a:spLocks noChangeShapeType="1"/>
            </p:cNvSpPr>
            <p:nvPr/>
          </p:nvSpPr>
          <p:spPr bwMode="auto">
            <a:xfrm flipV="1">
              <a:off x="1112" y="3729"/>
              <a:ext cx="572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06009" name="Freeform 121"/>
          <p:cNvSpPr>
            <a:spLocks/>
          </p:cNvSpPr>
          <p:nvPr/>
        </p:nvSpPr>
        <p:spPr bwMode="auto">
          <a:xfrm rot="5400000">
            <a:off x="2908301" y="5154612"/>
            <a:ext cx="1104900" cy="79375"/>
          </a:xfrm>
          <a:custGeom>
            <a:avLst/>
            <a:gdLst>
              <a:gd name="T0" fmla="*/ 54062263 w 582"/>
              <a:gd name="T1" fmla="*/ 126007813 h 50"/>
              <a:gd name="T2" fmla="*/ 169393320 w 582"/>
              <a:gd name="T3" fmla="*/ 93246575 h 50"/>
              <a:gd name="T4" fmla="*/ 1077634409 w 582"/>
              <a:gd name="T5" fmla="*/ 2520950 h 50"/>
              <a:gd name="T6" fmla="*/ 2097601392 w 582"/>
              <a:gd name="T7" fmla="*/ 103327200 h 50"/>
              <a:gd name="T8" fmla="*/ 0 60000 65536"/>
              <a:gd name="T9" fmla="*/ 0 60000 65536"/>
              <a:gd name="T10" fmla="*/ 0 60000 65536"/>
              <a:gd name="T11" fmla="*/ 0 60000 65536"/>
              <a:gd name="T12" fmla="*/ 0 w 582"/>
              <a:gd name="T13" fmla="*/ 0 h 50"/>
              <a:gd name="T14" fmla="*/ 582 w 582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2" h="50">
                <a:moveTo>
                  <a:pt x="15" y="50"/>
                </a:moveTo>
                <a:cubicBezTo>
                  <a:pt x="7" y="47"/>
                  <a:pt x="0" y="45"/>
                  <a:pt x="47" y="37"/>
                </a:cubicBezTo>
                <a:cubicBezTo>
                  <a:pt x="94" y="29"/>
                  <a:pt x="210" y="0"/>
                  <a:pt x="299" y="1"/>
                </a:cubicBezTo>
                <a:cubicBezTo>
                  <a:pt x="388" y="2"/>
                  <a:pt x="536" y="34"/>
                  <a:pt x="582" y="41"/>
                </a:cubicBezTo>
              </a:path>
            </a:pathLst>
          </a:custGeom>
          <a:noFill/>
          <a:ln w="57150">
            <a:solidFill>
              <a:srgbClr val="80808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6010" name="Freeform 122"/>
          <p:cNvSpPr>
            <a:spLocks/>
          </p:cNvSpPr>
          <p:nvPr/>
        </p:nvSpPr>
        <p:spPr bwMode="auto">
          <a:xfrm rot="5400000">
            <a:off x="2908301" y="5126037"/>
            <a:ext cx="1104900" cy="79375"/>
          </a:xfrm>
          <a:custGeom>
            <a:avLst/>
            <a:gdLst>
              <a:gd name="T0" fmla="*/ 54062263 w 582"/>
              <a:gd name="T1" fmla="*/ 126007813 h 50"/>
              <a:gd name="T2" fmla="*/ 169393320 w 582"/>
              <a:gd name="T3" fmla="*/ 93246575 h 50"/>
              <a:gd name="T4" fmla="*/ 1077634409 w 582"/>
              <a:gd name="T5" fmla="*/ 2520950 h 50"/>
              <a:gd name="T6" fmla="*/ 2097601392 w 582"/>
              <a:gd name="T7" fmla="*/ 103327200 h 50"/>
              <a:gd name="T8" fmla="*/ 0 60000 65536"/>
              <a:gd name="T9" fmla="*/ 0 60000 65536"/>
              <a:gd name="T10" fmla="*/ 0 60000 65536"/>
              <a:gd name="T11" fmla="*/ 0 60000 65536"/>
              <a:gd name="T12" fmla="*/ 0 w 582"/>
              <a:gd name="T13" fmla="*/ 0 h 50"/>
              <a:gd name="T14" fmla="*/ 582 w 582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2" h="50">
                <a:moveTo>
                  <a:pt x="15" y="50"/>
                </a:moveTo>
                <a:cubicBezTo>
                  <a:pt x="7" y="47"/>
                  <a:pt x="0" y="45"/>
                  <a:pt x="47" y="37"/>
                </a:cubicBezTo>
                <a:cubicBezTo>
                  <a:pt x="94" y="29"/>
                  <a:pt x="210" y="0"/>
                  <a:pt x="299" y="1"/>
                </a:cubicBezTo>
                <a:cubicBezTo>
                  <a:pt x="388" y="2"/>
                  <a:pt x="536" y="34"/>
                  <a:pt x="582" y="41"/>
                </a:cubicBezTo>
              </a:path>
            </a:pathLst>
          </a:custGeom>
          <a:noFill/>
          <a:ln w="76200">
            <a:solidFill>
              <a:schemeClr val="tx1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" name="Group 123"/>
          <p:cNvGrpSpPr>
            <a:grpSpLocks/>
          </p:cNvGrpSpPr>
          <p:nvPr/>
        </p:nvGrpSpPr>
        <p:grpSpPr bwMode="auto">
          <a:xfrm>
            <a:off x="2260600" y="4305300"/>
            <a:ext cx="1262063" cy="314325"/>
            <a:chOff x="1106" y="2688"/>
            <a:chExt cx="795" cy="198"/>
          </a:xfrm>
        </p:grpSpPr>
        <p:sp>
          <p:nvSpPr>
            <p:cNvPr id="15415" name="Line 124"/>
            <p:cNvSpPr>
              <a:spLocks noChangeShapeType="1"/>
            </p:cNvSpPr>
            <p:nvPr/>
          </p:nvSpPr>
          <p:spPr bwMode="auto">
            <a:xfrm flipV="1">
              <a:off x="1106" y="2781"/>
              <a:ext cx="572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6" name="Oval 125"/>
            <p:cNvSpPr>
              <a:spLocks noChangeArrowheads="1"/>
            </p:cNvSpPr>
            <p:nvPr/>
          </p:nvSpPr>
          <p:spPr bwMode="auto">
            <a:xfrm>
              <a:off x="1681" y="2688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9</a:t>
              </a:r>
            </a:p>
          </p:txBody>
        </p:sp>
      </p:grpSp>
      <p:grpSp>
        <p:nvGrpSpPr>
          <p:cNvPr id="12" name="Group 126"/>
          <p:cNvGrpSpPr>
            <a:grpSpLocks/>
          </p:cNvGrpSpPr>
          <p:nvPr/>
        </p:nvGrpSpPr>
        <p:grpSpPr bwMode="auto">
          <a:xfrm>
            <a:off x="4765675" y="3833813"/>
            <a:ext cx="2882900" cy="2528887"/>
            <a:chOff x="3002" y="2415"/>
            <a:chExt cx="1816" cy="1593"/>
          </a:xfrm>
        </p:grpSpPr>
        <p:grpSp>
          <p:nvGrpSpPr>
            <p:cNvPr id="15379" name="Group 127"/>
            <p:cNvGrpSpPr>
              <a:grpSpLocks/>
            </p:cNvGrpSpPr>
            <p:nvPr/>
          </p:nvGrpSpPr>
          <p:grpSpPr bwMode="auto">
            <a:xfrm>
              <a:off x="3002" y="2415"/>
              <a:ext cx="1816" cy="1593"/>
              <a:chOff x="200" y="759"/>
              <a:chExt cx="1816" cy="1593"/>
            </a:xfrm>
          </p:grpSpPr>
          <p:sp>
            <p:nvSpPr>
              <p:cNvPr id="15384" name="Oval 128"/>
              <p:cNvSpPr>
                <a:spLocks noChangeArrowheads="1"/>
              </p:cNvSpPr>
              <p:nvPr/>
            </p:nvSpPr>
            <p:spPr bwMode="auto">
              <a:xfrm>
                <a:off x="377" y="1430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15385" name="Oval 129"/>
              <p:cNvSpPr>
                <a:spLocks noChangeArrowheads="1"/>
              </p:cNvSpPr>
              <p:nvPr/>
            </p:nvSpPr>
            <p:spPr bwMode="auto">
              <a:xfrm>
                <a:off x="806" y="965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8</a:t>
                </a:r>
              </a:p>
            </p:txBody>
          </p:sp>
          <p:sp>
            <p:nvSpPr>
              <p:cNvPr id="15386" name="Oval 130"/>
              <p:cNvSpPr>
                <a:spLocks noChangeArrowheads="1"/>
              </p:cNvSpPr>
              <p:nvPr/>
            </p:nvSpPr>
            <p:spPr bwMode="auto">
              <a:xfrm>
                <a:off x="1638" y="965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9</a:t>
                </a:r>
              </a:p>
            </p:txBody>
          </p:sp>
          <p:sp>
            <p:nvSpPr>
              <p:cNvPr id="15387" name="Oval 131"/>
              <p:cNvSpPr>
                <a:spLocks noChangeArrowheads="1"/>
              </p:cNvSpPr>
              <p:nvPr/>
            </p:nvSpPr>
            <p:spPr bwMode="auto">
              <a:xfrm>
                <a:off x="806" y="1896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5</a:t>
                </a:r>
                <a:endParaRPr lang="en-US" altLang="en-US" sz="1800">
                  <a:solidFill>
                    <a:schemeClr val="bg1"/>
                  </a:solidFill>
                </a:endParaRPr>
              </a:p>
            </p:txBody>
          </p:sp>
          <p:sp>
            <p:nvSpPr>
              <p:cNvPr id="15388" name="Oval 132"/>
              <p:cNvSpPr>
                <a:spLocks noChangeArrowheads="1"/>
              </p:cNvSpPr>
              <p:nvPr/>
            </p:nvSpPr>
            <p:spPr bwMode="auto">
              <a:xfrm>
                <a:off x="1638" y="1896"/>
                <a:ext cx="266" cy="265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  <a:sym typeface="Symbol" panose="05050102010706020507" pitchFamily="18" charset="2"/>
                  </a:rPr>
                  <a:t>7</a:t>
                </a:r>
                <a:endParaRPr lang="en-US" altLang="en-US" sz="1800">
                  <a:solidFill>
                    <a:schemeClr val="bg1"/>
                  </a:solidFill>
                </a:endParaRPr>
              </a:p>
            </p:txBody>
          </p:sp>
          <p:sp>
            <p:nvSpPr>
              <p:cNvPr id="15389" name="Line 133"/>
              <p:cNvSpPr>
                <a:spLocks noChangeShapeType="1"/>
              </p:cNvSpPr>
              <p:nvPr/>
            </p:nvSpPr>
            <p:spPr bwMode="auto">
              <a:xfrm flipV="1">
                <a:off x="584" y="1192"/>
                <a:ext cx="261" cy="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0" name="Line 134"/>
              <p:cNvSpPr>
                <a:spLocks noChangeShapeType="1"/>
              </p:cNvSpPr>
              <p:nvPr/>
            </p:nvSpPr>
            <p:spPr bwMode="auto">
              <a:xfrm>
                <a:off x="585" y="1660"/>
                <a:ext cx="256" cy="2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1" name="Text Box 135"/>
              <p:cNvSpPr txBox="1">
                <a:spLocks noChangeArrowheads="1"/>
              </p:cNvSpPr>
              <p:nvPr/>
            </p:nvSpPr>
            <p:spPr bwMode="auto">
              <a:xfrm>
                <a:off x="497" y="1165"/>
                <a:ext cx="25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5392" name="Text Box 136"/>
              <p:cNvSpPr txBox="1">
                <a:spLocks noChangeArrowheads="1"/>
              </p:cNvSpPr>
              <p:nvPr/>
            </p:nvSpPr>
            <p:spPr bwMode="auto">
              <a:xfrm>
                <a:off x="1249" y="82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5393" name="Text Box 137"/>
              <p:cNvSpPr txBox="1">
                <a:spLocks noChangeArrowheads="1"/>
              </p:cNvSpPr>
              <p:nvPr/>
            </p:nvSpPr>
            <p:spPr bwMode="auto">
              <a:xfrm>
                <a:off x="574" y="172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5394" name="Text Box 138"/>
              <p:cNvSpPr txBox="1">
                <a:spLocks noChangeArrowheads="1"/>
              </p:cNvSpPr>
              <p:nvPr/>
            </p:nvSpPr>
            <p:spPr bwMode="auto">
              <a:xfrm>
                <a:off x="1269" y="200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5395" name="Text Box 139"/>
              <p:cNvSpPr txBox="1">
                <a:spLocks noChangeArrowheads="1"/>
              </p:cNvSpPr>
              <p:nvPr/>
            </p:nvSpPr>
            <p:spPr bwMode="auto">
              <a:xfrm>
                <a:off x="200" y="1442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5396" name="Text Box 140"/>
              <p:cNvSpPr txBox="1">
                <a:spLocks noChangeArrowheads="1"/>
              </p:cNvSpPr>
              <p:nvPr/>
            </p:nvSpPr>
            <p:spPr bwMode="auto">
              <a:xfrm>
                <a:off x="861" y="759"/>
                <a:ext cx="1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t</a:t>
                </a:r>
              </a:p>
            </p:txBody>
          </p:sp>
          <p:sp>
            <p:nvSpPr>
              <p:cNvPr id="15397" name="Text Box 141"/>
              <p:cNvSpPr txBox="1">
                <a:spLocks noChangeArrowheads="1"/>
              </p:cNvSpPr>
              <p:nvPr/>
            </p:nvSpPr>
            <p:spPr bwMode="auto">
              <a:xfrm>
                <a:off x="1683" y="759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x</a:t>
                </a:r>
              </a:p>
            </p:txBody>
          </p:sp>
          <p:sp>
            <p:nvSpPr>
              <p:cNvPr id="15398" name="Text Box 142"/>
              <p:cNvSpPr txBox="1">
                <a:spLocks noChangeArrowheads="1"/>
              </p:cNvSpPr>
              <p:nvPr/>
            </p:nvSpPr>
            <p:spPr bwMode="auto">
              <a:xfrm>
                <a:off x="845" y="212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y</a:t>
                </a:r>
              </a:p>
            </p:txBody>
          </p:sp>
          <p:sp>
            <p:nvSpPr>
              <p:cNvPr id="15399" name="Text Box 143"/>
              <p:cNvSpPr txBox="1">
                <a:spLocks noChangeArrowheads="1"/>
              </p:cNvSpPr>
              <p:nvPr/>
            </p:nvSpPr>
            <p:spPr bwMode="auto">
              <a:xfrm>
                <a:off x="1699" y="212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z</a:t>
                </a:r>
              </a:p>
            </p:txBody>
          </p:sp>
          <p:sp>
            <p:nvSpPr>
              <p:cNvPr id="15400" name="Line 144"/>
              <p:cNvSpPr>
                <a:spLocks noChangeShapeType="1"/>
              </p:cNvSpPr>
              <p:nvPr/>
            </p:nvSpPr>
            <p:spPr bwMode="auto">
              <a:xfrm flipV="1">
                <a:off x="1076" y="2037"/>
                <a:ext cx="5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1" name="Line 145"/>
              <p:cNvSpPr>
                <a:spLocks noChangeShapeType="1"/>
              </p:cNvSpPr>
              <p:nvPr/>
            </p:nvSpPr>
            <p:spPr bwMode="auto">
              <a:xfrm flipV="1">
                <a:off x="1007" y="1183"/>
                <a:ext cx="670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2" name="Line 146"/>
              <p:cNvSpPr>
                <a:spLocks noChangeShapeType="1"/>
              </p:cNvSpPr>
              <p:nvPr/>
            </p:nvSpPr>
            <p:spPr bwMode="auto">
              <a:xfrm flipH="1" flipV="1">
                <a:off x="629" y="1611"/>
                <a:ext cx="1031" cy="3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3" name="Text Box 147"/>
              <p:cNvSpPr txBox="1">
                <a:spLocks noChangeArrowheads="1"/>
              </p:cNvSpPr>
              <p:nvPr/>
            </p:nvSpPr>
            <p:spPr bwMode="auto">
              <a:xfrm>
                <a:off x="694" y="137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5404" name="Text Box 148"/>
              <p:cNvSpPr txBox="1">
                <a:spLocks noChangeArrowheads="1"/>
              </p:cNvSpPr>
              <p:nvPr/>
            </p:nvSpPr>
            <p:spPr bwMode="auto">
              <a:xfrm>
                <a:off x="995" y="139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5405" name="Text Box 149"/>
              <p:cNvSpPr txBox="1">
                <a:spLocks noChangeArrowheads="1"/>
              </p:cNvSpPr>
              <p:nvPr/>
            </p:nvSpPr>
            <p:spPr bwMode="auto">
              <a:xfrm>
                <a:off x="1408" y="115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15406" name="Text Box 150"/>
              <p:cNvSpPr txBox="1">
                <a:spLocks noChangeArrowheads="1"/>
              </p:cNvSpPr>
              <p:nvPr/>
            </p:nvSpPr>
            <p:spPr bwMode="auto">
              <a:xfrm>
                <a:off x="1308" y="1704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407" name="Freeform 151"/>
              <p:cNvSpPr>
                <a:spLocks/>
              </p:cNvSpPr>
              <p:nvPr/>
            </p:nvSpPr>
            <p:spPr bwMode="auto">
              <a:xfrm rot="5400000">
                <a:off x="650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8" name="Freeform 152"/>
              <p:cNvSpPr>
                <a:spLocks/>
              </p:cNvSpPr>
              <p:nvPr/>
            </p:nvSpPr>
            <p:spPr bwMode="auto">
              <a:xfrm rot="5400000" flipH="1" flipV="1">
                <a:off x="522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9" name="Line 153"/>
              <p:cNvSpPr>
                <a:spLocks noChangeShapeType="1"/>
              </p:cNvSpPr>
              <p:nvPr/>
            </p:nvSpPr>
            <p:spPr bwMode="auto">
              <a:xfrm flipV="1">
                <a:off x="1094" y="1095"/>
                <a:ext cx="5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0" name="Text Box 154"/>
              <p:cNvSpPr txBox="1">
                <a:spLocks noChangeArrowheads="1"/>
              </p:cNvSpPr>
              <p:nvPr/>
            </p:nvSpPr>
            <p:spPr bwMode="auto">
              <a:xfrm>
                <a:off x="1528" y="137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5411" name="Text Box 155"/>
              <p:cNvSpPr txBox="1">
                <a:spLocks noChangeArrowheads="1"/>
              </p:cNvSpPr>
              <p:nvPr/>
            </p:nvSpPr>
            <p:spPr bwMode="auto">
              <a:xfrm>
                <a:off x="1829" y="139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5412" name="Freeform 156"/>
              <p:cNvSpPr>
                <a:spLocks/>
              </p:cNvSpPr>
              <p:nvPr/>
            </p:nvSpPr>
            <p:spPr bwMode="auto">
              <a:xfrm rot="5400000">
                <a:off x="1484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3" name="Freeform 157"/>
              <p:cNvSpPr>
                <a:spLocks/>
              </p:cNvSpPr>
              <p:nvPr/>
            </p:nvSpPr>
            <p:spPr bwMode="auto">
              <a:xfrm rot="5400000" flipH="1" flipV="1">
                <a:off x="1356" y="153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4" name="Line 158"/>
              <p:cNvSpPr>
                <a:spLocks noChangeShapeType="1"/>
              </p:cNvSpPr>
              <p:nvPr/>
            </p:nvSpPr>
            <p:spPr bwMode="auto">
              <a:xfrm rot="5400000" flipV="1">
                <a:off x="584" y="1674"/>
                <a:ext cx="282" cy="258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380" name="Group 159"/>
            <p:cNvGrpSpPr>
              <a:grpSpLocks/>
            </p:cNvGrpSpPr>
            <p:nvPr/>
          </p:nvGrpSpPr>
          <p:grpSpPr bwMode="auto">
            <a:xfrm>
              <a:off x="3775" y="2751"/>
              <a:ext cx="687" cy="942"/>
              <a:chOff x="3073" y="2781"/>
              <a:chExt cx="687" cy="942"/>
            </a:xfrm>
          </p:grpSpPr>
          <p:sp>
            <p:nvSpPr>
              <p:cNvPr id="15381" name="Freeform 160"/>
              <p:cNvSpPr>
                <a:spLocks/>
              </p:cNvSpPr>
              <p:nvPr/>
            </p:nvSpPr>
            <p:spPr bwMode="auto">
              <a:xfrm rot="5400000">
                <a:off x="2750" y="3217"/>
                <a:ext cx="696" cy="50"/>
              </a:xfrm>
              <a:custGeom>
                <a:avLst/>
                <a:gdLst>
                  <a:gd name="T0" fmla="*/ 22 w 582"/>
                  <a:gd name="T1" fmla="*/ 50 h 50"/>
                  <a:gd name="T2" fmla="*/ 67 w 582"/>
                  <a:gd name="T3" fmla="*/ 37 h 50"/>
                  <a:gd name="T4" fmla="*/ 428 w 582"/>
                  <a:gd name="T5" fmla="*/ 1 h 50"/>
                  <a:gd name="T6" fmla="*/ 83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57150">
                <a:solidFill>
                  <a:srgbClr val="80808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2" name="Line 161"/>
              <p:cNvSpPr>
                <a:spLocks noChangeShapeType="1"/>
              </p:cNvSpPr>
              <p:nvPr/>
            </p:nvSpPr>
            <p:spPr bwMode="auto">
              <a:xfrm flipV="1">
                <a:off x="3188" y="3723"/>
                <a:ext cx="572" cy="0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3" name="Line 162"/>
              <p:cNvSpPr>
                <a:spLocks noChangeShapeType="1"/>
              </p:cNvSpPr>
              <p:nvPr/>
            </p:nvSpPr>
            <p:spPr bwMode="auto">
              <a:xfrm flipV="1">
                <a:off x="3182" y="2781"/>
                <a:ext cx="572" cy="0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1942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" dur="500"/>
                                        <p:tgtEl>
                                          <p:spTgt spid="8059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8059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8060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923" grpId="0" animBg="1"/>
      <p:bldP spid="805927" grpId="0" animBg="1"/>
      <p:bldP spid="805934" grpId="0" animBg="1"/>
      <p:bldP spid="805934" grpId="1" animBg="1"/>
      <p:bldP spid="805970" grpId="0" animBg="1"/>
      <p:bldP spid="806009" grpId="0" animBg="1"/>
      <p:bldP spid="806009" grpId="1" animBg="1"/>
      <p:bldP spid="8060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Practice</a:t>
            </a:r>
          </a:p>
        </p:txBody>
      </p:sp>
      <p:pic>
        <p:nvPicPr>
          <p:cNvPr id="21506" name="Picture 2" descr="Image result for dijkstra algorith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390" y="1388700"/>
            <a:ext cx="7945488" cy="33106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19429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 err="1"/>
              <a:t>Dijkstra</a:t>
            </a:r>
            <a:r>
              <a:rPr lang="en-US" altLang="en-US" dirty="0"/>
              <a:t> (G, w, s) – Time Complexity</a:t>
            </a:r>
          </a:p>
        </p:txBody>
      </p:sp>
      <p:sp>
        <p:nvSpPr>
          <p:cNvPr id="806915" name="Rectangle 3"/>
          <p:cNvSpPr>
            <a:spLocks noGrp="1" noChangeArrowheads="1"/>
          </p:cNvSpPr>
          <p:nvPr>
            <p:ph idx="1"/>
          </p:nvPr>
        </p:nvSpPr>
        <p:spPr>
          <a:xfrm>
            <a:off x="155575" y="939800"/>
            <a:ext cx="8988425" cy="5174129"/>
          </a:xfrm>
        </p:spPr>
        <p:txBody>
          <a:bodyPr>
            <a:normAutofit fontScale="92500" lnSpcReduction="10000"/>
          </a:bodyPr>
          <a:lstStyle/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INITIALIZE-SINGLE-SOURCE(</a:t>
            </a:r>
            <a:r>
              <a:rPr lang="en-US" altLang="en-US" dirty="0">
                <a:latin typeface="Comic Sans MS" panose="030F0702030302020204" pitchFamily="66" charset="0"/>
              </a:rPr>
              <a:t>V, s</a:t>
            </a:r>
            <a:r>
              <a:rPr lang="en-US" altLang="en-US" dirty="0"/>
              <a:t>)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K ←  </a:t>
            </a:r>
            <a:r>
              <a:rPr lang="en-US" altLang="en-US" dirty="0">
                <a:sym typeface="Symbol" panose="05050102010706020507" pitchFamily="18" charset="2"/>
              </a:rPr>
              <a:t> 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Q ← V[G]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</a:t>
            </a:r>
            <a:r>
              <a:rPr lang="en-US" altLang="en-US" b="1" dirty="0"/>
              <a:t>while </a:t>
            </a:r>
            <a:r>
              <a:rPr lang="en-US" altLang="en-US" dirty="0"/>
              <a:t>Q </a:t>
            </a:r>
            <a:r>
              <a:rPr lang="en-US" altLang="en-US" dirty="0">
                <a:sym typeface="Symbol" panose="05050102010706020507" pitchFamily="18" charset="2"/>
              </a:rPr>
              <a:t>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</a:t>
            </a:r>
            <a:endParaRPr lang="en-US" altLang="en-US" b="1" dirty="0"/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     </a:t>
            </a:r>
            <a:r>
              <a:rPr lang="en-US" altLang="en-US" b="1" dirty="0"/>
              <a:t>do</a:t>
            </a:r>
            <a:r>
              <a:rPr lang="en-US" altLang="en-US" dirty="0"/>
              <a:t> </a:t>
            </a:r>
            <a:r>
              <a:rPr lang="en-US" altLang="en-US" dirty="0">
                <a:latin typeface="Comic Sans MS" panose="030F0702030302020204" pitchFamily="66" charset="0"/>
              </a:rPr>
              <a:t>u</a:t>
            </a:r>
            <a:r>
              <a:rPr lang="en-US" altLang="en-US" dirty="0"/>
              <a:t> ← EXTRACT-MIN(Q)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          K ← K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r>
              <a:rPr lang="en-US" altLang="en-US" dirty="0"/>
              <a:t> {</a:t>
            </a:r>
            <a:r>
              <a:rPr lang="en-US" altLang="en-US" dirty="0">
                <a:latin typeface="Comic Sans MS" panose="030F0702030302020204" pitchFamily="66" charset="0"/>
              </a:rPr>
              <a:t>u</a:t>
            </a:r>
            <a:r>
              <a:rPr lang="en-US" altLang="en-US" dirty="0"/>
              <a:t>} 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          </a:t>
            </a:r>
            <a:r>
              <a:rPr lang="en-US" altLang="en-US" b="1" dirty="0"/>
              <a:t>for </a:t>
            </a:r>
            <a:r>
              <a:rPr lang="en-US" altLang="en-US" dirty="0"/>
              <a:t>each vertex </a:t>
            </a:r>
            <a:r>
              <a:rPr lang="en-US" altLang="en-US" dirty="0">
                <a:latin typeface="Comic Sans MS" panose="030F0702030302020204" pitchFamily="66" charset="0"/>
              </a:rPr>
              <a:t>v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</a:t>
            </a:r>
            <a:r>
              <a:rPr lang="en-US" altLang="en-US" dirty="0">
                <a:latin typeface="Comic Sans MS" panose="030F0702030302020204" pitchFamily="66" charset="0"/>
              </a:rPr>
              <a:t> </a:t>
            </a:r>
            <a:r>
              <a:rPr lang="en-US" altLang="en-US" dirty="0" err="1">
                <a:latin typeface="Comic Sans MS" panose="030F0702030302020204" pitchFamily="66" charset="0"/>
              </a:rPr>
              <a:t>Adj</a:t>
            </a:r>
            <a:r>
              <a:rPr lang="en-US" altLang="en-US" dirty="0">
                <a:latin typeface="Comic Sans MS" panose="030F0702030302020204" pitchFamily="66" charset="0"/>
              </a:rPr>
              <a:t>[u]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/>
              <a:t>                 </a:t>
            </a:r>
            <a:r>
              <a:rPr lang="en-US" altLang="en-US" b="1" dirty="0"/>
              <a:t>do </a:t>
            </a:r>
            <a:r>
              <a:rPr lang="en-US" altLang="en-US" dirty="0"/>
              <a:t>RELAX(</a:t>
            </a:r>
            <a:r>
              <a:rPr lang="en-US" altLang="en-US" dirty="0">
                <a:latin typeface="Comic Sans MS" panose="030F0702030302020204" pitchFamily="66" charset="0"/>
              </a:rPr>
              <a:t>u, v, w</a:t>
            </a:r>
            <a:r>
              <a:rPr lang="en-US" altLang="en-US" dirty="0"/>
              <a:t>)</a:t>
            </a:r>
          </a:p>
          <a:p>
            <a:pPr marL="533400" indent="-533400" eaLnBrk="1" hangingPunct="1">
              <a:lnSpc>
                <a:spcPct val="120000"/>
              </a:lnSpc>
              <a:buFontTx/>
              <a:buNone/>
            </a:pPr>
            <a:r>
              <a:rPr lang="en-US" altLang="en-US" dirty="0"/>
              <a:t>	Total running time: </a:t>
            </a:r>
            <a:r>
              <a:rPr lang="en-US" dirty="0">
                <a:latin typeface="Symbol" pitchFamily="18" charset="2"/>
                <a:sym typeface="Symbol" pitchFamily="18" charset="2"/>
              </a:rPr>
              <a:t>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i="1" dirty="0">
                <a:sym typeface="Symbol" pitchFamily="18" charset="2"/>
              </a:rPr>
              <a:t>V + V</a:t>
            </a:r>
            <a:r>
              <a:rPr lang="en-US" dirty="0">
                <a:sym typeface="Symbol" pitchFamily="18" charset="2"/>
              </a:rPr>
              <a:t>  T</a:t>
            </a:r>
            <a:r>
              <a:rPr lang="en-US" baseline="-25000" dirty="0">
                <a:sym typeface="Symbol" pitchFamily="18" charset="2"/>
              </a:rPr>
              <a:t>E</a:t>
            </a:r>
            <a:r>
              <a:rPr lang="en-US" dirty="0">
                <a:sym typeface="Symbol" pitchFamily="18" charset="2"/>
              </a:rPr>
              <a:t> + </a:t>
            </a:r>
            <a:r>
              <a:rPr lang="en-US" i="1" dirty="0">
                <a:sym typeface="Symbol" pitchFamily="18" charset="2"/>
              </a:rPr>
              <a:t>E</a:t>
            </a:r>
            <a:r>
              <a:rPr lang="en-US" dirty="0">
                <a:sym typeface="Symbol" pitchFamily="18" charset="2"/>
              </a:rPr>
              <a:t>  T</a:t>
            </a:r>
            <a:r>
              <a:rPr lang="en-US" baseline="-25000" dirty="0">
                <a:sym typeface="Symbol" pitchFamily="18" charset="2"/>
              </a:rPr>
              <a:t>D </a:t>
            </a:r>
            <a:r>
              <a:rPr lang="en-US" dirty="0">
                <a:sym typeface="Symbol" pitchFamily="18" charset="2"/>
              </a:rPr>
              <a:t>)</a:t>
            </a:r>
            <a:endParaRPr lang="en-US" altLang="en-US" dirty="0">
              <a:latin typeface="Comic Sans MS" panose="030F0702030302020204" pitchFamily="66" charset="0"/>
            </a:endParaRPr>
          </a:p>
        </p:txBody>
      </p:sp>
      <p:sp>
        <p:nvSpPr>
          <p:cNvPr id="806916" name="Text Box 4"/>
          <p:cNvSpPr txBox="1">
            <a:spLocks noChangeArrowheads="1"/>
          </p:cNvSpPr>
          <p:nvPr/>
        </p:nvSpPr>
        <p:spPr bwMode="auto">
          <a:xfrm>
            <a:off x="5949950" y="990601"/>
            <a:ext cx="815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(V)</a:t>
            </a:r>
          </a:p>
        </p:txBody>
      </p:sp>
      <p:sp>
        <p:nvSpPr>
          <p:cNvPr id="806917" name="Line 5"/>
          <p:cNvSpPr>
            <a:spLocks noChangeShapeType="1"/>
          </p:cNvSpPr>
          <p:nvPr/>
        </p:nvSpPr>
        <p:spPr bwMode="auto">
          <a:xfrm flipH="1">
            <a:off x="5476875" y="1220789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6918" name="Text Box 6"/>
          <p:cNvSpPr txBox="1">
            <a:spLocks noChangeArrowheads="1"/>
          </p:cNvSpPr>
          <p:nvPr/>
        </p:nvSpPr>
        <p:spPr bwMode="auto">
          <a:xfrm>
            <a:off x="2889250" y="2124074"/>
            <a:ext cx="39388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0070C0"/>
                </a:solidFill>
                <a:latin typeface="Symbol" pitchFamily="18" charset="2"/>
                <a:sym typeface="Symbol" pitchFamily="18" charset="2"/>
              </a:rPr>
              <a:t></a:t>
            </a: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(V) time to build min-heap</a:t>
            </a:r>
          </a:p>
        </p:txBody>
      </p:sp>
      <p:sp>
        <p:nvSpPr>
          <p:cNvPr id="806919" name="Line 7"/>
          <p:cNvSpPr>
            <a:spLocks noChangeShapeType="1"/>
          </p:cNvSpPr>
          <p:nvPr/>
        </p:nvSpPr>
        <p:spPr bwMode="auto">
          <a:xfrm flipH="1">
            <a:off x="2416175" y="2349499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6920" name="Text Box 8"/>
          <p:cNvSpPr txBox="1">
            <a:spLocks noChangeArrowheads="1"/>
          </p:cNvSpPr>
          <p:nvPr/>
        </p:nvSpPr>
        <p:spPr bwMode="auto">
          <a:xfrm>
            <a:off x="3257822" y="2673348"/>
            <a:ext cx="299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Executed </a:t>
            </a:r>
            <a:r>
              <a:rPr lang="en-US" sz="2400" dirty="0">
                <a:solidFill>
                  <a:srgbClr val="0070C0"/>
                </a:solidFill>
                <a:latin typeface="Symbol" pitchFamily="18" charset="2"/>
                <a:sym typeface="Symbol" pitchFamily="18" charset="2"/>
              </a:rPr>
              <a:t></a:t>
            </a: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(V) times</a:t>
            </a:r>
          </a:p>
        </p:txBody>
      </p:sp>
      <p:sp>
        <p:nvSpPr>
          <p:cNvPr id="806921" name="Line 9"/>
          <p:cNvSpPr>
            <a:spLocks noChangeShapeType="1"/>
          </p:cNvSpPr>
          <p:nvPr/>
        </p:nvSpPr>
        <p:spPr bwMode="auto">
          <a:xfrm flipH="1">
            <a:off x="2784747" y="2898773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6922" name="Text Box 10"/>
          <p:cNvSpPr txBox="1">
            <a:spLocks noChangeArrowheads="1"/>
          </p:cNvSpPr>
          <p:nvPr/>
        </p:nvSpPr>
        <p:spPr bwMode="auto">
          <a:xfrm>
            <a:off x="5384006" y="3260932"/>
            <a:ext cx="359104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V times, </a:t>
            </a:r>
            <a:r>
              <a:rPr lang="en-US" sz="2400" dirty="0">
                <a:solidFill>
                  <a:srgbClr val="0070C0"/>
                </a:solidFill>
                <a:latin typeface="Symbol" pitchFamily="18" charset="2"/>
                <a:sym typeface="Symbol" pitchFamily="18" charset="2"/>
              </a:rPr>
              <a:t></a:t>
            </a: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(</a:t>
            </a:r>
            <a:r>
              <a:rPr lang="en-US" sz="2600" dirty="0">
                <a:solidFill>
                  <a:srgbClr val="0070C0"/>
                </a:solidFill>
                <a:latin typeface="Calibri"/>
                <a:sym typeface="Symbol" pitchFamily="18" charset="2"/>
              </a:rPr>
              <a:t>T</a:t>
            </a:r>
            <a:r>
              <a:rPr lang="en-US" sz="2600" baseline="-25000" dirty="0">
                <a:solidFill>
                  <a:srgbClr val="0070C0"/>
                </a:solidFill>
                <a:latin typeface="Calibri"/>
                <a:sym typeface="Symbol" pitchFamily="18" charset="2"/>
              </a:rPr>
              <a:t>E</a:t>
            </a: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) each time</a:t>
            </a:r>
          </a:p>
        </p:txBody>
      </p:sp>
      <p:sp>
        <p:nvSpPr>
          <p:cNvPr id="806923" name="Line 11"/>
          <p:cNvSpPr>
            <a:spLocks noChangeShapeType="1"/>
          </p:cNvSpPr>
          <p:nvPr/>
        </p:nvSpPr>
        <p:spPr bwMode="auto">
          <a:xfrm flipH="1">
            <a:off x="4910931" y="3486357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6924" name="Text Box 12"/>
          <p:cNvSpPr txBox="1">
            <a:spLocks noChangeArrowheads="1"/>
          </p:cNvSpPr>
          <p:nvPr/>
        </p:nvSpPr>
        <p:spPr bwMode="auto">
          <a:xfrm>
            <a:off x="5098942" y="4943679"/>
            <a:ext cx="40014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0070C0"/>
                </a:solidFill>
                <a:latin typeface="Symbol" pitchFamily="18" charset="2"/>
                <a:sym typeface="Symbol" pitchFamily="18" charset="2"/>
              </a:rPr>
              <a:t></a:t>
            </a: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(E) times, </a:t>
            </a:r>
            <a:r>
              <a:rPr lang="en-US" sz="2400" dirty="0">
                <a:solidFill>
                  <a:srgbClr val="0070C0"/>
                </a:solidFill>
                <a:latin typeface="Symbol" pitchFamily="18" charset="2"/>
                <a:sym typeface="Symbol" pitchFamily="18" charset="2"/>
              </a:rPr>
              <a:t></a:t>
            </a: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(</a:t>
            </a:r>
            <a:r>
              <a:rPr lang="en-US" sz="2400" dirty="0">
                <a:solidFill>
                  <a:srgbClr val="0070C0"/>
                </a:solidFill>
                <a:sym typeface="Symbol" pitchFamily="18" charset="2"/>
              </a:rPr>
              <a:t>T</a:t>
            </a:r>
            <a:r>
              <a:rPr lang="en-US" sz="2400" baseline="-25000" dirty="0">
                <a:solidFill>
                  <a:srgbClr val="0070C0"/>
                </a:solidFill>
                <a:sym typeface="Symbol" pitchFamily="18" charset="2"/>
              </a:rPr>
              <a:t>D</a:t>
            </a:r>
            <a:r>
              <a:rPr lang="en-US" alt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) each time</a:t>
            </a:r>
          </a:p>
        </p:txBody>
      </p:sp>
      <p:sp>
        <p:nvSpPr>
          <p:cNvPr id="806925" name="Line 13"/>
          <p:cNvSpPr>
            <a:spLocks noChangeShapeType="1"/>
          </p:cNvSpPr>
          <p:nvPr/>
        </p:nvSpPr>
        <p:spPr bwMode="auto">
          <a:xfrm flipH="1">
            <a:off x="4706892" y="5169104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8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6916" grpId="0"/>
      <p:bldP spid="806917" grpId="0" animBg="1"/>
      <p:bldP spid="806918" grpId="0"/>
      <p:bldP spid="806919" grpId="0" animBg="1"/>
      <p:bldP spid="806920" grpId="0"/>
      <p:bldP spid="806921" grpId="0" animBg="1"/>
      <p:bldP spid="806922" grpId="0"/>
      <p:bldP spid="806923" grpId="0" animBg="1"/>
      <p:bldP spid="806924" grpId="0"/>
      <p:bldP spid="8069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6-Graphs</a:t>
            </a:r>
          </a:p>
        </p:txBody>
      </p:sp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pPr eaLnBrk="0" hangingPunct="0"/>
            <a:r>
              <a:rPr lang="en-US" dirty="0" err="1"/>
              <a:t>Dijkstra’s</a:t>
            </a:r>
            <a:r>
              <a:rPr lang="en-US" dirty="0"/>
              <a:t> Time complexity (cont.)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458200" cy="5334000"/>
          </a:xfrm>
          <a:noFill/>
          <a:ln/>
        </p:spPr>
        <p:txBody>
          <a:bodyPr/>
          <a:lstStyle/>
          <a:p>
            <a:pPr marL="339725" indent="-339725" eaLnBrk="0" hangingPunct="0">
              <a:lnSpc>
                <a:spcPct val="110000"/>
              </a:lnSpc>
            </a:pPr>
            <a:r>
              <a:rPr lang="en-US" sz="2400" dirty="0"/>
              <a:t>1. Priority queue is an array.</a:t>
            </a:r>
            <a:br>
              <a:rPr lang="en-US" sz="2400" dirty="0"/>
            </a:br>
            <a:r>
              <a:rPr lang="en-US" sz="2400" dirty="0"/>
              <a:t>EXTRACT-MIN in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(V) time, DECREASE-KEY in </a:t>
            </a:r>
            <a:r>
              <a:rPr lang="en-US" sz="2400" dirty="0">
                <a:latin typeface="Symbol" pitchFamily="18" charset="2"/>
                <a:sym typeface="Symbol" pitchFamily="18" charset="2"/>
              </a:rPr>
              <a:t></a:t>
            </a:r>
            <a:r>
              <a:rPr lang="en-US" sz="2400" dirty="0"/>
              <a:t>(1)</a:t>
            </a:r>
            <a:br>
              <a:rPr lang="en-US" sz="2400" dirty="0"/>
            </a:br>
            <a:r>
              <a:rPr lang="en-US" sz="2400" dirty="0"/>
              <a:t>Total time: </a:t>
            </a:r>
            <a:r>
              <a:rPr lang="en-US" sz="2400" dirty="0">
                <a:latin typeface="Symbol" pitchFamily="18" charset="2"/>
                <a:sym typeface="Symbol" pitchFamily="18" charset="2"/>
              </a:rPr>
              <a:t>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400" i="1" dirty="0">
                <a:sym typeface="Symbol" pitchFamily="18" charset="2"/>
              </a:rPr>
              <a:t>V </a:t>
            </a:r>
            <a:r>
              <a:rPr lang="en-US" sz="2400" dirty="0">
                <a:sym typeface="Symbol" pitchFamily="18" charset="2"/>
              </a:rPr>
              <a:t>+ </a:t>
            </a:r>
            <a:r>
              <a:rPr lang="en-US" sz="2400" i="1" dirty="0">
                <a:sym typeface="Symbol" pitchFamily="18" charset="2"/>
              </a:rPr>
              <a:t>VV</a:t>
            </a:r>
            <a:r>
              <a:rPr lang="en-US" sz="2400" dirty="0">
                <a:sym typeface="Symbol" pitchFamily="18" charset="2"/>
              </a:rPr>
              <a:t> + </a:t>
            </a:r>
            <a:r>
              <a:rPr lang="en-US" sz="2400" i="1" dirty="0">
                <a:sym typeface="Symbol" pitchFamily="18" charset="2"/>
              </a:rPr>
              <a:t>E</a:t>
            </a:r>
            <a:r>
              <a:rPr lang="en-US" sz="2400" dirty="0">
                <a:sym typeface="Symbol" pitchFamily="18" charset="2"/>
              </a:rPr>
              <a:t>) = </a:t>
            </a:r>
            <a:r>
              <a:rPr lang="en-US" sz="2400" dirty="0">
                <a:latin typeface="Symbol" pitchFamily="18" charset="2"/>
                <a:sym typeface="Symbol" pitchFamily="18" charset="2"/>
              </a:rPr>
              <a:t>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400" i="1" dirty="0">
                <a:sym typeface="Symbol" pitchFamily="18" charset="2"/>
              </a:rPr>
              <a:t>V</a:t>
            </a:r>
            <a:r>
              <a:rPr lang="en-US" sz="2400" baseline="30000" dirty="0">
                <a:sym typeface="Symbol" pitchFamily="18" charset="2"/>
              </a:rPr>
              <a:t>2</a:t>
            </a:r>
            <a:r>
              <a:rPr lang="en-US" sz="2400" dirty="0">
                <a:sym typeface="Symbol" pitchFamily="18" charset="2"/>
              </a:rPr>
              <a:t>)</a:t>
            </a:r>
          </a:p>
          <a:p>
            <a:pPr marL="339725" indent="-339725" eaLnBrk="0" hangingPunct="0">
              <a:lnSpc>
                <a:spcPct val="110000"/>
              </a:lnSpc>
            </a:pPr>
            <a:r>
              <a:rPr lang="en-US" sz="2400" dirty="0"/>
              <a:t>2. (“Modified </a:t>
            </a:r>
            <a:r>
              <a:rPr lang="en-US" sz="2400" dirty="0" err="1"/>
              <a:t>Dijkstra</a:t>
            </a:r>
            <a:r>
              <a:rPr lang="en-US" sz="2400" dirty="0"/>
              <a:t>”)</a:t>
            </a:r>
            <a:br>
              <a:rPr lang="en-US" sz="2400" dirty="0"/>
            </a:br>
            <a:r>
              <a:rPr lang="en-US" sz="2400" dirty="0"/>
              <a:t>Priority queue is a binary (standard) heap.</a:t>
            </a:r>
            <a:br>
              <a:rPr lang="en-US" sz="2400" dirty="0"/>
            </a:br>
            <a:r>
              <a:rPr lang="en-US" sz="2400" dirty="0"/>
              <a:t>EXTRACT-MIN and DECREASE-KEY takes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(</a:t>
            </a:r>
            <a:r>
              <a:rPr lang="en-US" sz="2400" dirty="0" err="1"/>
              <a:t>lgV</a:t>
            </a:r>
            <a:r>
              <a:rPr lang="en-US" sz="2400" dirty="0"/>
              <a:t>) time each</a:t>
            </a:r>
            <a:br>
              <a:rPr lang="en-US" sz="2400" dirty="0"/>
            </a:br>
            <a:r>
              <a:rPr lang="en-US" sz="2400" dirty="0"/>
              <a:t>Total time: </a:t>
            </a:r>
            <a:r>
              <a:rPr lang="en-US" sz="2400" dirty="0">
                <a:latin typeface="Symbol" pitchFamily="18" charset="2"/>
                <a:sym typeface="Symbol" pitchFamily="18" charset="2"/>
              </a:rPr>
              <a:t>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400" i="1" dirty="0" err="1">
                <a:sym typeface="Symbol" pitchFamily="18" charset="2"/>
              </a:rPr>
              <a:t>V</a:t>
            </a:r>
            <a:r>
              <a:rPr lang="en-US" sz="2400" dirty="0" err="1">
                <a:sym typeface="Symbol" pitchFamily="18" charset="2"/>
              </a:rPr>
              <a:t>lg</a:t>
            </a:r>
            <a:r>
              <a:rPr lang="en-US" sz="2400" i="1" dirty="0" err="1">
                <a:sym typeface="Symbol" pitchFamily="18" charset="2"/>
              </a:rPr>
              <a:t>V</a:t>
            </a:r>
            <a:r>
              <a:rPr lang="en-US" sz="2400" dirty="0">
                <a:sym typeface="Symbol" pitchFamily="18" charset="2"/>
              </a:rPr>
              <a:t> + </a:t>
            </a:r>
            <a:r>
              <a:rPr lang="en-US" sz="2400" i="1" dirty="0" err="1">
                <a:sym typeface="Symbol" pitchFamily="18" charset="2"/>
              </a:rPr>
              <a:t>E</a:t>
            </a:r>
            <a:r>
              <a:rPr lang="en-US" sz="2400" dirty="0" err="1">
                <a:sym typeface="Symbol" pitchFamily="18" charset="2"/>
              </a:rPr>
              <a:t>lg</a:t>
            </a:r>
            <a:r>
              <a:rPr lang="en-US" sz="2400" i="1" dirty="0" err="1">
                <a:sym typeface="Symbol" pitchFamily="18" charset="2"/>
              </a:rPr>
              <a:t>V</a:t>
            </a:r>
            <a:r>
              <a:rPr lang="en-US" sz="2400" dirty="0">
                <a:sym typeface="Symbol" pitchFamily="18" charset="2"/>
              </a:rPr>
              <a:t>) = </a:t>
            </a:r>
            <a:r>
              <a:rPr lang="en-US" sz="2400" dirty="0">
                <a:latin typeface="Symbol" pitchFamily="18" charset="2"/>
                <a:sym typeface="Symbol" pitchFamily="18" charset="2"/>
              </a:rPr>
              <a:t>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400" i="1" dirty="0" err="1">
                <a:sym typeface="Symbol" pitchFamily="18" charset="2"/>
              </a:rPr>
              <a:t>E</a:t>
            </a:r>
            <a:r>
              <a:rPr lang="en-US" sz="2400" dirty="0" err="1">
                <a:sym typeface="Symbol" pitchFamily="18" charset="2"/>
              </a:rPr>
              <a:t>lg</a:t>
            </a:r>
            <a:r>
              <a:rPr lang="en-US" sz="2400" i="1" dirty="0" err="1">
                <a:sym typeface="Symbol" pitchFamily="18" charset="2"/>
              </a:rPr>
              <a:t>V</a:t>
            </a:r>
            <a:r>
              <a:rPr lang="en-US" sz="2400" dirty="0">
                <a:sym typeface="Symbol" pitchFamily="18" charset="2"/>
              </a:rPr>
              <a:t>)</a:t>
            </a:r>
          </a:p>
          <a:p>
            <a:pPr marL="339725" indent="-339725" eaLnBrk="0" hangingPunct="0">
              <a:lnSpc>
                <a:spcPct val="110000"/>
              </a:lnSpc>
            </a:pPr>
            <a:r>
              <a:rPr lang="en-US" sz="2400" dirty="0">
                <a:sym typeface="Symbol" pitchFamily="18" charset="2"/>
              </a:rPr>
              <a:t>3. </a:t>
            </a:r>
            <a:r>
              <a:rPr lang="en-US" sz="2400" dirty="0"/>
              <a:t>Priority queue is Fibonacci heap. (Of theoretical interest only.)</a:t>
            </a:r>
            <a:br>
              <a:rPr lang="en-US" sz="2400" dirty="0"/>
            </a:br>
            <a:r>
              <a:rPr lang="en-US" sz="2400" dirty="0"/>
              <a:t>EXTRACT-MIN in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(</a:t>
            </a:r>
            <a:r>
              <a:rPr lang="en-US" sz="2400" dirty="0" err="1"/>
              <a:t>lg</a:t>
            </a:r>
            <a:r>
              <a:rPr lang="en-US" sz="2400" i="1" dirty="0" err="1"/>
              <a:t>V</a:t>
            </a:r>
            <a:r>
              <a:rPr lang="en-US" sz="2400" dirty="0"/>
              <a:t>),  </a:t>
            </a:r>
            <a:br>
              <a:rPr lang="en-US" sz="2400" dirty="0"/>
            </a:br>
            <a:r>
              <a:rPr lang="en-US" sz="2400" dirty="0"/>
              <a:t>DECREASE-KEY in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(1) (amortized)</a:t>
            </a:r>
            <a:br>
              <a:rPr lang="en-US" sz="2400" dirty="0"/>
            </a:br>
            <a:r>
              <a:rPr lang="en-US" sz="2400" dirty="0"/>
              <a:t>Total time: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(</a:t>
            </a:r>
            <a:r>
              <a:rPr lang="en-US" sz="2400" i="1" dirty="0" err="1"/>
              <a:t>V</a:t>
            </a:r>
            <a:r>
              <a:rPr lang="en-US" sz="2400" dirty="0" err="1"/>
              <a:t>lg</a:t>
            </a:r>
            <a:r>
              <a:rPr lang="en-US" sz="2400" i="1" dirty="0" err="1"/>
              <a:t>V</a:t>
            </a:r>
            <a:r>
              <a:rPr lang="en-US" sz="2400" dirty="0" err="1"/>
              <a:t>+</a:t>
            </a:r>
            <a:r>
              <a:rPr lang="en-US" sz="2400" i="1" dirty="0" err="1"/>
              <a:t>E</a:t>
            </a:r>
            <a:r>
              <a:rPr lang="en-US" sz="2400" dirty="0"/>
              <a:t>)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920750" y="4535488"/>
            <a:ext cx="4025900" cy="2011362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9987" name="Line 3"/>
          <p:cNvSpPr>
            <a:spLocks noChangeShapeType="1"/>
          </p:cNvSpPr>
          <p:nvPr/>
        </p:nvSpPr>
        <p:spPr bwMode="auto">
          <a:xfrm flipV="1">
            <a:off x="6389688" y="6232525"/>
            <a:ext cx="531812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9988" name="Line 4"/>
          <p:cNvSpPr>
            <a:spLocks noChangeShapeType="1"/>
          </p:cNvSpPr>
          <p:nvPr/>
        </p:nvSpPr>
        <p:spPr bwMode="auto">
          <a:xfrm>
            <a:off x="6313488" y="6450013"/>
            <a:ext cx="760412" cy="71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9989" name="Line 5"/>
          <p:cNvSpPr>
            <a:spLocks noChangeShapeType="1"/>
          </p:cNvSpPr>
          <p:nvPr/>
        </p:nvSpPr>
        <p:spPr bwMode="auto">
          <a:xfrm>
            <a:off x="7316788" y="4267200"/>
            <a:ext cx="8366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9990" name="Line 6"/>
          <p:cNvSpPr>
            <a:spLocks noChangeShapeType="1"/>
          </p:cNvSpPr>
          <p:nvPr/>
        </p:nvSpPr>
        <p:spPr bwMode="auto">
          <a:xfrm flipV="1">
            <a:off x="5487988" y="4116388"/>
            <a:ext cx="1598612" cy="760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9991" name="Rectangle 7"/>
          <p:cNvSpPr>
            <a:spLocks noGrp="1" noChangeArrowheads="1"/>
          </p:cNvSpPr>
          <p:nvPr>
            <p:ph type="title"/>
          </p:nvPr>
        </p:nvSpPr>
        <p:spPr>
          <a:xfrm>
            <a:off x="685800" y="-1"/>
            <a:ext cx="8458200" cy="923365"/>
          </a:xfrm>
          <a:noFill/>
          <a:ln/>
        </p:spPr>
        <p:txBody>
          <a:bodyPr>
            <a:normAutofit fontScale="90000"/>
          </a:bodyPr>
          <a:lstStyle/>
          <a:p>
            <a:pPr eaLnBrk="0" hangingPunct="0"/>
            <a:r>
              <a:rPr lang="en-US" dirty="0"/>
              <a:t>Why Does </a:t>
            </a:r>
            <a:r>
              <a:rPr lang="en-US" dirty="0" err="1"/>
              <a:t>Dijkstra’s</a:t>
            </a:r>
            <a:r>
              <a:rPr lang="en-US" dirty="0"/>
              <a:t> Algorithm Work?</a:t>
            </a:r>
          </a:p>
        </p:txBody>
      </p:sp>
      <p:sp>
        <p:nvSpPr>
          <p:cNvPr id="16999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85800" y="647700"/>
            <a:ext cx="7772400" cy="3810000"/>
          </a:xfrm>
          <a:noFill/>
          <a:ln/>
        </p:spPr>
        <p:txBody>
          <a:bodyPr>
            <a:normAutofit/>
          </a:bodyPr>
          <a:lstStyle/>
          <a:p>
            <a:pPr eaLnBrk="0" hangingPunct="0">
              <a:lnSpc>
                <a:spcPct val="95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dirty="0"/>
              <a:t> It works when all edge weights are </a:t>
            </a:r>
            <a:r>
              <a:rPr lang="en-US" dirty="0">
                <a:sym typeface="Symbol" pitchFamily="18" charset="2"/>
              </a:rPr>
              <a:t></a:t>
            </a:r>
            <a:r>
              <a:rPr lang="en-US" dirty="0"/>
              <a:t> 0.</a:t>
            </a:r>
          </a:p>
          <a:p>
            <a:pPr eaLnBrk="0" hangingPunct="0">
              <a:lnSpc>
                <a:spcPct val="95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Why?</a:t>
            </a:r>
          </a:p>
          <a:p>
            <a:pPr eaLnBrk="0" hangingPunct="0">
              <a:lnSpc>
                <a:spcPct val="95000"/>
              </a:lnSpc>
              <a:spcBef>
                <a:spcPct val="30000"/>
              </a:spcBef>
              <a:buFont typeface="Arial" pitchFamily="34" charset="0"/>
              <a:buChar char="•"/>
            </a:pPr>
            <a:r>
              <a:rPr lang="en-US" dirty="0"/>
              <a:t> It maintains a set </a:t>
            </a:r>
            <a:r>
              <a:rPr lang="en-US" i="1" dirty="0"/>
              <a:t>K</a:t>
            </a:r>
            <a:r>
              <a:rPr lang="en-US" dirty="0"/>
              <a:t> containing all vertices whose shortest paths from the source vertex </a:t>
            </a:r>
            <a:r>
              <a:rPr lang="en-US" i="1" dirty="0"/>
              <a:t>s</a:t>
            </a:r>
            <a:r>
              <a:rPr lang="en-US" dirty="0"/>
              <a:t> are known </a:t>
            </a:r>
            <a:br>
              <a:rPr lang="en-US" dirty="0"/>
            </a:br>
            <a:r>
              <a:rPr lang="en-US" dirty="0"/>
              <a:t>(i.e. </a:t>
            </a:r>
            <a:r>
              <a:rPr lang="en-US" i="1" dirty="0"/>
              <a:t>d[u] = </a:t>
            </a:r>
            <a:r>
              <a:rPr lang="en-US" i="1" dirty="0">
                <a:latin typeface="Symbol" pitchFamily="18" charset="2"/>
              </a:rPr>
              <a:t>d</a:t>
            </a:r>
            <a:r>
              <a:rPr lang="en-US" i="1" dirty="0"/>
              <a:t>(</a:t>
            </a:r>
            <a:r>
              <a:rPr lang="en-US" i="1" dirty="0" err="1"/>
              <a:t>s,u</a:t>
            </a:r>
            <a:r>
              <a:rPr lang="en-US" i="1" dirty="0"/>
              <a:t>)</a:t>
            </a:r>
            <a:r>
              <a:rPr lang="en-US" dirty="0"/>
              <a:t> for all </a:t>
            </a:r>
            <a:r>
              <a:rPr lang="en-US" i="1" dirty="0"/>
              <a:t>u</a:t>
            </a:r>
            <a:r>
              <a:rPr lang="en-US" dirty="0"/>
              <a:t> in </a:t>
            </a:r>
            <a:r>
              <a:rPr lang="en-US" i="1" dirty="0"/>
              <a:t>K</a:t>
            </a:r>
            <a:r>
              <a:rPr lang="en-US" dirty="0"/>
              <a:t>).</a:t>
            </a:r>
          </a:p>
          <a:p>
            <a:pPr eaLnBrk="0" hangingPunct="0">
              <a:lnSpc>
                <a:spcPct val="95000"/>
              </a:lnSpc>
              <a:spcBef>
                <a:spcPct val="30000"/>
              </a:spcBef>
            </a:pPr>
            <a:r>
              <a:rPr lang="en-US" dirty="0"/>
              <a:t>Now look at the “frontier” </a:t>
            </a:r>
            <a:r>
              <a:rPr lang="en-US" i="1" dirty="0"/>
              <a:t>F</a:t>
            </a:r>
            <a:r>
              <a:rPr lang="en-US" dirty="0"/>
              <a:t> of </a:t>
            </a:r>
            <a:r>
              <a:rPr lang="en-US" i="1" dirty="0"/>
              <a:t>K — i.e., </a:t>
            </a:r>
            <a:r>
              <a:rPr lang="en-US" dirty="0"/>
              <a:t>all vertices adjacent to a vertex in </a:t>
            </a:r>
            <a:r>
              <a:rPr lang="en-US" i="1" dirty="0"/>
              <a:t>K</a:t>
            </a:r>
            <a:r>
              <a:rPr lang="en-US" dirty="0"/>
              <a:t>.</a:t>
            </a:r>
          </a:p>
        </p:txBody>
      </p:sp>
      <p:sp>
        <p:nvSpPr>
          <p:cNvPr id="169993" name="Oval 9"/>
          <p:cNvSpPr>
            <a:spLocks noChangeArrowheads="1"/>
          </p:cNvSpPr>
          <p:nvPr/>
        </p:nvSpPr>
        <p:spPr bwMode="auto">
          <a:xfrm>
            <a:off x="6940550" y="39687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9994" name="Oval 10"/>
          <p:cNvSpPr>
            <a:spLocks noChangeArrowheads="1"/>
          </p:cNvSpPr>
          <p:nvPr/>
        </p:nvSpPr>
        <p:spPr bwMode="auto">
          <a:xfrm>
            <a:off x="5957047" y="6261100"/>
            <a:ext cx="431800" cy="4318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9995" name="Rectangle 11"/>
          <p:cNvSpPr>
            <a:spLocks noChangeArrowheads="1"/>
          </p:cNvSpPr>
          <p:nvPr/>
        </p:nvSpPr>
        <p:spPr bwMode="auto">
          <a:xfrm>
            <a:off x="7756525" y="4327525"/>
            <a:ext cx="107315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2400">
                <a:latin typeface="Times New Roman" pitchFamily="18" charset="0"/>
              </a:rPr>
              <a:t>the rest</a:t>
            </a:r>
          </a:p>
          <a:p>
            <a:pPr algn="l" eaLnBrk="0" hangingPunct="0"/>
            <a:r>
              <a:rPr lang="en-US" sz="2400">
                <a:latin typeface="Times New Roman" pitchFamily="18" charset="0"/>
              </a:rPr>
              <a:t>of  the </a:t>
            </a:r>
          </a:p>
          <a:p>
            <a:pPr algn="l" eaLnBrk="0" hangingPunct="0"/>
            <a:r>
              <a:rPr lang="en-US" sz="2400">
                <a:latin typeface="Times New Roman" pitchFamily="18" charset="0"/>
              </a:rPr>
              <a:t>graph</a:t>
            </a:r>
          </a:p>
        </p:txBody>
      </p:sp>
      <p:sp>
        <p:nvSpPr>
          <p:cNvPr id="169996" name="Line 12"/>
          <p:cNvSpPr>
            <a:spLocks noChangeShapeType="1"/>
          </p:cNvSpPr>
          <p:nvPr/>
        </p:nvSpPr>
        <p:spPr bwMode="auto">
          <a:xfrm>
            <a:off x="7240588" y="4930775"/>
            <a:ext cx="379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9997" name="Line 13"/>
          <p:cNvSpPr>
            <a:spLocks noChangeShapeType="1"/>
          </p:cNvSpPr>
          <p:nvPr/>
        </p:nvSpPr>
        <p:spPr bwMode="auto">
          <a:xfrm>
            <a:off x="6313488" y="5654675"/>
            <a:ext cx="760412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9998" name="Line 14"/>
          <p:cNvSpPr>
            <a:spLocks noChangeShapeType="1"/>
          </p:cNvSpPr>
          <p:nvPr/>
        </p:nvSpPr>
        <p:spPr bwMode="auto">
          <a:xfrm>
            <a:off x="6389688" y="5511800"/>
            <a:ext cx="684212" cy="141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9999" name="Line 15"/>
          <p:cNvSpPr>
            <a:spLocks noChangeShapeType="1"/>
          </p:cNvSpPr>
          <p:nvPr/>
        </p:nvSpPr>
        <p:spPr bwMode="auto">
          <a:xfrm flipV="1">
            <a:off x="1677988" y="5003800"/>
            <a:ext cx="1065212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0000" name="Line 16"/>
          <p:cNvSpPr>
            <a:spLocks noChangeShapeType="1"/>
          </p:cNvSpPr>
          <p:nvPr/>
        </p:nvSpPr>
        <p:spPr bwMode="auto">
          <a:xfrm>
            <a:off x="4268787" y="4787900"/>
            <a:ext cx="1226577" cy="7097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0001" name="Line 17"/>
          <p:cNvSpPr>
            <a:spLocks noChangeShapeType="1"/>
          </p:cNvSpPr>
          <p:nvPr/>
        </p:nvSpPr>
        <p:spPr bwMode="auto">
          <a:xfrm flipV="1">
            <a:off x="2897188" y="4786313"/>
            <a:ext cx="1370012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0002" name="Line 18"/>
          <p:cNvSpPr>
            <a:spLocks noChangeShapeType="1"/>
          </p:cNvSpPr>
          <p:nvPr/>
        </p:nvSpPr>
        <p:spPr bwMode="auto">
          <a:xfrm>
            <a:off x="5411788" y="4859338"/>
            <a:ext cx="17510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0003" name="Line 19"/>
          <p:cNvSpPr>
            <a:spLocks noChangeShapeType="1"/>
          </p:cNvSpPr>
          <p:nvPr/>
        </p:nvSpPr>
        <p:spPr bwMode="auto">
          <a:xfrm flipH="1">
            <a:off x="4421188" y="5729288"/>
            <a:ext cx="227012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0004" name="Line 20"/>
          <p:cNvSpPr>
            <a:spLocks noChangeShapeType="1"/>
          </p:cNvSpPr>
          <p:nvPr/>
        </p:nvSpPr>
        <p:spPr bwMode="auto">
          <a:xfrm>
            <a:off x="3963988" y="5365750"/>
            <a:ext cx="684212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0005" name="Line 21"/>
          <p:cNvSpPr>
            <a:spLocks noChangeShapeType="1"/>
          </p:cNvSpPr>
          <p:nvPr/>
        </p:nvSpPr>
        <p:spPr bwMode="auto">
          <a:xfrm>
            <a:off x="3963988" y="5365750"/>
            <a:ext cx="531812" cy="1011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0006" name="Line 22"/>
          <p:cNvSpPr>
            <a:spLocks noChangeShapeType="1"/>
          </p:cNvSpPr>
          <p:nvPr/>
        </p:nvSpPr>
        <p:spPr bwMode="auto">
          <a:xfrm flipV="1">
            <a:off x="2820988" y="5872163"/>
            <a:ext cx="608012" cy="360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0007" name="Line 23"/>
          <p:cNvSpPr>
            <a:spLocks noChangeShapeType="1"/>
          </p:cNvSpPr>
          <p:nvPr/>
        </p:nvSpPr>
        <p:spPr bwMode="auto">
          <a:xfrm>
            <a:off x="1677988" y="5729288"/>
            <a:ext cx="1217612" cy="503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0008" name="Line 24"/>
          <p:cNvSpPr>
            <a:spLocks noChangeShapeType="1"/>
          </p:cNvSpPr>
          <p:nvPr/>
        </p:nvSpPr>
        <p:spPr bwMode="auto">
          <a:xfrm>
            <a:off x="2897188" y="5005388"/>
            <a:ext cx="531812" cy="936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0009" name="Oval 25"/>
          <p:cNvSpPr>
            <a:spLocks noChangeArrowheads="1"/>
          </p:cNvSpPr>
          <p:nvPr/>
        </p:nvSpPr>
        <p:spPr bwMode="auto">
          <a:xfrm>
            <a:off x="1225550" y="5227638"/>
            <a:ext cx="673100" cy="63658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 i="1" dirty="0">
                <a:latin typeface="Times New Roman" pitchFamily="18" charset="0"/>
              </a:rPr>
              <a:t>s</a:t>
            </a:r>
          </a:p>
        </p:txBody>
      </p:sp>
      <p:sp>
        <p:nvSpPr>
          <p:cNvPr id="170010" name="Oval 26"/>
          <p:cNvSpPr>
            <a:spLocks noChangeArrowheads="1"/>
          </p:cNvSpPr>
          <p:nvPr/>
        </p:nvSpPr>
        <p:spPr bwMode="auto">
          <a:xfrm>
            <a:off x="2597150" y="4792663"/>
            <a:ext cx="444500" cy="4222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0011" name="Oval 27"/>
          <p:cNvSpPr>
            <a:spLocks noChangeArrowheads="1"/>
          </p:cNvSpPr>
          <p:nvPr/>
        </p:nvSpPr>
        <p:spPr bwMode="auto">
          <a:xfrm>
            <a:off x="3968750" y="4576763"/>
            <a:ext cx="444500" cy="42068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0012" name="Oval 28"/>
          <p:cNvSpPr>
            <a:spLocks noChangeArrowheads="1"/>
          </p:cNvSpPr>
          <p:nvPr/>
        </p:nvSpPr>
        <p:spPr bwMode="auto">
          <a:xfrm>
            <a:off x="3740150" y="5154613"/>
            <a:ext cx="444500" cy="42068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0013" name="Oval 29"/>
          <p:cNvSpPr>
            <a:spLocks noChangeArrowheads="1"/>
          </p:cNvSpPr>
          <p:nvPr/>
        </p:nvSpPr>
        <p:spPr bwMode="auto">
          <a:xfrm>
            <a:off x="2597150" y="5948363"/>
            <a:ext cx="444500" cy="4222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0014" name="Oval 30"/>
          <p:cNvSpPr>
            <a:spLocks noChangeArrowheads="1"/>
          </p:cNvSpPr>
          <p:nvPr/>
        </p:nvSpPr>
        <p:spPr bwMode="auto">
          <a:xfrm>
            <a:off x="6940550" y="4648200"/>
            <a:ext cx="444500" cy="4206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0015" name="Oval 31"/>
          <p:cNvSpPr>
            <a:spLocks noChangeArrowheads="1"/>
          </p:cNvSpPr>
          <p:nvPr/>
        </p:nvSpPr>
        <p:spPr bwMode="auto">
          <a:xfrm>
            <a:off x="6019800" y="5376863"/>
            <a:ext cx="431800" cy="4095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0016" name="Oval 32"/>
          <p:cNvSpPr>
            <a:spLocks noChangeArrowheads="1"/>
          </p:cNvSpPr>
          <p:nvPr/>
        </p:nvSpPr>
        <p:spPr bwMode="auto">
          <a:xfrm>
            <a:off x="3206750" y="5659438"/>
            <a:ext cx="444500" cy="4222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0017" name="Oval 33"/>
          <p:cNvSpPr>
            <a:spLocks noChangeArrowheads="1"/>
          </p:cNvSpPr>
          <p:nvPr/>
        </p:nvSpPr>
        <p:spPr bwMode="auto">
          <a:xfrm>
            <a:off x="5494618" y="4637928"/>
            <a:ext cx="431800" cy="407988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0018" name="Oval 34"/>
          <p:cNvSpPr>
            <a:spLocks noChangeArrowheads="1"/>
          </p:cNvSpPr>
          <p:nvPr/>
        </p:nvSpPr>
        <p:spPr bwMode="auto">
          <a:xfrm>
            <a:off x="4425950" y="5370513"/>
            <a:ext cx="444500" cy="4222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0019" name="Oval 35"/>
          <p:cNvSpPr>
            <a:spLocks noChangeArrowheads="1"/>
          </p:cNvSpPr>
          <p:nvPr/>
        </p:nvSpPr>
        <p:spPr bwMode="auto">
          <a:xfrm>
            <a:off x="4197350" y="6094413"/>
            <a:ext cx="444500" cy="42068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0020" name="Rectangle 36"/>
          <p:cNvSpPr>
            <a:spLocks noChangeArrowheads="1"/>
          </p:cNvSpPr>
          <p:nvPr/>
        </p:nvSpPr>
        <p:spPr bwMode="auto">
          <a:xfrm>
            <a:off x="974725" y="4581525"/>
            <a:ext cx="424796" cy="5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2800" i="1" dirty="0">
                <a:latin typeface="Times New Roman" pitchFamily="18" charset="0"/>
              </a:rPr>
              <a:t>K</a:t>
            </a:r>
          </a:p>
        </p:txBody>
      </p:sp>
      <p:cxnSp>
        <p:nvCxnSpPr>
          <p:cNvPr id="170021" name="AutoShape 37"/>
          <p:cNvCxnSpPr>
            <a:cxnSpLocks noChangeShapeType="1"/>
            <a:stCxn id="170016" idx="7"/>
            <a:endCxn id="170012" idx="3"/>
          </p:cNvCxnSpPr>
          <p:nvPr/>
        </p:nvCxnSpPr>
        <p:spPr bwMode="auto">
          <a:xfrm flipV="1">
            <a:off x="3586163" y="5513388"/>
            <a:ext cx="219075" cy="207962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cxnSp>
      <p:cxnSp>
        <p:nvCxnSpPr>
          <p:cNvPr id="170022" name="AutoShape 38"/>
          <p:cNvCxnSpPr>
            <a:cxnSpLocks noChangeShapeType="1"/>
            <a:stCxn id="170018" idx="6"/>
            <a:endCxn id="170015" idx="2"/>
          </p:cNvCxnSpPr>
          <p:nvPr/>
        </p:nvCxnSpPr>
        <p:spPr bwMode="auto">
          <a:xfrm>
            <a:off x="4870450" y="5581650"/>
            <a:ext cx="1120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cxnSp>
      <p:cxnSp>
        <p:nvCxnSpPr>
          <p:cNvPr id="170023" name="AutoShape 39"/>
          <p:cNvCxnSpPr>
            <a:cxnSpLocks noChangeShapeType="1"/>
            <a:stCxn id="170018" idx="6"/>
            <a:endCxn id="169994" idx="2"/>
          </p:cNvCxnSpPr>
          <p:nvPr/>
        </p:nvCxnSpPr>
        <p:spPr bwMode="auto">
          <a:xfrm>
            <a:off x="4870450" y="5581651"/>
            <a:ext cx="1086597" cy="895349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cxnSp>
      <p:cxnSp>
        <p:nvCxnSpPr>
          <p:cNvPr id="170024" name="AutoShape 40"/>
          <p:cNvCxnSpPr>
            <a:cxnSpLocks noChangeShapeType="1"/>
            <a:stCxn id="170019" idx="6"/>
            <a:endCxn id="170015" idx="2"/>
          </p:cNvCxnSpPr>
          <p:nvPr/>
        </p:nvCxnSpPr>
        <p:spPr bwMode="auto">
          <a:xfrm flipV="1">
            <a:off x="4641850" y="5581650"/>
            <a:ext cx="1349375" cy="7239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cxnSp>
      <p:cxnSp>
        <p:nvCxnSpPr>
          <p:cNvPr id="170025" name="AutoShape 41"/>
          <p:cNvCxnSpPr>
            <a:cxnSpLocks noChangeShapeType="1"/>
            <a:stCxn id="170019" idx="6"/>
            <a:endCxn id="169994" idx="2"/>
          </p:cNvCxnSpPr>
          <p:nvPr/>
        </p:nvCxnSpPr>
        <p:spPr bwMode="auto">
          <a:xfrm>
            <a:off x="4641850" y="6304757"/>
            <a:ext cx="1315197" cy="172243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cxnSp>
      <p:sp>
        <p:nvSpPr>
          <p:cNvPr id="43" name="Oval 42"/>
          <p:cNvSpPr/>
          <p:nvPr/>
        </p:nvSpPr>
        <p:spPr>
          <a:xfrm>
            <a:off x="5307108" y="4123763"/>
            <a:ext cx="1541929" cy="2689412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995592" y="3701533"/>
            <a:ext cx="3497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solidFill>
                  <a:srgbClr val="0070C0"/>
                </a:solidFill>
              </a:rPr>
              <a:t>F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Oval 2"/>
          <p:cNvSpPr>
            <a:spLocks noChangeArrowheads="1"/>
          </p:cNvSpPr>
          <p:nvPr/>
        </p:nvSpPr>
        <p:spPr bwMode="auto">
          <a:xfrm>
            <a:off x="4318000" y="1757363"/>
            <a:ext cx="2609850" cy="2349500"/>
          </a:xfrm>
          <a:prstGeom prst="ellips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2035" name="Line 3"/>
          <p:cNvSpPr>
            <a:spLocks noChangeShapeType="1"/>
          </p:cNvSpPr>
          <p:nvPr/>
        </p:nvSpPr>
        <p:spPr bwMode="auto">
          <a:xfrm>
            <a:off x="6326188" y="2284413"/>
            <a:ext cx="12176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926388" y="3352800"/>
            <a:ext cx="684212" cy="608013"/>
            <a:chOff x="2785" y="2113"/>
            <a:chExt cx="431" cy="383"/>
          </a:xfrm>
        </p:grpSpPr>
        <p:sp>
          <p:nvSpPr>
            <p:cNvPr id="172037" name="Line 5"/>
            <p:cNvSpPr>
              <a:spLocks noChangeShapeType="1"/>
            </p:cNvSpPr>
            <p:nvPr/>
          </p:nvSpPr>
          <p:spPr bwMode="auto">
            <a:xfrm>
              <a:off x="2785" y="2305"/>
              <a:ext cx="287" cy="1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2038" name="Line 6"/>
            <p:cNvSpPr>
              <a:spLocks noChangeShapeType="1"/>
            </p:cNvSpPr>
            <p:nvPr/>
          </p:nvSpPr>
          <p:spPr bwMode="auto">
            <a:xfrm>
              <a:off x="2833" y="2256"/>
              <a:ext cx="3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2039" name="Line 7"/>
            <p:cNvSpPr>
              <a:spLocks noChangeShapeType="1"/>
            </p:cNvSpPr>
            <p:nvPr/>
          </p:nvSpPr>
          <p:spPr bwMode="auto">
            <a:xfrm flipV="1">
              <a:off x="2929" y="2113"/>
              <a:ext cx="191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7926388" y="2133600"/>
            <a:ext cx="684212" cy="608013"/>
            <a:chOff x="2785" y="1345"/>
            <a:chExt cx="431" cy="383"/>
          </a:xfrm>
        </p:grpSpPr>
        <p:sp>
          <p:nvSpPr>
            <p:cNvPr id="172041" name="Line 9"/>
            <p:cNvSpPr>
              <a:spLocks noChangeShapeType="1"/>
            </p:cNvSpPr>
            <p:nvPr/>
          </p:nvSpPr>
          <p:spPr bwMode="auto">
            <a:xfrm>
              <a:off x="2785" y="1537"/>
              <a:ext cx="287" cy="1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2042" name="Line 10"/>
            <p:cNvSpPr>
              <a:spLocks noChangeShapeType="1"/>
            </p:cNvSpPr>
            <p:nvPr/>
          </p:nvSpPr>
          <p:spPr bwMode="auto">
            <a:xfrm>
              <a:off x="2833" y="1488"/>
              <a:ext cx="3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2043" name="Line 11"/>
            <p:cNvSpPr>
              <a:spLocks noChangeShapeType="1"/>
            </p:cNvSpPr>
            <p:nvPr/>
          </p:nvSpPr>
          <p:spPr bwMode="auto">
            <a:xfrm flipV="1">
              <a:off x="2929" y="1345"/>
              <a:ext cx="191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2044" name="Line 12"/>
          <p:cNvSpPr>
            <a:spLocks noChangeShapeType="1"/>
          </p:cNvSpPr>
          <p:nvPr/>
        </p:nvSpPr>
        <p:spPr bwMode="auto">
          <a:xfrm>
            <a:off x="6097588" y="3579813"/>
            <a:ext cx="14462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2045" name="Line 13"/>
          <p:cNvSpPr>
            <a:spLocks noChangeShapeType="1"/>
          </p:cNvSpPr>
          <p:nvPr/>
        </p:nvSpPr>
        <p:spPr bwMode="auto">
          <a:xfrm flipV="1">
            <a:off x="6173788" y="2438400"/>
            <a:ext cx="1370012" cy="1065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2046" name="Line 14"/>
          <p:cNvSpPr>
            <a:spLocks noChangeShapeType="1"/>
          </p:cNvSpPr>
          <p:nvPr/>
        </p:nvSpPr>
        <p:spPr bwMode="auto">
          <a:xfrm>
            <a:off x="6173788" y="2362200"/>
            <a:ext cx="1598612" cy="912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2047" name="Rectangle 1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Dijkstra’s</a:t>
            </a:r>
            <a:r>
              <a:rPr lang="en-US" dirty="0"/>
              <a:t>: Theorem</a:t>
            </a:r>
          </a:p>
        </p:txBody>
      </p:sp>
      <p:sp>
        <p:nvSpPr>
          <p:cNvPr id="172048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206184" y="784404"/>
            <a:ext cx="4419604" cy="6073596"/>
          </a:xfrm>
        </p:spPr>
        <p:txBody>
          <a:bodyPr>
            <a:normAutofit fontScale="92500" lnSpcReduction="10000"/>
          </a:bodyPr>
          <a:lstStyle/>
          <a:p>
            <a:pPr eaLnBrk="0" hangingPunct="0"/>
            <a:r>
              <a:rPr lang="en-US" dirty="0"/>
              <a:t>After the end of each iteration of while loop in </a:t>
            </a:r>
            <a:r>
              <a:rPr lang="en-US" dirty="0" err="1"/>
              <a:t>Dijkstra’s</a:t>
            </a:r>
            <a:r>
              <a:rPr lang="en-US" dirty="0"/>
              <a:t> algorithm the following is true for each frontier vertex </a:t>
            </a:r>
            <a:r>
              <a:rPr lang="en-US" i="1" dirty="0"/>
              <a:t>u</a:t>
            </a:r>
            <a:r>
              <a:rPr lang="en-US" dirty="0"/>
              <a:t>: </a:t>
            </a:r>
            <a:r>
              <a:rPr lang="en-US" i="1" dirty="0"/>
              <a:t>d[u] </a:t>
            </a:r>
            <a:r>
              <a:rPr lang="en-US" dirty="0"/>
              <a:t>is the weight of the shortest path to </a:t>
            </a:r>
            <a:r>
              <a:rPr lang="en-US" i="1" dirty="0"/>
              <a:t>u</a:t>
            </a:r>
            <a:r>
              <a:rPr lang="en-US" dirty="0"/>
              <a:t> going through </a:t>
            </a:r>
            <a:r>
              <a:rPr lang="en-US" u="sng" dirty="0"/>
              <a:t>only</a:t>
            </a:r>
            <a:r>
              <a:rPr lang="en-US" dirty="0"/>
              <a:t> vertices in </a:t>
            </a:r>
            <a:r>
              <a:rPr lang="en-US" i="1" dirty="0"/>
              <a:t>K.</a:t>
            </a:r>
            <a:endParaRPr lang="en-US" dirty="0"/>
          </a:p>
          <a:p>
            <a:pPr eaLnBrk="0" hangingPunct="0"/>
            <a:endParaRPr lang="en-US" dirty="0"/>
          </a:p>
          <a:p>
            <a:pPr eaLnBrk="0" hangingPunct="0"/>
            <a:r>
              <a:rPr lang="en-US" dirty="0"/>
              <a:t>The algorithm picks the frontier vertex </a:t>
            </a:r>
            <a:r>
              <a:rPr lang="en-US" i="1" dirty="0"/>
              <a:t>u</a:t>
            </a:r>
            <a:r>
              <a:rPr lang="en-US" dirty="0"/>
              <a:t> with the smallest value of </a:t>
            </a:r>
            <a:r>
              <a:rPr lang="en-US" i="1" dirty="0"/>
              <a:t>d[u] </a:t>
            </a:r>
            <a:r>
              <a:rPr lang="en-US" dirty="0"/>
              <a:t>in the next iteration.</a:t>
            </a:r>
          </a:p>
          <a:p>
            <a:pPr eaLnBrk="0" hangingPunct="0"/>
            <a:endParaRPr lang="en-US" dirty="0">
              <a:solidFill>
                <a:srgbClr val="FF0000"/>
              </a:solidFill>
            </a:endParaRPr>
          </a:p>
          <a:p>
            <a:pPr eaLnBrk="0" hangingPunct="0"/>
            <a:r>
              <a:rPr lang="en-US" dirty="0">
                <a:solidFill>
                  <a:srgbClr val="FF0000"/>
                </a:solidFill>
              </a:rPr>
              <a:t>Claim</a:t>
            </a:r>
            <a:r>
              <a:rPr lang="en-US" dirty="0"/>
              <a:t>: If u is chosen (via the Extract-Min </a:t>
            </a:r>
            <a:r>
              <a:rPr lang="en-US" dirty="0" err="1"/>
              <a:t>opertaion</a:t>
            </a:r>
            <a:r>
              <a:rPr lang="en-US" dirty="0"/>
              <a:t> in line 5) in the beginning of an iteration then </a:t>
            </a:r>
            <a:r>
              <a:rPr lang="en-US" b="1" i="1" dirty="0"/>
              <a:t>d[u] = </a:t>
            </a:r>
            <a:r>
              <a:rPr lang="en-US" b="1" i="1" dirty="0">
                <a:latin typeface="Symbol" pitchFamily="18" charset="2"/>
              </a:rPr>
              <a:t>d</a:t>
            </a:r>
            <a:r>
              <a:rPr lang="en-US" b="1" i="1" dirty="0"/>
              <a:t>(</a:t>
            </a:r>
            <a:r>
              <a:rPr lang="en-US" b="1" i="1" dirty="0" err="1"/>
              <a:t>s,u</a:t>
            </a:r>
            <a:r>
              <a:rPr lang="en-US" b="1" i="1" dirty="0"/>
              <a:t>)</a:t>
            </a:r>
          </a:p>
        </p:txBody>
      </p:sp>
      <p:sp>
        <p:nvSpPr>
          <p:cNvPr id="172049" name="Oval 17"/>
          <p:cNvSpPr>
            <a:spLocks noChangeArrowheads="1"/>
          </p:cNvSpPr>
          <p:nvPr/>
        </p:nvSpPr>
        <p:spPr bwMode="auto">
          <a:xfrm>
            <a:off x="4425950" y="2519363"/>
            <a:ext cx="596900" cy="5969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 dirty="0">
                <a:latin typeface="Times New Roman" pitchFamily="18" charset="0"/>
              </a:rPr>
              <a:t>s</a:t>
            </a:r>
          </a:p>
        </p:txBody>
      </p:sp>
      <p:sp>
        <p:nvSpPr>
          <p:cNvPr id="172050" name="Oval 18"/>
          <p:cNvSpPr>
            <a:spLocks noChangeArrowheads="1"/>
          </p:cNvSpPr>
          <p:nvPr/>
        </p:nvSpPr>
        <p:spPr bwMode="auto">
          <a:xfrm>
            <a:off x="5797550" y="1985963"/>
            <a:ext cx="596900" cy="5969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 dirty="0">
                <a:latin typeface="Times New Roman" pitchFamily="18" charset="0"/>
              </a:rPr>
              <a:t>4</a:t>
            </a:r>
          </a:p>
        </p:txBody>
      </p:sp>
      <p:sp>
        <p:nvSpPr>
          <p:cNvPr id="172051" name="Oval 19"/>
          <p:cNvSpPr>
            <a:spLocks noChangeArrowheads="1"/>
          </p:cNvSpPr>
          <p:nvPr/>
        </p:nvSpPr>
        <p:spPr bwMode="auto">
          <a:xfrm>
            <a:off x="7550150" y="3281363"/>
            <a:ext cx="596900" cy="5969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 dirty="0">
                <a:latin typeface="Times New Roman" pitchFamily="18" charset="0"/>
              </a:rPr>
              <a:t>9</a:t>
            </a:r>
          </a:p>
        </p:txBody>
      </p:sp>
      <p:sp>
        <p:nvSpPr>
          <p:cNvPr id="172052" name="Oval 20"/>
          <p:cNvSpPr>
            <a:spLocks noChangeArrowheads="1"/>
          </p:cNvSpPr>
          <p:nvPr/>
        </p:nvSpPr>
        <p:spPr bwMode="auto">
          <a:xfrm>
            <a:off x="7550150" y="1985963"/>
            <a:ext cx="596900" cy="5969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sz="2400" dirty="0">
                <a:latin typeface="Times New Roman" pitchFamily="18" charset="0"/>
              </a:rPr>
              <a:t>7</a:t>
            </a:r>
          </a:p>
        </p:txBody>
      </p:sp>
      <p:sp>
        <p:nvSpPr>
          <p:cNvPr id="172053" name="Oval 21"/>
          <p:cNvSpPr>
            <a:spLocks noChangeArrowheads="1"/>
          </p:cNvSpPr>
          <p:nvPr/>
        </p:nvSpPr>
        <p:spPr bwMode="auto">
          <a:xfrm>
            <a:off x="5721350" y="3281363"/>
            <a:ext cx="596900" cy="5969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 dirty="0">
                <a:latin typeface="Times New Roman" pitchFamily="18" charset="0"/>
              </a:rPr>
              <a:t>6</a:t>
            </a:r>
          </a:p>
        </p:txBody>
      </p:sp>
      <p:sp>
        <p:nvSpPr>
          <p:cNvPr id="172054" name="Rectangle 22"/>
          <p:cNvSpPr>
            <a:spLocks noChangeArrowheads="1"/>
          </p:cNvSpPr>
          <p:nvPr/>
        </p:nvSpPr>
        <p:spPr bwMode="auto">
          <a:xfrm>
            <a:off x="6842125" y="188753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2400">
                <a:latin typeface="Times New Roman" pitchFamily="18" charset="0"/>
              </a:rPr>
              <a:t>2</a:t>
            </a:r>
          </a:p>
        </p:txBody>
      </p:sp>
      <p:sp>
        <p:nvSpPr>
          <p:cNvPr id="172055" name="Rectangle 23"/>
          <p:cNvSpPr>
            <a:spLocks noChangeArrowheads="1"/>
          </p:cNvSpPr>
          <p:nvPr/>
        </p:nvSpPr>
        <p:spPr bwMode="auto">
          <a:xfrm>
            <a:off x="6994525" y="234473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2400">
                <a:latin typeface="Times New Roman" pitchFamily="18" charset="0"/>
              </a:rPr>
              <a:t>1</a:t>
            </a:r>
          </a:p>
        </p:txBody>
      </p:sp>
      <p:sp>
        <p:nvSpPr>
          <p:cNvPr id="172056" name="Rectangle 24"/>
          <p:cNvSpPr>
            <a:spLocks noChangeArrowheads="1"/>
          </p:cNvSpPr>
          <p:nvPr/>
        </p:nvSpPr>
        <p:spPr bwMode="auto">
          <a:xfrm>
            <a:off x="6895920" y="348773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2400" dirty="0">
                <a:latin typeface="Times New Roman" pitchFamily="18" charset="0"/>
              </a:rPr>
              <a:t>3</a:t>
            </a:r>
          </a:p>
        </p:txBody>
      </p:sp>
      <p:sp>
        <p:nvSpPr>
          <p:cNvPr id="172057" name="Rectangle 25"/>
          <p:cNvSpPr>
            <a:spLocks noChangeArrowheads="1"/>
          </p:cNvSpPr>
          <p:nvPr/>
        </p:nvSpPr>
        <p:spPr bwMode="auto">
          <a:xfrm>
            <a:off x="7048313" y="2855726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2400" dirty="0">
                <a:latin typeface="Times New Roman" pitchFamily="18" charset="0"/>
              </a:rPr>
              <a:t>8</a:t>
            </a:r>
          </a:p>
        </p:txBody>
      </p:sp>
      <p:sp>
        <p:nvSpPr>
          <p:cNvPr id="172058" name="Rectangle 26"/>
          <p:cNvSpPr>
            <a:spLocks noChangeArrowheads="1"/>
          </p:cNvSpPr>
          <p:nvPr/>
        </p:nvSpPr>
        <p:spPr bwMode="auto">
          <a:xfrm>
            <a:off x="7010400" y="1452563"/>
            <a:ext cx="1887538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1800">
                <a:latin typeface="Times New Roman" pitchFamily="18" charset="0"/>
              </a:rPr>
              <a:t>min(4+2, 6+1) = 6</a:t>
            </a:r>
          </a:p>
        </p:txBody>
      </p:sp>
      <p:sp>
        <p:nvSpPr>
          <p:cNvPr id="172059" name="Rectangle 27"/>
          <p:cNvSpPr>
            <a:spLocks noChangeArrowheads="1"/>
          </p:cNvSpPr>
          <p:nvPr/>
        </p:nvSpPr>
        <p:spPr bwMode="auto">
          <a:xfrm>
            <a:off x="7036828" y="4052328"/>
            <a:ext cx="1887537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1800">
                <a:latin typeface="Times New Roman" pitchFamily="18" charset="0"/>
              </a:rPr>
              <a:t>min(4+8, 6+3) = 9</a:t>
            </a:r>
          </a:p>
        </p:txBody>
      </p:sp>
      <p:cxnSp>
        <p:nvCxnSpPr>
          <p:cNvPr id="32" name="Shape 31"/>
          <p:cNvCxnSpPr>
            <a:stCxn id="172049" idx="6"/>
            <a:endCxn id="172050" idx="1"/>
          </p:cNvCxnSpPr>
          <p:nvPr/>
        </p:nvCxnSpPr>
        <p:spPr>
          <a:xfrm flipV="1">
            <a:off x="5022850" y="2073377"/>
            <a:ext cx="862114" cy="744436"/>
          </a:xfrm>
          <a:prstGeom prst="curvedConnector4">
            <a:avLst>
              <a:gd name="adj1" fmla="val 38691"/>
              <a:gd name="adj2" fmla="val 13281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hape 37"/>
          <p:cNvCxnSpPr>
            <a:stCxn id="172049" idx="6"/>
            <a:endCxn id="172053" idx="3"/>
          </p:cNvCxnSpPr>
          <p:nvPr/>
        </p:nvCxnSpPr>
        <p:spPr>
          <a:xfrm>
            <a:off x="5022850" y="2817813"/>
            <a:ext cx="785914" cy="973036"/>
          </a:xfrm>
          <a:prstGeom prst="curvedConnector4">
            <a:avLst>
              <a:gd name="adj1" fmla="val 44439"/>
              <a:gd name="adj2" fmla="val 123493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894683" y="1487251"/>
            <a:ext cx="344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/>
              <a:t>K</a:t>
            </a:r>
            <a:endParaRPr lang="en-US" sz="2400" dirty="0"/>
          </a:p>
        </p:txBody>
      </p:sp>
      <p:sp>
        <p:nvSpPr>
          <p:cNvPr id="42" name="TextBox 41"/>
          <p:cNvSpPr txBox="1"/>
          <p:nvPr/>
        </p:nvSpPr>
        <p:spPr>
          <a:xfrm>
            <a:off x="5647773" y="2528044"/>
            <a:ext cx="1201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Current 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39332" y="2545972"/>
            <a:ext cx="1201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Next 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u</a:t>
            </a:r>
          </a:p>
        </p:txBody>
      </p:sp>
      <p:sp>
        <p:nvSpPr>
          <p:cNvPr id="44" name="Oval 20"/>
          <p:cNvSpPr>
            <a:spLocks noChangeArrowheads="1"/>
          </p:cNvSpPr>
          <p:nvPr/>
        </p:nvSpPr>
        <p:spPr bwMode="auto">
          <a:xfrm>
            <a:off x="7550145" y="1985958"/>
            <a:ext cx="596900" cy="5969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 dirty="0">
                <a:solidFill>
                  <a:srgbClr val="FF0000"/>
                </a:solidFill>
                <a:latin typeface="Times New Roman" pitchFamily="18" charset="0"/>
              </a:rPr>
              <a:t>6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58" grpId="0" animBg="1"/>
      <p:bldP spid="172059" grpId="0" animBg="1"/>
      <p:bldP spid="4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Dijkstra’s</a:t>
            </a:r>
            <a:r>
              <a:rPr lang="en-US" dirty="0"/>
              <a:t>: Proof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5575" y="778430"/>
            <a:ext cx="8988425" cy="5237163"/>
          </a:xfrm>
        </p:spPr>
        <p:txBody>
          <a:bodyPr/>
          <a:lstStyle/>
          <a:p>
            <a:pPr eaLnBrk="0" hangingPunct="0"/>
            <a:r>
              <a:rPr lang="en-US" dirty="0"/>
              <a:t>By construction, d[</a:t>
            </a:r>
            <a:r>
              <a:rPr lang="en-US" i="1" dirty="0"/>
              <a:t>u</a:t>
            </a:r>
            <a:r>
              <a:rPr lang="en-US" dirty="0"/>
              <a:t>]</a:t>
            </a:r>
            <a:r>
              <a:rPr lang="en-US" i="1" dirty="0"/>
              <a:t> </a:t>
            </a:r>
            <a:r>
              <a:rPr lang="en-US" dirty="0"/>
              <a:t>is the weight of the shortest path to </a:t>
            </a:r>
            <a:r>
              <a:rPr lang="en-US" i="1" dirty="0"/>
              <a:t>u</a:t>
            </a:r>
            <a:r>
              <a:rPr lang="en-US" dirty="0"/>
              <a:t> going through </a:t>
            </a:r>
            <a:r>
              <a:rPr lang="en-US" u="sng" dirty="0"/>
              <a:t>only</a:t>
            </a:r>
            <a:r>
              <a:rPr lang="en-US" dirty="0"/>
              <a:t> vertices in </a:t>
            </a:r>
            <a:r>
              <a:rPr lang="en-US" i="1" dirty="0"/>
              <a:t>K</a:t>
            </a:r>
            <a:r>
              <a:rPr lang="en-US" dirty="0"/>
              <a:t>. </a:t>
            </a:r>
          </a:p>
          <a:p>
            <a:pPr eaLnBrk="0" hangingPunct="0"/>
            <a:r>
              <a:rPr lang="en-US" dirty="0"/>
              <a:t>If there exist another path </a:t>
            </a:r>
            <a:r>
              <a:rPr lang="en-US" i="1" dirty="0"/>
              <a:t>p</a:t>
            </a:r>
            <a:r>
              <a:rPr lang="en-US" dirty="0"/>
              <a:t> to </a:t>
            </a:r>
            <a:r>
              <a:rPr lang="en-US" i="1" dirty="0"/>
              <a:t>u</a:t>
            </a:r>
            <a:r>
              <a:rPr lang="en-US" dirty="0"/>
              <a:t> that contains some vertices not in </a:t>
            </a:r>
            <a:r>
              <a:rPr lang="en-US" i="1" dirty="0"/>
              <a:t>K,</a:t>
            </a:r>
            <a:r>
              <a:rPr lang="en-US" dirty="0"/>
              <a:t> then that path must leave </a:t>
            </a:r>
            <a:r>
              <a:rPr lang="en-US" i="1" dirty="0"/>
              <a:t>K</a:t>
            </a:r>
            <a:r>
              <a:rPr lang="en-US" dirty="0"/>
              <a:t>, go to a node </a:t>
            </a:r>
            <a:r>
              <a:rPr lang="en-US" i="1" dirty="0"/>
              <a:t>v</a:t>
            </a:r>
            <a:r>
              <a:rPr lang="en-US" dirty="0"/>
              <a:t> on the frontier and then reach </a:t>
            </a:r>
            <a:r>
              <a:rPr lang="en-US" i="1" dirty="0"/>
              <a:t>u </a:t>
            </a:r>
            <a:r>
              <a:rPr lang="en-US" dirty="0"/>
              <a:t>from there (via a sub-path </a:t>
            </a:r>
            <a:r>
              <a:rPr lang="en-US" i="1" dirty="0" err="1"/>
              <a:t>p</a:t>
            </a:r>
            <a:r>
              <a:rPr lang="en-US" i="1" baseline="-25000" dirty="0" err="1"/>
              <a:t>vu</a:t>
            </a:r>
            <a:r>
              <a:rPr lang="en-US" dirty="0"/>
              <a:t>). </a:t>
            </a:r>
          </a:p>
          <a:p>
            <a:pPr eaLnBrk="0" hangingPunct="0"/>
            <a:endParaRPr lang="en-US" dirty="0">
              <a:sym typeface="Wingdings" pitchFamily="2" charset="2"/>
            </a:endParaRPr>
          </a:p>
        </p:txBody>
      </p:sp>
      <p:grpSp>
        <p:nvGrpSpPr>
          <p:cNvPr id="23" name="Group 21"/>
          <p:cNvGrpSpPr/>
          <p:nvPr/>
        </p:nvGrpSpPr>
        <p:grpSpPr>
          <a:xfrm>
            <a:off x="1021997" y="3554486"/>
            <a:ext cx="7066056" cy="2279650"/>
            <a:chOff x="950277" y="4433056"/>
            <a:chExt cx="7066056" cy="2279650"/>
          </a:xfrm>
        </p:grpSpPr>
        <p:grpSp>
          <p:nvGrpSpPr>
            <p:cNvPr id="24" name="Group 4"/>
            <p:cNvGrpSpPr>
              <a:grpSpLocks/>
            </p:cNvGrpSpPr>
            <p:nvPr/>
          </p:nvGrpSpPr>
          <p:grpSpPr bwMode="auto">
            <a:xfrm>
              <a:off x="2039302" y="4820406"/>
              <a:ext cx="3568700" cy="1816100"/>
              <a:chOff x="724" y="532"/>
              <a:chExt cx="2248" cy="1144"/>
            </a:xfrm>
          </p:grpSpPr>
          <p:sp>
            <p:nvSpPr>
              <p:cNvPr id="32" name="Freeform 31"/>
              <p:cNvSpPr>
                <a:spLocks/>
              </p:cNvSpPr>
              <p:nvPr/>
            </p:nvSpPr>
            <p:spPr bwMode="auto">
              <a:xfrm>
                <a:off x="960" y="823"/>
                <a:ext cx="694" cy="186"/>
              </a:xfrm>
              <a:custGeom>
                <a:avLst/>
                <a:gdLst/>
                <a:ahLst/>
                <a:cxnLst>
                  <a:cxn ang="0">
                    <a:pos x="0" y="185"/>
                  </a:cxn>
                  <a:cxn ang="0">
                    <a:pos x="24" y="173"/>
                  </a:cxn>
                  <a:cxn ang="0">
                    <a:pos x="53" y="144"/>
                  </a:cxn>
                  <a:cxn ang="0">
                    <a:pos x="96" y="108"/>
                  </a:cxn>
                  <a:cxn ang="0">
                    <a:pos x="125" y="86"/>
                  </a:cxn>
                  <a:cxn ang="0">
                    <a:pos x="161" y="58"/>
                  </a:cxn>
                  <a:cxn ang="0">
                    <a:pos x="189" y="43"/>
                  </a:cxn>
                  <a:cxn ang="0">
                    <a:pos x="211" y="36"/>
                  </a:cxn>
                  <a:cxn ang="0">
                    <a:pos x="233" y="43"/>
                  </a:cxn>
                  <a:cxn ang="0">
                    <a:pos x="261" y="58"/>
                  </a:cxn>
                  <a:cxn ang="0">
                    <a:pos x="290" y="72"/>
                  </a:cxn>
                  <a:cxn ang="0">
                    <a:pos x="312" y="79"/>
                  </a:cxn>
                  <a:cxn ang="0">
                    <a:pos x="348" y="86"/>
                  </a:cxn>
                  <a:cxn ang="0">
                    <a:pos x="377" y="101"/>
                  </a:cxn>
                  <a:cxn ang="0">
                    <a:pos x="405" y="101"/>
                  </a:cxn>
                  <a:cxn ang="0">
                    <a:pos x="427" y="101"/>
                  </a:cxn>
                  <a:cxn ang="0">
                    <a:pos x="449" y="101"/>
                  </a:cxn>
                  <a:cxn ang="0">
                    <a:pos x="485" y="101"/>
                  </a:cxn>
                  <a:cxn ang="0">
                    <a:pos x="521" y="86"/>
                  </a:cxn>
                  <a:cxn ang="0">
                    <a:pos x="564" y="65"/>
                  </a:cxn>
                  <a:cxn ang="0">
                    <a:pos x="593" y="50"/>
                  </a:cxn>
                  <a:cxn ang="0">
                    <a:pos x="621" y="36"/>
                  </a:cxn>
                  <a:cxn ang="0">
                    <a:pos x="643" y="22"/>
                  </a:cxn>
                  <a:cxn ang="0">
                    <a:pos x="665" y="14"/>
                  </a:cxn>
                  <a:cxn ang="0">
                    <a:pos x="693" y="0"/>
                  </a:cxn>
                </a:cxnLst>
                <a:rect l="0" t="0" r="r" b="b"/>
                <a:pathLst>
                  <a:path w="694" h="186">
                    <a:moveTo>
                      <a:pt x="0" y="185"/>
                    </a:moveTo>
                    <a:lnTo>
                      <a:pt x="24" y="173"/>
                    </a:lnTo>
                    <a:lnTo>
                      <a:pt x="53" y="144"/>
                    </a:lnTo>
                    <a:lnTo>
                      <a:pt x="96" y="108"/>
                    </a:lnTo>
                    <a:lnTo>
                      <a:pt x="125" y="86"/>
                    </a:lnTo>
                    <a:lnTo>
                      <a:pt x="161" y="58"/>
                    </a:lnTo>
                    <a:lnTo>
                      <a:pt x="189" y="43"/>
                    </a:lnTo>
                    <a:lnTo>
                      <a:pt x="211" y="36"/>
                    </a:lnTo>
                    <a:lnTo>
                      <a:pt x="233" y="43"/>
                    </a:lnTo>
                    <a:lnTo>
                      <a:pt x="261" y="58"/>
                    </a:lnTo>
                    <a:lnTo>
                      <a:pt x="290" y="72"/>
                    </a:lnTo>
                    <a:lnTo>
                      <a:pt x="312" y="79"/>
                    </a:lnTo>
                    <a:lnTo>
                      <a:pt x="348" y="86"/>
                    </a:lnTo>
                    <a:lnTo>
                      <a:pt x="377" y="101"/>
                    </a:lnTo>
                    <a:lnTo>
                      <a:pt x="405" y="101"/>
                    </a:lnTo>
                    <a:lnTo>
                      <a:pt x="427" y="101"/>
                    </a:lnTo>
                    <a:lnTo>
                      <a:pt x="449" y="101"/>
                    </a:lnTo>
                    <a:lnTo>
                      <a:pt x="485" y="101"/>
                    </a:lnTo>
                    <a:lnTo>
                      <a:pt x="521" y="86"/>
                    </a:lnTo>
                    <a:lnTo>
                      <a:pt x="564" y="65"/>
                    </a:lnTo>
                    <a:lnTo>
                      <a:pt x="593" y="50"/>
                    </a:lnTo>
                    <a:lnTo>
                      <a:pt x="621" y="36"/>
                    </a:lnTo>
                    <a:lnTo>
                      <a:pt x="643" y="22"/>
                    </a:lnTo>
                    <a:lnTo>
                      <a:pt x="665" y="14"/>
                    </a:lnTo>
                    <a:lnTo>
                      <a:pt x="693" y="0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2"/>
              <p:cNvSpPr>
                <a:spLocks/>
              </p:cNvSpPr>
              <p:nvPr/>
            </p:nvSpPr>
            <p:spPr bwMode="auto">
              <a:xfrm>
                <a:off x="1008" y="1125"/>
                <a:ext cx="625" cy="268"/>
              </a:xfrm>
              <a:custGeom>
                <a:avLst/>
                <a:gdLst/>
                <a:ahLst/>
                <a:cxnLst>
                  <a:cxn ang="0">
                    <a:pos x="0" y="27"/>
                  </a:cxn>
                  <a:cxn ang="0">
                    <a:pos x="26" y="8"/>
                  </a:cxn>
                  <a:cxn ang="0">
                    <a:pos x="55" y="8"/>
                  </a:cxn>
                  <a:cxn ang="0">
                    <a:pos x="84" y="8"/>
                  </a:cxn>
                  <a:cxn ang="0">
                    <a:pos x="113" y="0"/>
                  </a:cxn>
                  <a:cxn ang="0">
                    <a:pos x="127" y="22"/>
                  </a:cxn>
                  <a:cxn ang="0">
                    <a:pos x="141" y="44"/>
                  </a:cxn>
                  <a:cxn ang="0">
                    <a:pos x="156" y="72"/>
                  </a:cxn>
                  <a:cxn ang="0">
                    <a:pos x="163" y="94"/>
                  </a:cxn>
                  <a:cxn ang="0">
                    <a:pos x="170" y="116"/>
                  </a:cxn>
                  <a:cxn ang="0">
                    <a:pos x="192" y="137"/>
                  </a:cxn>
                  <a:cxn ang="0">
                    <a:pos x="228" y="159"/>
                  </a:cxn>
                  <a:cxn ang="0">
                    <a:pos x="264" y="159"/>
                  </a:cxn>
                  <a:cxn ang="0">
                    <a:pos x="307" y="159"/>
                  </a:cxn>
                  <a:cxn ang="0">
                    <a:pos x="336" y="159"/>
                  </a:cxn>
                  <a:cxn ang="0">
                    <a:pos x="379" y="159"/>
                  </a:cxn>
                  <a:cxn ang="0">
                    <a:pos x="408" y="159"/>
                  </a:cxn>
                  <a:cxn ang="0">
                    <a:pos x="437" y="173"/>
                  </a:cxn>
                  <a:cxn ang="0">
                    <a:pos x="458" y="195"/>
                  </a:cxn>
                  <a:cxn ang="0">
                    <a:pos x="480" y="216"/>
                  </a:cxn>
                  <a:cxn ang="0">
                    <a:pos x="509" y="231"/>
                  </a:cxn>
                  <a:cxn ang="0">
                    <a:pos x="537" y="231"/>
                  </a:cxn>
                  <a:cxn ang="0">
                    <a:pos x="559" y="238"/>
                  </a:cxn>
                  <a:cxn ang="0">
                    <a:pos x="624" y="267"/>
                  </a:cxn>
                </a:cxnLst>
                <a:rect l="0" t="0" r="r" b="b"/>
                <a:pathLst>
                  <a:path w="625" h="268">
                    <a:moveTo>
                      <a:pt x="0" y="27"/>
                    </a:moveTo>
                    <a:lnTo>
                      <a:pt x="26" y="8"/>
                    </a:lnTo>
                    <a:lnTo>
                      <a:pt x="55" y="8"/>
                    </a:lnTo>
                    <a:lnTo>
                      <a:pt x="84" y="8"/>
                    </a:lnTo>
                    <a:lnTo>
                      <a:pt x="113" y="0"/>
                    </a:lnTo>
                    <a:lnTo>
                      <a:pt x="127" y="22"/>
                    </a:lnTo>
                    <a:lnTo>
                      <a:pt x="141" y="44"/>
                    </a:lnTo>
                    <a:lnTo>
                      <a:pt x="156" y="72"/>
                    </a:lnTo>
                    <a:lnTo>
                      <a:pt x="163" y="94"/>
                    </a:lnTo>
                    <a:lnTo>
                      <a:pt x="170" y="116"/>
                    </a:lnTo>
                    <a:lnTo>
                      <a:pt x="192" y="137"/>
                    </a:lnTo>
                    <a:lnTo>
                      <a:pt x="228" y="159"/>
                    </a:lnTo>
                    <a:lnTo>
                      <a:pt x="264" y="159"/>
                    </a:lnTo>
                    <a:lnTo>
                      <a:pt x="307" y="159"/>
                    </a:lnTo>
                    <a:lnTo>
                      <a:pt x="336" y="159"/>
                    </a:lnTo>
                    <a:lnTo>
                      <a:pt x="379" y="159"/>
                    </a:lnTo>
                    <a:lnTo>
                      <a:pt x="408" y="159"/>
                    </a:lnTo>
                    <a:lnTo>
                      <a:pt x="437" y="173"/>
                    </a:lnTo>
                    <a:lnTo>
                      <a:pt x="458" y="195"/>
                    </a:lnTo>
                    <a:lnTo>
                      <a:pt x="480" y="216"/>
                    </a:lnTo>
                    <a:lnTo>
                      <a:pt x="509" y="231"/>
                    </a:lnTo>
                    <a:lnTo>
                      <a:pt x="537" y="231"/>
                    </a:lnTo>
                    <a:lnTo>
                      <a:pt x="559" y="238"/>
                    </a:lnTo>
                    <a:lnTo>
                      <a:pt x="624" y="267"/>
                    </a:lnTo>
                  </a:path>
                </a:pathLst>
              </a:custGeom>
              <a:noFill/>
              <a:ln w="19050" cap="rnd" cmpd="sng">
                <a:solidFill>
                  <a:srgbClr val="00206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" name="Line 7"/>
              <p:cNvSpPr>
                <a:spLocks noChangeShapeType="1"/>
              </p:cNvSpPr>
              <p:nvPr/>
            </p:nvSpPr>
            <p:spPr bwMode="auto">
              <a:xfrm flipV="1">
                <a:off x="1729" y="721"/>
                <a:ext cx="911" cy="9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8"/>
              <p:cNvSpPr>
                <a:spLocks noChangeShapeType="1"/>
              </p:cNvSpPr>
              <p:nvPr/>
            </p:nvSpPr>
            <p:spPr bwMode="auto">
              <a:xfrm>
                <a:off x="1729" y="1393"/>
                <a:ext cx="911" cy="95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Oval 35"/>
              <p:cNvSpPr>
                <a:spLocks noChangeArrowheads="1"/>
              </p:cNvSpPr>
              <p:nvPr/>
            </p:nvSpPr>
            <p:spPr bwMode="auto">
              <a:xfrm>
                <a:off x="724" y="916"/>
                <a:ext cx="328" cy="32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400" i="1" dirty="0">
                    <a:latin typeface="Times New Roman" pitchFamily="18" charset="0"/>
                  </a:rPr>
                  <a:t>s</a:t>
                </a:r>
              </a:p>
            </p:txBody>
          </p:sp>
          <p:sp>
            <p:nvSpPr>
              <p:cNvPr id="37" name="Oval 36"/>
              <p:cNvSpPr>
                <a:spLocks noChangeArrowheads="1"/>
              </p:cNvSpPr>
              <p:nvPr/>
            </p:nvSpPr>
            <p:spPr bwMode="auto">
              <a:xfrm>
                <a:off x="1540" y="628"/>
                <a:ext cx="328" cy="32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Oval 37"/>
              <p:cNvSpPr>
                <a:spLocks noChangeArrowheads="1"/>
              </p:cNvSpPr>
              <p:nvPr/>
            </p:nvSpPr>
            <p:spPr bwMode="auto">
              <a:xfrm>
                <a:off x="1540" y="1204"/>
                <a:ext cx="328" cy="32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Oval 38"/>
              <p:cNvSpPr>
                <a:spLocks noChangeArrowheads="1"/>
              </p:cNvSpPr>
              <p:nvPr/>
            </p:nvSpPr>
            <p:spPr bwMode="auto">
              <a:xfrm>
                <a:off x="2644" y="532"/>
                <a:ext cx="328" cy="32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eaLnBrk="0" hangingPunct="0"/>
                <a:r>
                  <a:rPr lang="en-US" sz="2400" i="1" dirty="0">
                    <a:latin typeface="Times New Roman" pitchFamily="18" charset="0"/>
                  </a:rPr>
                  <a:t>u</a:t>
                </a:r>
              </a:p>
            </p:txBody>
          </p:sp>
          <p:sp>
            <p:nvSpPr>
              <p:cNvPr id="40" name="Oval 39"/>
              <p:cNvSpPr>
                <a:spLocks noChangeArrowheads="1"/>
              </p:cNvSpPr>
              <p:nvPr/>
            </p:nvSpPr>
            <p:spPr bwMode="auto">
              <a:xfrm>
                <a:off x="2644" y="1348"/>
                <a:ext cx="328" cy="32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eaLnBrk="0" hangingPunct="0"/>
                <a:r>
                  <a:rPr lang="en-US" sz="2400" i="1" dirty="0">
                    <a:latin typeface="Times New Roman" pitchFamily="18" charset="0"/>
                  </a:rPr>
                  <a:t>v</a:t>
                </a:r>
              </a:p>
            </p:txBody>
          </p:sp>
        </p:grp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950277" y="5788781"/>
              <a:ext cx="391133" cy="462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2400" i="1" dirty="0"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3541077" y="4433056"/>
              <a:ext cx="17526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dirty="0">
                  <a:latin typeface="Times New Roman" pitchFamily="18" charset="0"/>
                </a:rPr>
                <a:t>shortest path to </a:t>
              </a:r>
              <a:r>
                <a:rPr lang="en-US" sz="1800" i="1" dirty="0">
                  <a:latin typeface="Times New Roman" pitchFamily="18" charset="0"/>
                </a:rPr>
                <a:t>u</a:t>
              </a:r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5723983" y="6190138"/>
              <a:ext cx="22923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dirty="0">
                  <a:solidFill>
                    <a:schemeClr val="accent1">
                      <a:lumMod val="50000"/>
                    </a:schemeClr>
                  </a:solidFill>
                  <a:latin typeface="Times New Roman" pitchFamily="18" charset="0"/>
                </a:rPr>
                <a:t>another path to </a:t>
              </a:r>
              <a:r>
                <a:rPr lang="en-US" sz="1800" i="1" dirty="0">
                  <a:solidFill>
                    <a:schemeClr val="accent1">
                      <a:lumMod val="50000"/>
                    </a:schemeClr>
                  </a:solidFill>
                  <a:latin typeface="Times New Roman" pitchFamily="18" charset="0"/>
                </a:rPr>
                <a:t>u</a:t>
              </a:r>
              <a:r>
                <a:rPr lang="en-US" sz="1800" dirty="0">
                  <a:solidFill>
                    <a:schemeClr val="accent1">
                      <a:lumMod val="50000"/>
                    </a:schemeClr>
                  </a:solidFill>
                  <a:latin typeface="Times New Roman" pitchFamily="18" charset="0"/>
                </a:rPr>
                <a:t>, via </a:t>
              </a:r>
              <a:r>
                <a:rPr lang="en-US" sz="1800" i="1" dirty="0">
                  <a:solidFill>
                    <a:schemeClr val="accent1">
                      <a:lumMod val="50000"/>
                    </a:schemeClr>
                  </a:solidFill>
                  <a:latin typeface="Times New Roman" pitchFamily="18" charset="0"/>
                </a:rPr>
                <a:t>v</a:t>
              </a:r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1505902" y="4591806"/>
              <a:ext cx="2730500" cy="21209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5236527" y="5345869"/>
              <a:ext cx="307975" cy="766762"/>
            </a:xfrm>
            <a:custGeom>
              <a:avLst/>
              <a:gdLst/>
              <a:ahLst/>
              <a:cxnLst>
                <a:cxn ang="0">
                  <a:pos x="94" y="482"/>
                </a:cxn>
                <a:cxn ang="0">
                  <a:pos x="136" y="445"/>
                </a:cxn>
                <a:cxn ang="0">
                  <a:pos x="169" y="409"/>
                </a:cxn>
                <a:cxn ang="0">
                  <a:pos x="183" y="392"/>
                </a:cxn>
                <a:cxn ang="0">
                  <a:pos x="188" y="374"/>
                </a:cxn>
                <a:cxn ang="0">
                  <a:pos x="193" y="355"/>
                </a:cxn>
                <a:cxn ang="0">
                  <a:pos x="188" y="338"/>
                </a:cxn>
                <a:cxn ang="0">
                  <a:pos x="174" y="318"/>
                </a:cxn>
                <a:cxn ang="0">
                  <a:pos x="155" y="301"/>
                </a:cxn>
                <a:cxn ang="0">
                  <a:pos x="122" y="284"/>
                </a:cxn>
                <a:cxn ang="0">
                  <a:pos x="89" y="265"/>
                </a:cxn>
                <a:cxn ang="0">
                  <a:pos x="56" y="247"/>
                </a:cxn>
                <a:cxn ang="0">
                  <a:pos x="28" y="230"/>
                </a:cxn>
                <a:cxn ang="0">
                  <a:pos x="9" y="211"/>
                </a:cxn>
                <a:cxn ang="0">
                  <a:pos x="0" y="194"/>
                </a:cxn>
                <a:cxn ang="0">
                  <a:pos x="4" y="174"/>
                </a:cxn>
                <a:cxn ang="0">
                  <a:pos x="14" y="155"/>
                </a:cxn>
                <a:cxn ang="0">
                  <a:pos x="37" y="136"/>
                </a:cxn>
                <a:cxn ang="0">
                  <a:pos x="61" y="116"/>
                </a:cxn>
                <a:cxn ang="0">
                  <a:pos x="89" y="97"/>
                </a:cxn>
                <a:cxn ang="0">
                  <a:pos x="113" y="80"/>
                </a:cxn>
                <a:cxn ang="0">
                  <a:pos x="132" y="62"/>
                </a:cxn>
                <a:cxn ang="0">
                  <a:pos x="141" y="49"/>
                </a:cxn>
                <a:cxn ang="0">
                  <a:pos x="146" y="39"/>
                </a:cxn>
                <a:cxn ang="0">
                  <a:pos x="141" y="30"/>
                </a:cxn>
                <a:cxn ang="0">
                  <a:pos x="127" y="15"/>
                </a:cxn>
                <a:cxn ang="0">
                  <a:pos x="103" y="6"/>
                </a:cxn>
                <a:cxn ang="0">
                  <a:pos x="99" y="4"/>
                </a:cxn>
                <a:cxn ang="0">
                  <a:pos x="94" y="0"/>
                </a:cxn>
              </a:cxnLst>
              <a:rect l="0" t="0" r="r" b="b"/>
              <a:pathLst>
                <a:path w="194" h="483">
                  <a:moveTo>
                    <a:pt x="94" y="482"/>
                  </a:moveTo>
                  <a:lnTo>
                    <a:pt x="136" y="445"/>
                  </a:lnTo>
                  <a:lnTo>
                    <a:pt x="169" y="409"/>
                  </a:lnTo>
                  <a:lnTo>
                    <a:pt x="183" y="392"/>
                  </a:lnTo>
                  <a:lnTo>
                    <a:pt x="188" y="374"/>
                  </a:lnTo>
                  <a:lnTo>
                    <a:pt x="193" y="355"/>
                  </a:lnTo>
                  <a:lnTo>
                    <a:pt x="188" y="338"/>
                  </a:lnTo>
                  <a:lnTo>
                    <a:pt x="174" y="318"/>
                  </a:lnTo>
                  <a:lnTo>
                    <a:pt x="155" y="301"/>
                  </a:lnTo>
                  <a:lnTo>
                    <a:pt x="122" y="284"/>
                  </a:lnTo>
                  <a:lnTo>
                    <a:pt x="89" y="265"/>
                  </a:lnTo>
                  <a:lnTo>
                    <a:pt x="56" y="247"/>
                  </a:lnTo>
                  <a:lnTo>
                    <a:pt x="28" y="230"/>
                  </a:lnTo>
                  <a:lnTo>
                    <a:pt x="9" y="211"/>
                  </a:lnTo>
                  <a:lnTo>
                    <a:pt x="0" y="194"/>
                  </a:lnTo>
                  <a:lnTo>
                    <a:pt x="4" y="174"/>
                  </a:lnTo>
                  <a:lnTo>
                    <a:pt x="14" y="155"/>
                  </a:lnTo>
                  <a:lnTo>
                    <a:pt x="37" y="136"/>
                  </a:lnTo>
                  <a:lnTo>
                    <a:pt x="61" y="116"/>
                  </a:lnTo>
                  <a:lnTo>
                    <a:pt x="89" y="97"/>
                  </a:lnTo>
                  <a:lnTo>
                    <a:pt x="113" y="80"/>
                  </a:lnTo>
                  <a:lnTo>
                    <a:pt x="132" y="62"/>
                  </a:lnTo>
                  <a:lnTo>
                    <a:pt x="141" y="49"/>
                  </a:lnTo>
                  <a:lnTo>
                    <a:pt x="146" y="39"/>
                  </a:lnTo>
                  <a:lnTo>
                    <a:pt x="141" y="30"/>
                  </a:lnTo>
                  <a:lnTo>
                    <a:pt x="127" y="15"/>
                  </a:lnTo>
                  <a:lnTo>
                    <a:pt x="103" y="6"/>
                  </a:lnTo>
                  <a:lnTo>
                    <a:pt x="99" y="4"/>
                  </a:lnTo>
                  <a:lnTo>
                    <a:pt x="94" y="0"/>
                  </a:lnTo>
                </a:path>
              </a:pathLst>
            </a:custGeom>
            <a:noFill/>
            <a:ln w="19050" cap="rnd" cmpd="sng">
              <a:solidFill>
                <a:srgbClr val="002060"/>
              </a:solidFill>
              <a:prstDash val="solid"/>
              <a:round/>
              <a:headEnd type="none" w="sm" len="sm"/>
              <a:tailEnd type="stealth" w="lg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414012" y="5530343"/>
              <a:ext cx="4496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i="1" dirty="0" err="1"/>
                <a:t>p</a:t>
              </a:r>
              <a:r>
                <a:rPr lang="en-US" i="1" baseline="-25000" dirty="0" err="1"/>
                <a:t>vu</a:t>
              </a:r>
              <a:endParaRPr lang="en-US" dirty="0"/>
            </a:p>
          </p:txBody>
        </p:sp>
      </p:grp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Dijkstra’s</a:t>
            </a:r>
            <a:r>
              <a:rPr lang="en-US" dirty="0"/>
              <a:t>: Proof (Contd.)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5575" y="778430"/>
            <a:ext cx="8988425" cy="5237163"/>
          </a:xfrm>
        </p:spPr>
        <p:txBody>
          <a:bodyPr/>
          <a:lstStyle/>
          <a:p>
            <a:pPr eaLnBrk="0" hangingPunct="0"/>
            <a:r>
              <a:rPr lang="en-US" dirty="0"/>
              <a:t>The weight of this path, w(</a:t>
            </a:r>
            <a:r>
              <a:rPr lang="en-US" i="1" dirty="0"/>
              <a:t>p)</a:t>
            </a:r>
            <a:r>
              <a:rPr lang="en-US" dirty="0"/>
              <a:t> </a:t>
            </a:r>
            <a:r>
              <a:rPr lang="en-US" i="1" dirty="0"/>
              <a:t>= d[v]+w(</a:t>
            </a:r>
            <a:r>
              <a:rPr lang="en-US" i="1" dirty="0" err="1"/>
              <a:t>p</a:t>
            </a:r>
            <a:r>
              <a:rPr lang="en-US" i="1" baseline="-25000" dirty="0" err="1"/>
              <a:t>vu</a:t>
            </a:r>
            <a:r>
              <a:rPr lang="en-US" i="1" dirty="0"/>
              <a:t>) </a:t>
            </a:r>
            <a:r>
              <a:rPr lang="en-US" i="1" dirty="0">
                <a:latin typeface="Symbol" pitchFamily="18" charset="2"/>
              </a:rPr>
              <a:t>³</a:t>
            </a:r>
            <a:r>
              <a:rPr lang="en-US" i="1" dirty="0"/>
              <a:t> d[v],</a:t>
            </a:r>
            <a:r>
              <a:rPr lang="en-US" dirty="0"/>
              <a:t> since </a:t>
            </a:r>
            <a:r>
              <a:rPr lang="en-US" i="1" dirty="0"/>
              <a:t>w(</a:t>
            </a:r>
            <a:r>
              <a:rPr lang="en-US" i="1" dirty="0" err="1"/>
              <a:t>p</a:t>
            </a:r>
            <a:r>
              <a:rPr lang="en-US" i="1" baseline="-25000" dirty="0" err="1"/>
              <a:t>vu</a:t>
            </a:r>
            <a:r>
              <a:rPr lang="en-US" i="1" dirty="0"/>
              <a:t>) </a:t>
            </a:r>
            <a:r>
              <a:rPr lang="en-US" i="1" dirty="0">
                <a:latin typeface="Symbol" pitchFamily="18" charset="2"/>
              </a:rPr>
              <a:t>³</a:t>
            </a:r>
            <a:r>
              <a:rPr lang="en-US" i="1" dirty="0"/>
              <a:t> 0 </a:t>
            </a:r>
            <a:r>
              <a:rPr lang="en-US" dirty="0"/>
              <a:t>(because edge weights are non-negative). </a:t>
            </a:r>
          </a:p>
          <a:p>
            <a:pPr eaLnBrk="0" hangingPunct="0"/>
            <a:endParaRPr lang="en-US" sz="1800" dirty="0"/>
          </a:p>
          <a:p>
            <a:pPr eaLnBrk="0" hangingPunct="0"/>
            <a:r>
              <a:rPr lang="en-US" dirty="0"/>
              <a:t>But </a:t>
            </a:r>
            <a:r>
              <a:rPr lang="en-US" i="1" dirty="0"/>
              <a:t>d[v] </a:t>
            </a:r>
            <a:r>
              <a:rPr lang="en-US" i="1" dirty="0">
                <a:latin typeface="Symbol" pitchFamily="18" charset="2"/>
              </a:rPr>
              <a:t>³</a:t>
            </a:r>
            <a:r>
              <a:rPr lang="en-US" i="1" dirty="0"/>
              <a:t> d[u], </a:t>
            </a:r>
            <a:r>
              <a:rPr lang="en-US" dirty="0"/>
              <a:t>otherwise </a:t>
            </a:r>
            <a:r>
              <a:rPr lang="en-US" i="1" dirty="0"/>
              <a:t>u </a:t>
            </a:r>
            <a:r>
              <a:rPr lang="en-US" dirty="0"/>
              <a:t>wouldn’t be chosen in line 5. </a:t>
            </a:r>
          </a:p>
          <a:p>
            <a:pPr eaLnBrk="0" hangingPunct="0"/>
            <a:endParaRPr lang="en-US" sz="1600" i="1" dirty="0">
              <a:latin typeface="Symbol" pitchFamily="18" charset="2"/>
            </a:endParaRPr>
          </a:p>
          <a:p>
            <a:pPr eaLnBrk="0" hangingPunct="0">
              <a:buFont typeface="Symbol" pitchFamily="18" charset="2"/>
              <a:buChar char="\"/>
            </a:pPr>
            <a:r>
              <a:rPr lang="en-US" dirty="0"/>
              <a:t>w(</a:t>
            </a:r>
            <a:r>
              <a:rPr lang="en-US" i="1" dirty="0"/>
              <a:t>p)</a:t>
            </a:r>
            <a:r>
              <a:rPr lang="en-US" dirty="0"/>
              <a:t> </a:t>
            </a:r>
            <a:r>
              <a:rPr lang="en-US" i="1" dirty="0">
                <a:latin typeface="Symbol" pitchFamily="18" charset="2"/>
              </a:rPr>
              <a:t>³</a:t>
            </a:r>
            <a:r>
              <a:rPr lang="en-US" i="1" dirty="0"/>
              <a:t> d[u]</a:t>
            </a:r>
            <a:r>
              <a:rPr lang="en-US" dirty="0"/>
              <a:t>. So there is no path to u which is shorter than </a:t>
            </a:r>
            <a:r>
              <a:rPr lang="en-US" i="1" dirty="0"/>
              <a:t>d[u],</a:t>
            </a:r>
            <a:r>
              <a:rPr lang="en-US" b="1" i="1" dirty="0"/>
              <a:t> </a:t>
            </a:r>
            <a:r>
              <a:rPr lang="en-US" i="1" dirty="0"/>
              <a:t>i.e., d[u]</a:t>
            </a:r>
            <a:r>
              <a:rPr lang="en-US" dirty="0"/>
              <a:t> is the shortest path distance of </a:t>
            </a:r>
            <a:r>
              <a:rPr lang="en-US" i="1" dirty="0"/>
              <a:t>u</a:t>
            </a:r>
            <a:r>
              <a:rPr lang="en-US" dirty="0"/>
              <a:t> from </a:t>
            </a:r>
            <a:r>
              <a:rPr lang="en-US" i="1" dirty="0"/>
              <a:t>s,</a:t>
            </a:r>
            <a:r>
              <a:rPr lang="en-US" dirty="0"/>
              <a:t> </a:t>
            </a:r>
            <a:r>
              <a:rPr lang="en-US" i="1" dirty="0"/>
              <a:t>i.e., </a:t>
            </a:r>
          </a:p>
          <a:p>
            <a:pPr algn="ctr" eaLnBrk="0" hangingPunct="0"/>
            <a:r>
              <a:rPr lang="en-US" i="1" dirty="0"/>
              <a:t>d[u]</a:t>
            </a:r>
            <a:r>
              <a:rPr lang="en-US" dirty="0"/>
              <a:t> = </a:t>
            </a:r>
            <a:r>
              <a:rPr lang="en-US" i="1" dirty="0">
                <a:latin typeface="Symbol" pitchFamily="18" charset="2"/>
              </a:rPr>
              <a:t>d</a:t>
            </a:r>
            <a:r>
              <a:rPr lang="en-US" i="1" dirty="0"/>
              <a:t>(</a:t>
            </a:r>
            <a:r>
              <a:rPr lang="en-US" i="1" dirty="0" err="1"/>
              <a:t>s,u</a:t>
            </a:r>
            <a:r>
              <a:rPr lang="en-US" i="1" dirty="0"/>
              <a:t>)</a:t>
            </a:r>
            <a:endParaRPr lang="en-US" dirty="0">
              <a:sym typeface="Wingdings" pitchFamily="2" charset="2"/>
            </a:endParaRPr>
          </a:p>
          <a:p>
            <a:pPr eaLnBrk="0" hangingPunct="0"/>
            <a:endParaRPr lang="en-US" dirty="0">
              <a:sym typeface="Wingdings" pitchFamily="2" charset="2"/>
            </a:endParaRPr>
          </a:p>
        </p:txBody>
      </p:sp>
      <p:grpSp>
        <p:nvGrpSpPr>
          <p:cNvPr id="2" name="Group 21"/>
          <p:cNvGrpSpPr/>
          <p:nvPr/>
        </p:nvGrpSpPr>
        <p:grpSpPr>
          <a:xfrm>
            <a:off x="950277" y="4522706"/>
            <a:ext cx="7066056" cy="2279650"/>
            <a:chOff x="950277" y="4433056"/>
            <a:chExt cx="7066056" cy="2279650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039302" y="4820406"/>
              <a:ext cx="3568700" cy="1816100"/>
              <a:chOff x="724" y="532"/>
              <a:chExt cx="2248" cy="1144"/>
            </a:xfrm>
          </p:grpSpPr>
          <p:sp>
            <p:nvSpPr>
              <p:cNvPr id="6" name="Freeform 5"/>
              <p:cNvSpPr>
                <a:spLocks/>
              </p:cNvSpPr>
              <p:nvPr/>
            </p:nvSpPr>
            <p:spPr bwMode="auto">
              <a:xfrm>
                <a:off x="960" y="823"/>
                <a:ext cx="694" cy="186"/>
              </a:xfrm>
              <a:custGeom>
                <a:avLst/>
                <a:gdLst/>
                <a:ahLst/>
                <a:cxnLst>
                  <a:cxn ang="0">
                    <a:pos x="0" y="185"/>
                  </a:cxn>
                  <a:cxn ang="0">
                    <a:pos x="24" y="173"/>
                  </a:cxn>
                  <a:cxn ang="0">
                    <a:pos x="53" y="144"/>
                  </a:cxn>
                  <a:cxn ang="0">
                    <a:pos x="96" y="108"/>
                  </a:cxn>
                  <a:cxn ang="0">
                    <a:pos x="125" y="86"/>
                  </a:cxn>
                  <a:cxn ang="0">
                    <a:pos x="161" y="58"/>
                  </a:cxn>
                  <a:cxn ang="0">
                    <a:pos x="189" y="43"/>
                  </a:cxn>
                  <a:cxn ang="0">
                    <a:pos x="211" y="36"/>
                  </a:cxn>
                  <a:cxn ang="0">
                    <a:pos x="233" y="43"/>
                  </a:cxn>
                  <a:cxn ang="0">
                    <a:pos x="261" y="58"/>
                  </a:cxn>
                  <a:cxn ang="0">
                    <a:pos x="290" y="72"/>
                  </a:cxn>
                  <a:cxn ang="0">
                    <a:pos x="312" y="79"/>
                  </a:cxn>
                  <a:cxn ang="0">
                    <a:pos x="348" y="86"/>
                  </a:cxn>
                  <a:cxn ang="0">
                    <a:pos x="377" y="101"/>
                  </a:cxn>
                  <a:cxn ang="0">
                    <a:pos x="405" y="101"/>
                  </a:cxn>
                  <a:cxn ang="0">
                    <a:pos x="427" y="101"/>
                  </a:cxn>
                  <a:cxn ang="0">
                    <a:pos x="449" y="101"/>
                  </a:cxn>
                  <a:cxn ang="0">
                    <a:pos x="485" y="101"/>
                  </a:cxn>
                  <a:cxn ang="0">
                    <a:pos x="521" y="86"/>
                  </a:cxn>
                  <a:cxn ang="0">
                    <a:pos x="564" y="65"/>
                  </a:cxn>
                  <a:cxn ang="0">
                    <a:pos x="593" y="50"/>
                  </a:cxn>
                  <a:cxn ang="0">
                    <a:pos x="621" y="36"/>
                  </a:cxn>
                  <a:cxn ang="0">
                    <a:pos x="643" y="22"/>
                  </a:cxn>
                  <a:cxn ang="0">
                    <a:pos x="665" y="14"/>
                  </a:cxn>
                  <a:cxn ang="0">
                    <a:pos x="693" y="0"/>
                  </a:cxn>
                </a:cxnLst>
                <a:rect l="0" t="0" r="r" b="b"/>
                <a:pathLst>
                  <a:path w="694" h="186">
                    <a:moveTo>
                      <a:pt x="0" y="185"/>
                    </a:moveTo>
                    <a:lnTo>
                      <a:pt x="24" y="173"/>
                    </a:lnTo>
                    <a:lnTo>
                      <a:pt x="53" y="144"/>
                    </a:lnTo>
                    <a:lnTo>
                      <a:pt x="96" y="108"/>
                    </a:lnTo>
                    <a:lnTo>
                      <a:pt x="125" y="86"/>
                    </a:lnTo>
                    <a:lnTo>
                      <a:pt x="161" y="58"/>
                    </a:lnTo>
                    <a:lnTo>
                      <a:pt x="189" y="43"/>
                    </a:lnTo>
                    <a:lnTo>
                      <a:pt x="211" y="36"/>
                    </a:lnTo>
                    <a:lnTo>
                      <a:pt x="233" y="43"/>
                    </a:lnTo>
                    <a:lnTo>
                      <a:pt x="261" y="58"/>
                    </a:lnTo>
                    <a:lnTo>
                      <a:pt x="290" y="72"/>
                    </a:lnTo>
                    <a:lnTo>
                      <a:pt x="312" y="79"/>
                    </a:lnTo>
                    <a:lnTo>
                      <a:pt x="348" y="86"/>
                    </a:lnTo>
                    <a:lnTo>
                      <a:pt x="377" y="101"/>
                    </a:lnTo>
                    <a:lnTo>
                      <a:pt x="405" y="101"/>
                    </a:lnTo>
                    <a:lnTo>
                      <a:pt x="427" y="101"/>
                    </a:lnTo>
                    <a:lnTo>
                      <a:pt x="449" y="101"/>
                    </a:lnTo>
                    <a:lnTo>
                      <a:pt x="485" y="101"/>
                    </a:lnTo>
                    <a:lnTo>
                      <a:pt x="521" y="86"/>
                    </a:lnTo>
                    <a:lnTo>
                      <a:pt x="564" y="65"/>
                    </a:lnTo>
                    <a:lnTo>
                      <a:pt x="593" y="50"/>
                    </a:lnTo>
                    <a:lnTo>
                      <a:pt x="621" y="36"/>
                    </a:lnTo>
                    <a:lnTo>
                      <a:pt x="643" y="22"/>
                    </a:lnTo>
                    <a:lnTo>
                      <a:pt x="665" y="14"/>
                    </a:lnTo>
                    <a:lnTo>
                      <a:pt x="693" y="0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Freeform 6"/>
              <p:cNvSpPr>
                <a:spLocks/>
              </p:cNvSpPr>
              <p:nvPr/>
            </p:nvSpPr>
            <p:spPr bwMode="auto">
              <a:xfrm>
                <a:off x="1008" y="1125"/>
                <a:ext cx="625" cy="268"/>
              </a:xfrm>
              <a:custGeom>
                <a:avLst/>
                <a:gdLst/>
                <a:ahLst/>
                <a:cxnLst>
                  <a:cxn ang="0">
                    <a:pos x="0" y="27"/>
                  </a:cxn>
                  <a:cxn ang="0">
                    <a:pos x="26" y="8"/>
                  </a:cxn>
                  <a:cxn ang="0">
                    <a:pos x="55" y="8"/>
                  </a:cxn>
                  <a:cxn ang="0">
                    <a:pos x="84" y="8"/>
                  </a:cxn>
                  <a:cxn ang="0">
                    <a:pos x="113" y="0"/>
                  </a:cxn>
                  <a:cxn ang="0">
                    <a:pos x="127" y="22"/>
                  </a:cxn>
                  <a:cxn ang="0">
                    <a:pos x="141" y="44"/>
                  </a:cxn>
                  <a:cxn ang="0">
                    <a:pos x="156" y="72"/>
                  </a:cxn>
                  <a:cxn ang="0">
                    <a:pos x="163" y="94"/>
                  </a:cxn>
                  <a:cxn ang="0">
                    <a:pos x="170" y="116"/>
                  </a:cxn>
                  <a:cxn ang="0">
                    <a:pos x="192" y="137"/>
                  </a:cxn>
                  <a:cxn ang="0">
                    <a:pos x="228" y="159"/>
                  </a:cxn>
                  <a:cxn ang="0">
                    <a:pos x="264" y="159"/>
                  </a:cxn>
                  <a:cxn ang="0">
                    <a:pos x="307" y="159"/>
                  </a:cxn>
                  <a:cxn ang="0">
                    <a:pos x="336" y="159"/>
                  </a:cxn>
                  <a:cxn ang="0">
                    <a:pos x="379" y="159"/>
                  </a:cxn>
                  <a:cxn ang="0">
                    <a:pos x="408" y="159"/>
                  </a:cxn>
                  <a:cxn ang="0">
                    <a:pos x="437" y="173"/>
                  </a:cxn>
                  <a:cxn ang="0">
                    <a:pos x="458" y="195"/>
                  </a:cxn>
                  <a:cxn ang="0">
                    <a:pos x="480" y="216"/>
                  </a:cxn>
                  <a:cxn ang="0">
                    <a:pos x="509" y="231"/>
                  </a:cxn>
                  <a:cxn ang="0">
                    <a:pos x="537" y="231"/>
                  </a:cxn>
                  <a:cxn ang="0">
                    <a:pos x="559" y="238"/>
                  </a:cxn>
                  <a:cxn ang="0">
                    <a:pos x="624" y="267"/>
                  </a:cxn>
                </a:cxnLst>
                <a:rect l="0" t="0" r="r" b="b"/>
                <a:pathLst>
                  <a:path w="625" h="268">
                    <a:moveTo>
                      <a:pt x="0" y="27"/>
                    </a:moveTo>
                    <a:lnTo>
                      <a:pt x="26" y="8"/>
                    </a:lnTo>
                    <a:lnTo>
                      <a:pt x="55" y="8"/>
                    </a:lnTo>
                    <a:lnTo>
                      <a:pt x="84" y="8"/>
                    </a:lnTo>
                    <a:lnTo>
                      <a:pt x="113" y="0"/>
                    </a:lnTo>
                    <a:lnTo>
                      <a:pt x="127" y="22"/>
                    </a:lnTo>
                    <a:lnTo>
                      <a:pt x="141" y="44"/>
                    </a:lnTo>
                    <a:lnTo>
                      <a:pt x="156" y="72"/>
                    </a:lnTo>
                    <a:lnTo>
                      <a:pt x="163" y="94"/>
                    </a:lnTo>
                    <a:lnTo>
                      <a:pt x="170" y="116"/>
                    </a:lnTo>
                    <a:lnTo>
                      <a:pt x="192" y="137"/>
                    </a:lnTo>
                    <a:lnTo>
                      <a:pt x="228" y="159"/>
                    </a:lnTo>
                    <a:lnTo>
                      <a:pt x="264" y="159"/>
                    </a:lnTo>
                    <a:lnTo>
                      <a:pt x="307" y="159"/>
                    </a:lnTo>
                    <a:lnTo>
                      <a:pt x="336" y="159"/>
                    </a:lnTo>
                    <a:lnTo>
                      <a:pt x="379" y="159"/>
                    </a:lnTo>
                    <a:lnTo>
                      <a:pt x="408" y="159"/>
                    </a:lnTo>
                    <a:lnTo>
                      <a:pt x="437" y="173"/>
                    </a:lnTo>
                    <a:lnTo>
                      <a:pt x="458" y="195"/>
                    </a:lnTo>
                    <a:lnTo>
                      <a:pt x="480" y="216"/>
                    </a:lnTo>
                    <a:lnTo>
                      <a:pt x="509" y="231"/>
                    </a:lnTo>
                    <a:lnTo>
                      <a:pt x="537" y="231"/>
                    </a:lnTo>
                    <a:lnTo>
                      <a:pt x="559" y="238"/>
                    </a:lnTo>
                    <a:lnTo>
                      <a:pt x="624" y="267"/>
                    </a:lnTo>
                  </a:path>
                </a:pathLst>
              </a:custGeom>
              <a:noFill/>
              <a:ln w="19050" cap="rnd" cmpd="sng">
                <a:solidFill>
                  <a:srgbClr val="00206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" name="Line 7"/>
              <p:cNvSpPr>
                <a:spLocks noChangeShapeType="1"/>
              </p:cNvSpPr>
              <p:nvPr/>
            </p:nvSpPr>
            <p:spPr bwMode="auto">
              <a:xfrm flipV="1">
                <a:off x="1729" y="721"/>
                <a:ext cx="911" cy="9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Line 8"/>
              <p:cNvSpPr>
                <a:spLocks noChangeShapeType="1"/>
              </p:cNvSpPr>
              <p:nvPr/>
            </p:nvSpPr>
            <p:spPr bwMode="auto">
              <a:xfrm>
                <a:off x="1729" y="1393"/>
                <a:ext cx="911" cy="95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Oval 9"/>
              <p:cNvSpPr>
                <a:spLocks noChangeArrowheads="1"/>
              </p:cNvSpPr>
              <p:nvPr/>
            </p:nvSpPr>
            <p:spPr bwMode="auto">
              <a:xfrm>
                <a:off x="724" y="916"/>
                <a:ext cx="328" cy="32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400" i="1" dirty="0">
                    <a:latin typeface="Times New Roman" pitchFamily="18" charset="0"/>
                  </a:rPr>
                  <a:t>s</a:t>
                </a:r>
              </a:p>
            </p:txBody>
          </p:sp>
          <p:sp>
            <p:nvSpPr>
              <p:cNvPr id="11" name="Oval 10"/>
              <p:cNvSpPr>
                <a:spLocks noChangeArrowheads="1"/>
              </p:cNvSpPr>
              <p:nvPr/>
            </p:nvSpPr>
            <p:spPr bwMode="auto">
              <a:xfrm>
                <a:off x="1540" y="628"/>
                <a:ext cx="328" cy="32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Oval 11"/>
              <p:cNvSpPr>
                <a:spLocks noChangeArrowheads="1"/>
              </p:cNvSpPr>
              <p:nvPr/>
            </p:nvSpPr>
            <p:spPr bwMode="auto">
              <a:xfrm>
                <a:off x="1540" y="1204"/>
                <a:ext cx="328" cy="32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Oval 12"/>
              <p:cNvSpPr>
                <a:spLocks noChangeArrowheads="1"/>
              </p:cNvSpPr>
              <p:nvPr/>
            </p:nvSpPr>
            <p:spPr bwMode="auto">
              <a:xfrm>
                <a:off x="2644" y="532"/>
                <a:ext cx="328" cy="32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eaLnBrk="0" hangingPunct="0"/>
                <a:r>
                  <a:rPr lang="en-US" sz="2400" i="1" dirty="0">
                    <a:latin typeface="Times New Roman" pitchFamily="18" charset="0"/>
                  </a:rPr>
                  <a:t>u</a:t>
                </a:r>
              </a:p>
            </p:txBody>
          </p:sp>
          <p:sp>
            <p:nvSpPr>
              <p:cNvPr id="14" name="Oval 13"/>
              <p:cNvSpPr>
                <a:spLocks noChangeArrowheads="1"/>
              </p:cNvSpPr>
              <p:nvPr/>
            </p:nvSpPr>
            <p:spPr bwMode="auto">
              <a:xfrm>
                <a:off x="2644" y="1348"/>
                <a:ext cx="328" cy="32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eaLnBrk="0" hangingPunct="0"/>
                <a:r>
                  <a:rPr lang="en-US" sz="2400" i="1" dirty="0">
                    <a:latin typeface="Times New Roman" pitchFamily="18" charset="0"/>
                  </a:rPr>
                  <a:t>v</a:t>
                </a:r>
              </a:p>
            </p:txBody>
          </p:sp>
        </p:grp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6131877" y="4874381"/>
              <a:ext cx="1586973" cy="462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2400" i="1" dirty="0">
                  <a:latin typeface="Times New Roman" pitchFamily="18" charset="0"/>
                </a:rPr>
                <a:t>d[u] </a:t>
              </a:r>
              <a:r>
                <a:rPr lang="en-US" sz="2400" i="1" dirty="0">
                  <a:latin typeface="Symbol" pitchFamily="18" charset="2"/>
                </a:rPr>
                <a:t>£</a:t>
              </a:r>
              <a:r>
                <a:rPr lang="en-US" sz="2400" i="1" dirty="0">
                  <a:latin typeface="Times New Roman" pitchFamily="18" charset="0"/>
                </a:rPr>
                <a:t> d[v]</a:t>
              </a: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950277" y="5788781"/>
              <a:ext cx="391133" cy="462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2400" i="1" dirty="0"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3541077" y="4433056"/>
              <a:ext cx="17526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dirty="0">
                  <a:latin typeface="Times New Roman" pitchFamily="18" charset="0"/>
                </a:rPr>
                <a:t>shortest path to </a:t>
              </a:r>
              <a:r>
                <a:rPr lang="en-US" sz="1800" i="1" dirty="0">
                  <a:latin typeface="Times New Roman" pitchFamily="18" charset="0"/>
                </a:rPr>
                <a:t>u</a:t>
              </a: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5723983" y="6190138"/>
              <a:ext cx="22923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dirty="0">
                  <a:solidFill>
                    <a:schemeClr val="accent1">
                      <a:lumMod val="50000"/>
                    </a:schemeClr>
                  </a:solidFill>
                  <a:latin typeface="Times New Roman" pitchFamily="18" charset="0"/>
                </a:rPr>
                <a:t>another path to </a:t>
              </a:r>
              <a:r>
                <a:rPr lang="en-US" sz="1800" i="1" dirty="0">
                  <a:solidFill>
                    <a:schemeClr val="accent1">
                      <a:lumMod val="50000"/>
                    </a:schemeClr>
                  </a:solidFill>
                  <a:latin typeface="Times New Roman" pitchFamily="18" charset="0"/>
                </a:rPr>
                <a:t>u</a:t>
              </a:r>
              <a:r>
                <a:rPr lang="en-US" sz="1800" dirty="0">
                  <a:solidFill>
                    <a:schemeClr val="accent1">
                      <a:lumMod val="50000"/>
                    </a:schemeClr>
                  </a:solidFill>
                  <a:latin typeface="Times New Roman" pitchFamily="18" charset="0"/>
                </a:rPr>
                <a:t>, via </a:t>
              </a:r>
              <a:r>
                <a:rPr lang="en-US" sz="1800" i="1" dirty="0">
                  <a:solidFill>
                    <a:schemeClr val="accent1">
                      <a:lumMod val="50000"/>
                    </a:schemeClr>
                  </a:solidFill>
                  <a:latin typeface="Times New Roman" pitchFamily="18" charset="0"/>
                </a:rPr>
                <a:t>v</a:t>
              </a:r>
            </a:p>
          </p:txBody>
        </p:sp>
        <p:sp>
          <p:nvSpPr>
            <p:cNvPr id="19" name="Oval 18"/>
            <p:cNvSpPr>
              <a:spLocks noChangeArrowheads="1"/>
            </p:cNvSpPr>
            <p:nvPr/>
          </p:nvSpPr>
          <p:spPr bwMode="auto">
            <a:xfrm>
              <a:off x="1505902" y="4591806"/>
              <a:ext cx="2730500" cy="21209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5236527" y="5345869"/>
              <a:ext cx="307975" cy="766762"/>
            </a:xfrm>
            <a:custGeom>
              <a:avLst/>
              <a:gdLst/>
              <a:ahLst/>
              <a:cxnLst>
                <a:cxn ang="0">
                  <a:pos x="94" y="482"/>
                </a:cxn>
                <a:cxn ang="0">
                  <a:pos x="136" y="445"/>
                </a:cxn>
                <a:cxn ang="0">
                  <a:pos x="169" y="409"/>
                </a:cxn>
                <a:cxn ang="0">
                  <a:pos x="183" y="392"/>
                </a:cxn>
                <a:cxn ang="0">
                  <a:pos x="188" y="374"/>
                </a:cxn>
                <a:cxn ang="0">
                  <a:pos x="193" y="355"/>
                </a:cxn>
                <a:cxn ang="0">
                  <a:pos x="188" y="338"/>
                </a:cxn>
                <a:cxn ang="0">
                  <a:pos x="174" y="318"/>
                </a:cxn>
                <a:cxn ang="0">
                  <a:pos x="155" y="301"/>
                </a:cxn>
                <a:cxn ang="0">
                  <a:pos x="122" y="284"/>
                </a:cxn>
                <a:cxn ang="0">
                  <a:pos x="89" y="265"/>
                </a:cxn>
                <a:cxn ang="0">
                  <a:pos x="56" y="247"/>
                </a:cxn>
                <a:cxn ang="0">
                  <a:pos x="28" y="230"/>
                </a:cxn>
                <a:cxn ang="0">
                  <a:pos x="9" y="211"/>
                </a:cxn>
                <a:cxn ang="0">
                  <a:pos x="0" y="194"/>
                </a:cxn>
                <a:cxn ang="0">
                  <a:pos x="4" y="174"/>
                </a:cxn>
                <a:cxn ang="0">
                  <a:pos x="14" y="155"/>
                </a:cxn>
                <a:cxn ang="0">
                  <a:pos x="37" y="136"/>
                </a:cxn>
                <a:cxn ang="0">
                  <a:pos x="61" y="116"/>
                </a:cxn>
                <a:cxn ang="0">
                  <a:pos x="89" y="97"/>
                </a:cxn>
                <a:cxn ang="0">
                  <a:pos x="113" y="80"/>
                </a:cxn>
                <a:cxn ang="0">
                  <a:pos x="132" y="62"/>
                </a:cxn>
                <a:cxn ang="0">
                  <a:pos x="141" y="49"/>
                </a:cxn>
                <a:cxn ang="0">
                  <a:pos x="146" y="39"/>
                </a:cxn>
                <a:cxn ang="0">
                  <a:pos x="141" y="30"/>
                </a:cxn>
                <a:cxn ang="0">
                  <a:pos x="127" y="15"/>
                </a:cxn>
                <a:cxn ang="0">
                  <a:pos x="103" y="6"/>
                </a:cxn>
                <a:cxn ang="0">
                  <a:pos x="99" y="4"/>
                </a:cxn>
                <a:cxn ang="0">
                  <a:pos x="94" y="0"/>
                </a:cxn>
              </a:cxnLst>
              <a:rect l="0" t="0" r="r" b="b"/>
              <a:pathLst>
                <a:path w="194" h="483">
                  <a:moveTo>
                    <a:pt x="94" y="482"/>
                  </a:moveTo>
                  <a:lnTo>
                    <a:pt x="136" y="445"/>
                  </a:lnTo>
                  <a:lnTo>
                    <a:pt x="169" y="409"/>
                  </a:lnTo>
                  <a:lnTo>
                    <a:pt x="183" y="392"/>
                  </a:lnTo>
                  <a:lnTo>
                    <a:pt x="188" y="374"/>
                  </a:lnTo>
                  <a:lnTo>
                    <a:pt x="193" y="355"/>
                  </a:lnTo>
                  <a:lnTo>
                    <a:pt x="188" y="338"/>
                  </a:lnTo>
                  <a:lnTo>
                    <a:pt x="174" y="318"/>
                  </a:lnTo>
                  <a:lnTo>
                    <a:pt x="155" y="301"/>
                  </a:lnTo>
                  <a:lnTo>
                    <a:pt x="122" y="284"/>
                  </a:lnTo>
                  <a:lnTo>
                    <a:pt x="89" y="265"/>
                  </a:lnTo>
                  <a:lnTo>
                    <a:pt x="56" y="247"/>
                  </a:lnTo>
                  <a:lnTo>
                    <a:pt x="28" y="230"/>
                  </a:lnTo>
                  <a:lnTo>
                    <a:pt x="9" y="211"/>
                  </a:lnTo>
                  <a:lnTo>
                    <a:pt x="0" y="194"/>
                  </a:lnTo>
                  <a:lnTo>
                    <a:pt x="4" y="174"/>
                  </a:lnTo>
                  <a:lnTo>
                    <a:pt x="14" y="155"/>
                  </a:lnTo>
                  <a:lnTo>
                    <a:pt x="37" y="136"/>
                  </a:lnTo>
                  <a:lnTo>
                    <a:pt x="61" y="116"/>
                  </a:lnTo>
                  <a:lnTo>
                    <a:pt x="89" y="97"/>
                  </a:lnTo>
                  <a:lnTo>
                    <a:pt x="113" y="80"/>
                  </a:lnTo>
                  <a:lnTo>
                    <a:pt x="132" y="62"/>
                  </a:lnTo>
                  <a:lnTo>
                    <a:pt x="141" y="49"/>
                  </a:lnTo>
                  <a:lnTo>
                    <a:pt x="146" y="39"/>
                  </a:lnTo>
                  <a:lnTo>
                    <a:pt x="141" y="30"/>
                  </a:lnTo>
                  <a:lnTo>
                    <a:pt x="127" y="15"/>
                  </a:lnTo>
                  <a:lnTo>
                    <a:pt x="103" y="6"/>
                  </a:lnTo>
                  <a:lnTo>
                    <a:pt x="99" y="4"/>
                  </a:lnTo>
                  <a:lnTo>
                    <a:pt x="94" y="0"/>
                  </a:lnTo>
                </a:path>
              </a:pathLst>
            </a:custGeom>
            <a:noFill/>
            <a:ln w="19050" cap="rnd" cmpd="sng">
              <a:solidFill>
                <a:srgbClr val="002060"/>
              </a:solidFill>
              <a:prstDash val="solid"/>
              <a:round/>
              <a:headEnd type="none" w="sm" len="sm"/>
              <a:tailEnd type="stealth" w="lg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414012" y="5530343"/>
              <a:ext cx="4496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i="1" dirty="0" err="1"/>
                <a:t>p</a:t>
              </a:r>
              <a:r>
                <a:rPr lang="en-US" i="1" baseline="-25000" dirty="0" err="1"/>
                <a:t>vu</a:t>
              </a:r>
              <a:endParaRPr lang="en-US" dirty="0"/>
            </a:p>
          </p:txBody>
        </p:sp>
      </p:grp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3911</TotalTime>
  <Words>1992</Words>
  <Application>Microsoft Office PowerPoint</Application>
  <PresentationFormat>On-screen Show (4:3)</PresentationFormat>
  <Paragraphs>383</Paragraphs>
  <Slides>20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5" baseType="lpstr">
      <vt:lpstr>Agency FB</vt:lpstr>
      <vt:lpstr>Arial</vt:lpstr>
      <vt:lpstr>Arial Black</vt:lpstr>
      <vt:lpstr>Britannic Bold</vt:lpstr>
      <vt:lpstr>Calibri</vt:lpstr>
      <vt:lpstr>Calibri Light</vt:lpstr>
      <vt:lpstr>Comic Sans MS</vt:lpstr>
      <vt:lpstr>Impact</vt:lpstr>
      <vt:lpstr>Monotype Corsiva</vt:lpstr>
      <vt:lpstr>Symbol</vt:lpstr>
      <vt:lpstr>Times New Roman</vt:lpstr>
      <vt:lpstr>TimesNewRomanPSMT;TimesNewRoman</vt:lpstr>
      <vt:lpstr>Wingdings</vt:lpstr>
      <vt:lpstr>Office Theme</vt:lpstr>
      <vt:lpstr>Equation</vt:lpstr>
      <vt:lpstr>Lecture 12 Graph-Based Algorithms</vt:lpstr>
      <vt:lpstr>Shortest Path Problems</vt:lpstr>
      <vt:lpstr>Shortest Path Problems</vt:lpstr>
      <vt:lpstr>Shortest Path Problems</vt:lpstr>
      <vt:lpstr>Variants of Shortest Paths</vt:lpstr>
      <vt:lpstr>Optimal Substructure of Shortest Paths</vt:lpstr>
      <vt:lpstr>Shortest-Path Idea</vt:lpstr>
      <vt:lpstr>Initialization</vt:lpstr>
      <vt:lpstr>Relaxation</vt:lpstr>
      <vt:lpstr>RELAX(u, v, w)</vt:lpstr>
      <vt:lpstr>Dijkstra’s Algorithm</vt:lpstr>
      <vt:lpstr>Dijkstra (G, w, s)</vt:lpstr>
      <vt:lpstr>Example</vt:lpstr>
      <vt:lpstr>Practice</vt:lpstr>
      <vt:lpstr>Dijkstra (G, w, s) – Time Complexity</vt:lpstr>
      <vt:lpstr>Dijkstra’s Time complexity (cont.)</vt:lpstr>
      <vt:lpstr>Why Does Dijkstra’s Algorithm Work?</vt:lpstr>
      <vt:lpstr>Dijkstra’s: Theorem</vt:lpstr>
      <vt:lpstr>Dijkstra’s: Proof</vt:lpstr>
      <vt:lpstr>Dijkstra’s: Proof (Contd.)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tmriddle</dc:creator>
  <cp:lastModifiedBy>NSU</cp:lastModifiedBy>
  <cp:revision>178</cp:revision>
  <dcterms:created xsi:type="dcterms:W3CDTF">2014-09-11T18:03:18Z</dcterms:created>
  <dcterms:modified xsi:type="dcterms:W3CDTF">2025-12-07T06:27:43Z</dcterms:modified>
</cp:coreProperties>
</file>