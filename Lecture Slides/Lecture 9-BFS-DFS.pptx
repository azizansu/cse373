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8"/>
  </p:notesMasterIdLst>
  <p:sldIdLst>
    <p:sldId id="256" r:id="rId2"/>
    <p:sldId id="257" r:id="rId3"/>
    <p:sldId id="258" r:id="rId4"/>
    <p:sldId id="302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78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2C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26" autoAdjust="0"/>
    <p:restoredTop sz="94707" autoAdjust="0"/>
  </p:normalViewPr>
  <p:slideViewPr>
    <p:cSldViewPr snapToGrid="0">
      <p:cViewPr varScale="1">
        <p:scale>
          <a:sx n="119" d="100"/>
          <a:sy n="119" d="100"/>
        </p:scale>
        <p:origin x="1686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71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FA3797-872C-47C4-85CC-A7A373325DBF}" type="datetimeFigureOut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36E7A3-2378-4B71-B4BC-0FE0947082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678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36E7A3-2378-4B71-B4BC-0FE0947082E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4635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04D26E-D508-49D9-BC47-8B86D4371288}" type="slidenum">
              <a:rPr lang="en-US" altLang="en-US" sz="1200" i="0">
                <a:ea typeface="MS PGothic" panose="020B0600070205080204" pitchFamily="34" charset="-128"/>
              </a:rPr>
              <a:pPr/>
              <a:t>3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73844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F323716-4116-4235-A1B2-F69F47EEA4AD}" type="slidenum">
              <a:rPr lang="en-US" altLang="en-US" sz="1200" i="0">
                <a:ea typeface="MS PGothic" panose="020B0600070205080204" pitchFamily="34" charset="-128"/>
              </a:rPr>
              <a:pPr/>
              <a:t>5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03043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50888" indent="-287338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54113" indent="-230188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17663" indent="-230188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79625" indent="-230188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36825" indent="-230188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94025" indent="-230188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51225" indent="-230188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908425" indent="-230188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fld id="{A9AD090D-7E4C-4229-BA51-12D065A79E1C}" type="slidenum">
              <a:rPr lang="en-US" altLang="en-US" sz="1200" i="0">
                <a:latin typeface="Times New Roman" panose="02020603050405020304" pitchFamily="18" charset="0"/>
              </a:rPr>
              <a:pPr eaLnBrk="1" hangingPunct="1"/>
              <a:t>6</a:t>
            </a:fld>
            <a:endParaRPr lang="en-US" altLang="en-US" sz="1200" i="0">
              <a:latin typeface="Times New Roman" panose="02020603050405020304" pitchFamily="18" charset="0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42269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C671091-843D-456E-8609-19DF8F08756E}" type="slidenum">
              <a:rPr lang="en-US" altLang="en-US" sz="1200" i="0">
                <a:ea typeface="MS PGothic" panose="020B0600070205080204" pitchFamily="34" charset="-128"/>
              </a:rPr>
              <a:pPr/>
              <a:t>8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624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956EBCA-9086-4961-AE62-927C4DA5F634}" type="slidenum">
              <a:rPr lang="en-US" altLang="en-US" sz="1200" i="0">
                <a:ea typeface="MS PGothic" panose="020B0600070205080204" pitchFamily="34" charset="-128"/>
              </a:rPr>
              <a:pPr/>
              <a:t>11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655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25346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D0EA0AE-A29E-40C9-ABA4-D19846CAAE81}" type="slidenum">
              <a:rPr lang="en-US" altLang="en-US" sz="1200" i="0">
                <a:ea typeface="MS PGothic" panose="020B0600070205080204" pitchFamily="34" charset="-128"/>
              </a:rPr>
              <a:pPr/>
              <a:t>23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11223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10165A4-E44D-4150-B7A9-B76619938224}" type="slidenum">
              <a:rPr lang="en-US" altLang="en-US" sz="1200" i="0">
                <a:ea typeface="MS PGothic" panose="020B0600070205080204" pitchFamily="34" charset="-128"/>
              </a:rPr>
              <a:pPr/>
              <a:t>27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54182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8352413" indent="-3789045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9239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A1B1FEB-2252-464A-B684-C2C8F8DDAED4}" type="slidenum">
              <a:rPr lang="en-US" altLang="en-US" sz="1200" i="0">
                <a:ea typeface="MS PGothic" panose="020B0600070205080204" pitchFamily="34" charset="-128"/>
              </a:rPr>
              <a:pPr/>
              <a:t>46</a:t>
            </a:fld>
            <a:endParaRPr lang="en-US" altLang="en-US" sz="1200" i="0">
              <a:ea typeface="MS PGothic" panose="020B0600070205080204" pitchFamily="34" charset="-128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323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5575" y="2951163"/>
            <a:ext cx="7772400" cy="2387600"/>
          </a:xfrm>
        </p:spPr>
        <p:txBody>
          <a:bodyPr anchor="b">
            <a:noAutofit/>
          </a:bodyPr>
          <a:lstStyle>
            <a:lvl1pPr algn="l">
              <a:defRPr sz="6600" b="0">
                <a:solidFill>
                  <a:schemeClr val="tx1"/>
                </a:solidFill>
                <a:latin typeface="Impact" panose="020B0806030902050204" pitchFamily="34" charset="0"/>
                <a:ea typeface="Gungsuh" panose="02030600000101010101" pitchFamily="18" charset="-127"/>
              </a:defRPr>
            </a:lvl1pPr>
          </a:lstStyle>
          <a:p>
            <a:r>
              <a:rPr lang="en-US" dirty="0"/>
              <a:t>Lecture 01</a:t>
            </a:r>
            <a:br>
              <a:rPr lang="en-US" dirty="0"/>
            </a:br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4352925" cy="4111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Britannic Bold" panose="020B0903060703020204" pitchFamily="34" charset="0"/>
                <a:ea typeface="Verdana" panose="020B0604030504040204" pitchFamily="34" charset="0"/>
                <a:cs typeface="Aharoni" panose="02010803020104030203" pitchFamily="2" charset="-79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5BECB-1EC2-4351-B909-75E5BD05932C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0335" y="106136"/>
            <a:ext cx="4359729" cy="326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3991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4EC8E1-7B4C-471D-AF10-45011E8E984F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6950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E825A-F83B-4DC1-8300-CF704F7A78B7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539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21DE9-AE3A-4E2F-B886-276D4264EB2B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463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A1C1DD-08F9-435A-8D24-068019F62DA3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1988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2C78BB-5C48-44C7-B0C6-9834365D268B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20115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7342D-2389-4250-84F4-884A3CEED256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021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D02B7-8856-45BB-B434-20417E1DDEEB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41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2C3B81-A4D5-4E79-B355-B7D4EDF16382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813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122C3B-6F45-43D4-9945-984EEE559CD0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1326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DF2068-8E64-4A30-B888-40744527392A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2076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50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41838" y="1214438"/>
            <a:ext cx="4038600" cy="507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D5C2D569-2960-42F7-9E7C-6DB09F85B26D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>
          <a:xfrm>
            <a:off x="6553200" y="6397625"/>
            <a:ext cx="2133600" cy="323850"/>
          </a:xfrm>
        </p:spPr>
        <p:txBody>
          <a:bodyPr/>
          <a:lstStyle>
            <a:lvl1pPr>
              <a:defRPr/>
            </a:lvl1pPr>
          </a:lstStyle>
          <a:p>
            <a:fld id="{A48B2152-2B3E-44A1-8FD0-4FF9B0873A68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122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313" y="100013"/>
            <a:ext cx="8229600" cy="90646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350838" y="1214438"/>
            <a:ext cx="8229600" cy="50768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DCC066-6CA6-4288-AB2C-12F498C76B03}" type="datetime1">
              <a:rPr lang="en-US" smtClean="0"/>
              <a:pPr>
                <a:defRPr/>
              </a:pPr>
              <a:t>11/30/2025</a:t>
            </a:fld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CF016DD-A2D6-41A3-94D4-B9B173881C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717617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161927"/>
            <a:ext cx="8797925" cy="67627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939800"/>
            <a:ext cx="8797925" cy="52371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5575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1730D-E9A2-4FD1-B980-0FC818472AD9}" type="datetime1">
              <a:rPr lang="en-US" smtClean="0"/>
              <a:pPr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00300" y="6356351"/>
            <a:ext cx="4279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9610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B7FB1F-0B1F-427A-8C2D-34012998026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198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Lecture 9</a:t>
            </a:r>
            <a:br>
              <a:rPr lang="en-US" dirty="0"/>
            </a:br>
            <a:r>
              <a:rPr lang="en-US" sz="3200" dirty="0"/>
              <a:t>Graph-Based Algorithms</a:t>
            </a:r>
            <a:endParaRPr lang="en-US" sz="8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574" y="5443538"/>
            <a:ext cx="5008609" cy="411162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CSE373: Design and Analysis of Algorithms</a:t>
            </a:r>
          </a:p>
        </p:txBody>
      </p:sp>
    </p:spTree>
    <p:extLst>
      <p:ext uri="{BB962C8B-B14F-4D97-AF65-F5344CB8AC3E}">
        <p14:creationId xmlns:p14="http://schemas.microsoft.com/office/powerpoint/2010/main" val="41082476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Graphs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graph G = (V, E)</a:t>
            </a:r>
          </a:p>
          <a:p>
            <a:pPr lvl="1"/>
            <a:r>
              <a:rPr lang="en-US" altLang="en-US" dirty="0"/>
              <a:t>V = set of vertices, E = set of edges </a:t>
            </a:r>
          </a:p>
          <a:p>
            <a:pPr lvl="1"/>
            <a:r>
              <a:rPr lang="en-US" altLang="en-US" i="1" dirty="0">
                <a:solidFill>
                  <a:schemeClr val="tx2"/>
                </a:solidFill>
              </a:rPr>
              <a:t>Dense</a:t>
            </a:r>
            <a:r>
              <a:rPr lang="en-US" altLang="en-US" i="1" dirty="0"/>
              <a:t> </a:t>
            </a:r>
            <a:r>
              <a:rPr lang="en-US" altLang="en-US" dirty="0"/>
              <a:t>graph: |E| </a:t>
            </a:r>
            <a:r>
              <a:rPr lang="en-US" altLang="en-US" dirty="0">
                <a:sym typeface="Symbol" panose="05050102010706020507" pitchFamily="18" charset="2"/>
              </a:rPr>
              <a:t> |V|</a:t>
            </a:r>
            <a:r>
              <a:rPr lang="en-US" altLang="en-US" baseline="30000" dirty="0">
                <a:sym typeface="Symbol" panose="05050102010706020507" pitchFamily="18" charset="2"/>
              </a:rPr>
              <a:t>2</a:t>
            </a:r>
            <a:r>
              <a:rPr lang="en-US" altLang="en-US" dirty="0">
                <a:sym typeface="Symbol" panose="05050102010706020507" pitchFamily="18" charset="2"/>
              </a:rPr>
              <a:t>; </a:t>
            </a:r>
            <a:r>
              <a:rPr lang="en-US" altLang="en-US" i="1" dirty="0">
                <a:solidFill>
                  <a:schemeClr val="tx2"/>
                </a:solidFill>
                <a:sym typeface="Symbol" panose="05050102010706020507" pitchFamily="18" charset="2"/>
              </a:rPr>
              <a:t>Sparse</a:t>
            </a:r>
            <a:r>
              <a:rPr lang="en-US" altLang="en-US" dirty="0">
                <a:sym typeface="Symbol" panose="05050102010706020507" pitchFamily="18" charset="2"/>
              </a:rPr>
              <a:t> graph: </a:t>
            </a:r>
            <a:r>
              <a:rPr lang="en-US" altLang="en-US" dirty="0"/>
              <a:t>|E| </a:t>
            </a:r>
            <a:r>
              <a:rPr lang="en-US" altLang="en-US" dirty="0">
                <a:sym typeface="Symbol" panose="05050102010706020507" pitchFamily="18" charset="2"/>
              </a:rPr>
              <a:t> |V|</a:t>
            </a:r>
            <a:endParaRPr lang="en-US" altLang="en-US" i="1" dirty="0"/>
          </a:p>
          <a:p>
            <a:pPr lvl="1"/>
            <a:r>
              <a:rPr lang="en-US" altLang="en-US" i="1" dirty="0">
                <a:solidFill>
                  <a:schemeClr val="tx2"/>
                </a:solidFill>
              </a:rPr>
              <a:t>Undirected graph:</a:t>
            </a:r>
          </a:p>
          <a:p>
            <a:pPr lvl="2"/>
            <a:r>
              <a:rPr lang="en-US" altLang="en-US" dirty="0"/>
              <a:t>edge (</a:t>
            </a:r>
            <a:r>
              <a:rPr lang="en-US" altLang="en-US" dirty="0" err="1"/>
              <a:t>u,v</a:t>
            </a:r>
            <a:r>
              <a:rPr lang="en-US" altLang="en-US" dirty="0"/>
              <a:t>) = edge (</a:t>
            </a:r>
            <a:r>
              <a:rPr lang="en-US" altLang="en-US" dirty="0" err="1"/>
              <a:t>v,u</a:t>
            </a:r>
            <a:r>
              <a:rPr lang="en-US" altLang="en-US" dirty="0"/>
              <a:t>)</a:t>
            </a:r>
          </a:p>
          <a:p>
            <a:pPr lvl="2"/>
            <a:r>
              <a:rPr lang="en-US" altLang="en-US" dirty="0"/>
              <a:t>No self-loops</a:t>
            </a:r>
          </a:p>
          <a:p>
            <a:pPr lvl="1"/>
            <a:r>
              <a:rPr lang="en-US" altLang="en-US" i="1" dirty="0">
                <a:solidFill>
                  <a:schemeClr val="tx2"/>
                </a:solidFill>
              </a:rPr>
              <a:t>Directed</a:t>
            </a:r>
            <a:r>
              <a:rPr lang="en-US" altLang="en-US" dirty="0"/>
              <a:t> graph:</a:t>
            </a:r>
          </a:p>
          <a:p>
            <a:pPr lvl="2"/>
            <a:r>
              <a:rPr lang="en-US" altLang="en-US" dirty="0"/>
              <a:t>Edge (</a:t>
            </a:r>
            <a:r>
              <a:rPr lang="en-US" altLang="en-US" dirty="0" err="1"/>
              <a:t>u,v</a:t>
            </a:r>
            <a:r>
              <a:rPr lang="en-US" altLang="en-US" dirty="0"/>
              <a:t>) goes from vertex u to vertex v, notated </a:t>
            </a:r>
            <a:r>
              <a:rPr lang="en-US" altLang="en-US" dirty="0" err="1"/>
              <a:t>u</a:t>
            </a:r>
            <a:r>
              <a:rPr lang="en-US" altLang="en-US" dirty="0" err="1">
                <a:sym typeface="Symbol" panose="05050102010706020507" pitchFamily="18" charset="2"/>
              </a:rPr>
              <a:t>v</a:t>
            </a:r>
            <a:endParaRPr lang="en-US" altLang="en-US" dirty="0"/>
          </a:p>
          <a:p>
            <a:pPr lvl="1"/>
            <a:r>
              <a:rPr lang="en-US" altLang="en-US" dirty="0"/>
              <a:t>A </a:t>
            </a:r>
            <a:r>
              <a:rPr lang="en-US" altLang="en-US" i="1" dirty="0">
                <a:solidFill>
                  <a:schemeClr val="tx2"/>
                </a:solidFill>
              </a:rPr>
              <a:t>weighted graph</a:t>
            </a:r>
            <a:r>
              <a:rPr lang="en-US" altLang="en-US" dirty="0"/>
              <a:t> associates weights with either the edges or the vertices</a:t>
            </a:r>
          </a:p>
        </p:txBody>
      </p:sp>
    </p:spTree>
    <p:extLst>
      <p:ext uri="{BB962C8B-B14F-4D97-AF65-F5344CB8AC3E}">
        <p14:creationId xmlns:p14="http://schemas.microsoft.com/office/powerpoint/2010/main" val="7196088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Adjacency Matrix Representation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4099" name="Group 100"/>
          <p:cNvGrpSpPr>
            <a:grpSpLocks/>
          </p:cNvGrpSpPr>
          <p:nvPr/>
        </p:nvGrpSpPr>
        <p:grpSpPr bwMode="auto">
          <a:xfrm>
            <a:off x="1143000" y="2133600"/>
            <a:ext cx="2590800" cy="1681163"/>
            <a:chOff x="720" y="1344"/>
            <a:chExt cx="1632" cy="1059"/>
          </a:xfrm>
        </p:grpSpPr>
        <p:grpSp>
          <p:nvGrpSpPr>
            <p:cNvPr id="4162" name="Group 3"/>
            <p:cNvGrpSpPr>
              <a:grpSpLocks/>
            </p:cNvGrpSpPr>
            <p:nvPr/>
          </p:nvGrpSpPr>
          <p:grpSpPr bwMode="auto">
            <a:xfrm>
              <a:off x="768" y="1344"/>
              <a:ext cx="288" cy="291"/>
              <a:chOff x="1200" y="1488"/>
              <a:chExt cx="288" cy="291"/>
            </a:xfrm>
          </p:grpSpPr>
          <p:sp>
            <p:nvSpPr>
              <p:cNvPr id="4181" name="Oval 4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Franklin Gothic Book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182" name="Text Box 5"/>
              <p:cNvSpPr txBox="1">
                <a:spLocks noChangeArrowheads="1"/>
              </p:cNvSpPr>
              <p:nvPr/>
            </p:nvSpPr>
            <p:spPr bwMode="auto">
              <a:xfrm>
                <a:off x="1248" y="1488"/>
                <a:ext cx="219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>
                    <a:latin typeface="Franklin Gothic Book" pitchFamily="34" charset="0"/>
                    <a:ea typeface="MS PGothic" panose="020B0600070205080204" pitchFamily="34" charset="-128"/>
                  </a:rPr>
                  <a:t>a</a:t>
                </a:r>
              </a:p>
            </p:txBody>
          </p:sp>
        </p:grpSp>
        <p:grpSp>
          <p:nvGrpSpPr>
            <p:cNvPr id="4163" name="Group 6"/>
            <p:cNvGrpSpPr>
              <a:grpSpLocks/>
            </p:cNvGrpSpPr>
            <p:nvPr/>
          </p:nvGrpSpPr>
          <p:grpSpPr bwMode="auto">
            <a:xfrm>
              <a:off x="720" y="2112"/>
              <a:ext cx="288" cy="288"/>
              <a:chOff x="1200" y="1488"/>
              <a:chExt cx="288" cy="288"/>
            </a:xfrm>
          </p:grpSpPr>
          <p:sp>
            <p:nvSpPr>
              <p:cNvPr id="4179" name="Oval 7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Franklin Gothic Book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180" name="Text Box 8"/>
              <p:cNvSpPr txBox="1">
                <a:spLocks noChangeArrowheads="1"/>
              </p:cNvSpPr>
              <p:nvPr/>
            </p:nvSpPr>
            <p:spPr bwMode="auto">
              <a:xfrm>
                <a:off x="1248" y="1488"/>
                <a:ext cx="208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>
                    <a:latin typeface="Franklin Gothic Book" pitchFamily="34" charset="0"/>
                    <a:ea typeface="MS PGothic" panose="020B0600070205080204" pitchFamily="34" charset="-128"/>
                  </a:rPr>
                  <a:t>c</a:t>
                </a:r>
              </a:p>
            </p:txBody>
          </p:sp>
        </p:grpSp>
        <p:sp>
          <p:nvSpPr>
            <p:cNvPr id="4164" name="Line 9"/>
            <p:cNvSpPr>
              <a:spLocks noChangeShapeType="1"/>
            </p:cNvSpPr>
            <p:nvPr/>
          </p:nvSpPr>
          <p:spPr bwMode="auto">
            <a:xfrm flipV="1">
              <a:off x="864" y="1632"/>
              <a:ext cx="0" cy="48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65" name="Line 10"/>
            <p:cNvSpPr>
              <a:spLocks noChangeShapeType="1"/>
            </p:cNvSpPr>
            <p:nvPr/>
          </p:nvSpPr>
          <p:spPr bwMode="auto">
            <a:xfrm flipH="1" flipV="1">
              <a:off x="1056" y="1488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4166" name="Group 11"/>
            <p:cNvGrpSpPr>
              <a:grpSpLocks/>
            </p:cNvGrpSpPr>
            <p:nvPr/>
          </p:nvGrpSpPr>
          <p:grpSpPr bwMode="auto">
            <a:xfrm>
              <a:off x="1440" y="2112"/>
              <a:ext cx="288" cy="291"/>
              <a:chOff x="1200" y="1488"/>
              <a:chExt cx="288" cy="291"/>
            </a:xfrm>
          </p:grpSpPr>
          <p:sp>
            <p:nvSpPr>
              <p:cNvPr id="4177" name="Oval 12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Franklin Gothic Book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178" name="Text Box 13"/>
              <p:cNvSpPr txBox="1">
                <a:spLocks noChangeArrowheads="1"/>
              </p:cNvSpPr>
              <p:nvPr/>
            </p:nvSpPr>
            <p:spPr bwMode="auto">
              <a:xfrm>
                <a:off x="1248" y="1488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 dirty="0">
                    <a:latin typeface="Franklin Gothic Book" pitchFamily="34" charset="0"/>
                    <a:ea typeface="MS PGothic" panose="020B0600070205080204" pitchFamily="34" charset="-128"/>
                  </a:rPr>
                  <a:t>d</a:t>
                </a:r>
              </a:p>
            </p:txBody>
          </p:sp>
        </p:grpSp>
        <p:grpSp>
          <p:nvGrpSpPr>
            <p:cNvPr id="4167" name="Group 14"/>
            <p:cNvGrpSpPr>
              <a:grpSpLocks/>
            </p:cNvGrpSpPr>
            <p:nvPr/>
          </p:nvGrpSpPr>
          <p:grpSpPr bwMode="auto">
            <a:xfrm>
              <a:off x="1488" y="1344"/>
              <a:ext cx="288" cy="291"/>
              <a:chOff x="1200" y="1488"/>
              <a:chExt cx="288" cy="291"/>
            </a:xfrm>
          </p:grpSpPr>
          <p:sp>
            <p:nvSpPr>
              <p:cNvPr id="4175" name="Oval 15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Franklin Gothic Book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176" name="Text Box 16"/>
              <p:cNvSpPr txBox="1">
                <a:spLocks noChangeArrowheads="1"/>
              </p:cNvSpPr>
              <p:nvPr/>
            </p:nvSpPr>
            <p:spPr bwMode="auto">
              <a:xfrm>
                <a:off x="1248" y="1488"/>
                <a:ext cx="220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>
                    <a:latin typeface="Franklin Gothic Book" pitchFamily="34" charset="0"/>
                    <a:ea typeface="MS PGothic" panose="020B0600070205080204" pitchFamily="34" charset="-128"/>
                  </a:rPr>
                  <a:t>b</a:t>
                </a:r>
              </a:p>
            </p:txBody>
          </p:sp>
        </p:grpSp>
        <p:grpSp>
          <p:nvGrpSpPr>
            <p:cNvPr id="4168" name="Group 17"/>
            <p:cNvGrpSpPr>
              <a:grpSpLocks/>
            </p:cNvGrpSpPr>
            <p:nvPr/>
          </p:nvGrpSpPr>
          <p:grpSpPr bwMode="auto">
            <a:xfrm>
              <a:off x="2064" y="1728"/>
              <a:ext cx="288" cy="291"/>
              <a:chOff x="1200" y="1488"/>
              <a:chExt cx="288" cy="291"/>
            </a:xfrm>
          </p:grpSpPr>
          <p:sp>
            <p:nvSpPr>
              <p:cNvPr id="4173" name="Oval 18"/>
              <p:cNvSpPr>
                <a:spLocks noChangeArrowheads="1"/>
              </p:cNvSpPr>
              <p:nvPr/>
            </p:nvSpPr>
            <p:spPr bwMode="auto">
              <a:xfrm>
                <a:off x="1200" y="1488"/>
                <a:ext cx="288" cy="288"/>
              </a:xfrm>
              <a:prstGeom prst="ellipse">
                <a:avLst/>
              </a:prstGeom>
              <a:noFill/>
              <a:ln w="38100">
                <a:solidFill>
                  <a:srgbClr val="FF99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 sz="2400">
                  <a:latin typeface="Franklin Gothic Book" pitchFamily="34" charset="0"/>
                  <a:ea typeface="MS PGothic" panose="020B0600070205080204" pitchFamily="34" charset="-128"/>
                </a:endParaRPr>
              </a:p>
            </p:txBody>
          </p:sp>
          <p:sp>
            <p:nvSpPr>
              <p:cNvPr id="4174" name="Text Box 19"/>
              <p:cNvSpPr txBox="1">
                <a:spLocks noChangeArrowheads="1"/>
              </p:cNvSpPr>
              <p:nvPr/>
            </p:nvSpPr>
            <p:spPr bwMode="auto">
              <a:xfrm>
                <a:off x="1248" y="1488"/>
                <a:ext cx="224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37931725" indent="-37474525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000" i="1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r>
                  <a:rPr lang="en-US" altLang="en-US" sz="2400" dirty="0">
                    <a:latin typeface="Franklin Gothic Book" pitchFamily="34" charset="0"/>
                    <a:ea typeface="MS PGothic" panose="020B0600070205080204" pitchFamily="34" charset="-128"/>
                  </a:rPr>
                  <a:t>e</a:t>
                </a:r>
              </a:p>
            </p:txBody>
          </p:sp>
        </p:grpSp>
        <p:sp>
          <p:nvSpPr>
            <p:cNvPr id="4169" name="Line 20"/>
            <p:cNvSpPr>
              <a:spLocks noChangeShapeType="1"/>
            </p:cNvSpPr>
            <p:nvPr/>
          </p:nvSpPr>
          <p:spPr bwMode="auto">
            <a:xfrm flipH="1" flipV="1">
              <a:off x="1008" y="2256"/>
              <a:ext cx="432" cy="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0" name="Line 21"/>
            <p:cNvSpPr>
              <a:spLocks noChangeShapeType="1"/>
            </p:cNvSpPr>
            <p:nvPr/>
          </p:nvSpPr>
          <p:spPr bwMode="auto">
            <a:xfrm flipV="1">
              <a:off x="1584" y="1632"/>
              <a:ext cx="0" cy="48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1" name="Line 22"/>
            <p:cNvSpPr>
              <a:spLocks noChangeShapeType="1"/>
            </p:cNvSpPr>
            <p:nvPr/>
          </p:nvSpPr>
          <p:spPr bwMode="auto">
            <a:xfrm flipH="1" flipV="1">
              <a:off x="1776" y="1536"/>
              <a:ext cx="288" cy="240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172" name="Line 23"/>
            <p:cNvSpPr>
              <a:spLocks noChangeShapeType="1"/>
            </p:cNvSpPr>
            <p:nvPr/>
          </p:nvSpPr>
          <p:spPr bwMode="auto">
            <a:xfrm flipH="1">
              <a:off x="1728" y="1968"/>
              <a:ext cx="384" cy="288"/>
            </a:xfrm>
            <a:prstGeom prst="lin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4100" name="Group 71"/>
          <p:cNvGrpSpPr>
            <a:grpSpLocks/>
          </p:cNvGrpSpPr>
          <p:nvPr/>
        </p:nvGrpSpPr>
        <p:grpSpPr bwMode="auto">
          <a:xfrm>
            <a:off x="4800600" y="2286000"/>
            <a:ext cx="457200" cy="2286000"/>
            <a:chOff x="3024" y="1440"/>
            <a:chExt cx="288" cy="1440"/>
          </a:xfrm>
        </p:grpSpPr>
        <p:sp>
          <p:nvSpPr>
            <p:cNvPr id="4157" name="Rectangle 24"/>
            <p:cNvSpPr>
              <a:spLocks noChangeArrowheads="1"/>
            </p:cNvSpPr>
            <p:nvPr/>
          </p:nvSpPr>
          <p:spPr bwMode="auto">
            <a:xfrm>
              <a:off x="3024" y="1440"/>
              <a:ext cx="288" cy="28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8" name="Rectangle 25"/>
            <p:cNvSpPr>
              <a:spLocks noChangeArrowheads="1"/>
            </p:cNvSpPr>
            <p:nvPr/>
          </p:nvSpPr>
          <p:spPr bwMode="auto">
            <a:xfrm>
              <a:off x="3024" y="1728"/>
              <a:ext cx="288" cy="28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9" name="Rectangle 26"/>
            <p:cNvSpPr>
              <a:spLocks noChangeArrowheads="1"/>
            </p:cNvSpPr>
            <p:nvPr/>
          </p:nvSpPr>
          <p:spPr bwMode="auto">
            <a:xfrm>
              <a:off x="3024" y="2016"/>
              <a:ext cx="288" cy="28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60" name="Rectangle 27"/>
            <p:cNvSpPr>
              <a:spLocks noChangeArrowheads="1"/>
            </p:cNvSpPr>
            <p:nvPr/>
          </p:nvSpPr>
          <p:spPr bwMode="auto">
            <a:xfrm>
              <a:off x="3024" y="2304"/>
              <a:ext cx="288" cy="28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61" name="Rectangle 28"/>
            <p:cNvSpPr>
              <a:spLocks noChangeArrowheads="1"/>
            </p:cNvSpPr>
            <p:nvPr/>
          </p:nvSpPr>
          <p:spPr bwMode="auto">
            <a:xfrm>
              <a:off x="3024" y="2592"/>
              <a:ext cx="288" cy="288"/>
            </a:xfrm>
            <a:prstGeom prst="rect">
              <a:avLst/>
            </a:prstGeom>
            <a:noFill/>
            <a:ln w="38100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4101" name="Text Box 53"/>
          <p:cNvSpPr txBox="1">
            <a:spLocks noChangeArrowheads="1"/>
          </p:cNvSpPr>
          <p:nvPr/>
        </p:nvSpPr>
        <p:spPr bwMode="auto">
          <a:xfrm>
            <a:off x="4419600" y="2286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4102" name="Text Box 54"/>
          <p:cNvSpPr txBox="1">
            <a:spLocks noChangeArrowheads="1"/>
          </p:cNvSpPr>
          <p:nvPr/>
        </p:nvSpPr>
        <p:spPr bwMode="auto">
          <a:xfrm>
            <a:off x="4419600" y="2743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4103" name="Text Box 55"/>
          <p:cNvSpPr txBox="1">
            <a:spLocks noChangeArrowheads="1"/>
          </p:cNvSpPr>
          <p:nvPr/>
        </p:nvSpPr>
        <p:spPr bwMode="auto">
          <a:xfrm>
            <a:off x="4464050" y="3200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4104" name="Text Box 56"/>
          <p:cNvSpPr txBox="1">
            <a:spLocks noChangeArrowheads="1"/>
          </p:cNvSpPr>
          <p:nvPr/>
        </p:nvSpPr>
        <p:spPr bwMode="auto">
          <a:xfrm>
            <a:off x="441960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4105" name="Text Box 57"/>
          <p:cNvSpPr txBox="1">
            <a:spLocks noChangeArrowheads="1"/>
          </p:cNvSpPr>
          <p:nvPr/>
        </p:nvSpPr>
        <p:spPr bwMode="auto">
          <a:xfrm>
            <a:off x="4419600" y="4114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467014" name="Text Box 70"/>
          <p:cNvSpPr txBox="1">
            <a:spLocks noChangeArrowheads="1"/>
          </p:cNvSpPr>
          <p:nvPr/>
        </p:nvSpPr>
        <p:spPr bwMode="auto">
          <a:xfrm>
            <a:off x="914400" y="4956175"/>
            <a:ext cx="51831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800" i="0" dirty="0">
                <a:latin typeface="+mn-lt"/>
              </a:rPr>
              <a:t>Check for an edge in constant time</a:t>
            </a:r>
          </a:p>
        </p:txBody>
      </p:sp>
      <p:grpSp>
        <p:nvGrpSpPr>
          <p:cNvPr id="4107" name="Group 72"/>
          <p:cNvGrpSpPr>
            <a:grpSpLocks/>
          </p:cNvGrpSpPr>
          <p:nvPr/>
        </p:nvGrpSpPr>
        <p:grpSpPr bwMode="auto">
          <a:xfrm>
            <a:off x="5257800" y="2286000"/>
            <a:ext cx="457200" cy="2286000"/>
            <a:chOff x="3024" y="1440"/>
            <a:chExt cx="288" cy="1440"/>
          </a:xfrm>
        </p:grpSpPr>
        <p:sp>
          <p:nvSpPr>
            <p:cNvPr id="4152" name="Rectangle 73"/>
            <p:cNvSpPr>
              <a:spLocks noChangeArrowheads="1"/>
            </p:cNvSpPr>
            <p:nvPr/>
          </p:nvSpPr>
          <p:spPr bwMode="auto">
            <a:xfrm>
              <a:off x="3024" y="1440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3" name="Rectangle 74"/>
            <p:cNvSpPr>
              <a:spLocks noChangeArrowheads="1"/>
            </p:cNvSpPr>
            <p:nvPr/>
          </p:nvSpPr>
          <p:spPr bwMode="auto">
            <a:xfrm>
              <a:off x="3024" y="1728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4" name="Rectangle 75"/>
            <p:cNvSpPr>
              <a:spLocks noChangeArrowheads="1"/>
            </p:cNvSpPr>
            <p:nvPr/>
          </p:nvSpPr>
          <p:spPr bwMode="auto">
            <a:xfrm>
              <a:off x="3024" y="2016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5" name="Rectangle 76"/>
            <p:cNvSpPr>
              <a:spLocks noChangeArrowheads="1"/>
            </p:cNvSpPr>
            <p:nvPr/>
          </p:nvSpPr>
          <p:spPr bwMode="auto">
            <a:xfrm>
              <a:off x="3024" y="2304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6" name="Rectangle 77"/>
            <p:cNvSpPr>
              <a:spLocks noChangeArrowheads="1"/>
            </p:cNvSpPr>
            <p:nvPr/>
          </p:nvSpPr>
          <p:spPr bwMode="auto">
            <a:xfrm>
              <a:off x="3024" y="2592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4108" name="Group 78"/>
          <p:cNvGrpSpPr>
            <a:grpSpLocks/>
          </p:cNvGrpSpPr>
          <p:nvPr/>
        </p:nvGrpSpPr>
        <p:grpSpPr bwMode="auto">
          <a:xfrm>
            <a:off x="5715000" y="2286000"/>
            <a:ext cx="457200" cy="2286000"/>
            <a:chOff x="3024" y="1440"/>
            <a:chExt cx="288" cy="1440"/>
          </a:xfrm>
        </p:grpSpPr>
        <p:sp>
          <p:nvSpPr>
            <p:cNvPr id="4147" name="Rectangle 79"/>
            <p:cNvSpPr>
              <a:spLocks noChangeArrowheads="1"/>
            </p:cNvSpPr>
            <p:nvPr/>
          </p:nvSpPr>
          <p:spPr bwMode="auto">
            <a:xfrm>
              <a:off x="3024" y="1440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8" name="Rectangle 80"/>
            <p:cNvSpPr>
              <a:spLocks noChangeArrowheads="1"/>
            </p:cNvSpPr>
            <p:nvPr/>
          </p:nvSpPr>
          <p:spPr bwMode="auto">
            <a:xfrm>
              <a:off x="3024" y="1728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9" name="Rectangle 81"/>
            <p:cNvSpPr>
              <a:spLocks noChangeArrowheads="1"/>
            </p:cNvSpPr>
            <p:nvPr/>
          </p:nvSpPr>
          <p:spPr bwMode="auto">
            <a:xfrm>
              <a:off x="3024" y="2016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0" name="Rectangle 82"/>
            <p:cNvSpPr>
              <a:spLocks noChangeArrowheads="1"/>
            </p:cNvSpPr>
            <p:nvPr/>
          </p:nvSpPr>
          <p:spPr bwMode="auto">
            <a:xfrm>
              <a:off x="3024" y="2304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51" name="Rectangle 83"/>
            <p:cNvSpPr>
              <a:spLocks noChangeArrowheads="1"/>
            </p:cNvSpPr>
            <p:nvPr/>
          </p:nvSpPr>
          <p:spPr bwMode="auto">
            <a:xfrm>
              <a:off x="3024" y="2592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4109" name="Group 84"/>
          <p:cNvGrpSpPr>
            <a:grpSpLocks/>
          </p:cNvGrpSpPr>
          <p:nvPr/>
        </p:nvGrpSpPr>
        <p:grpSpPr bwMode="auto">
          <a:xfrm>
            <a:off x="6172200" y="2286000"/>
            <a:ext cx="457200" cy="2286000"/>
            <a:chOff x="3024" y="1440"/>
            <a:chExt cx="288" cy="1440"/>
          </a:xfrm>
        </p:grpSpPr>
        <p:sp>
          <p:nvSpPr>
            <p:cNvPr id="4142" name="Rectangle 85"/>
            <p:cNvSpPr>
              <a:spLocks noChangeArrowheads="1"/>
            </p:cNvSpPr>
            <p:nvPr/>
          </p:nvSpPr>
          <p:spPr bwMode="auto">
            <a:xfrm>
              <a:off x="3024" y="1440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3" name="Rectangle 86"/>
            <p:cNvSpPr>
              <a:spLocks noChangeArrowheads="1"/>
            </p:cNvSpPr>
            <p:nvPr/>
          </p:nvSpPr>
          <p:spPr bwMode="auto">
            <a:xfrm>
              <a:off x="3024" y="1728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4" name="Rectangle 87"/>
            <p:cNvSpPr>
              <a:spLocks noChangeArrowheads="1"/>
            </p:cNvSpPr>
            <p:nvPr/>
          </p:nvSpPr>
          <p:spPr bwMode="auto">
            <a:xfrm>
              <a:off x="3024" y="2016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5" name="Rectangle 88"/>
            <p:cNvSpPr>
              <a:spLocks noChangeArrowheads="1"/>
            </p:cNvSpPr>
            <p:nvPr/>
          </p:nvSpPr>
          <p:spPr bwMode="auto">
            <a:xfrm>
              <a:off x="3024" y="2304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6" name="Rectangle 89"/>
            <p:cNvSpPr>
              <a:spLocks noChangeArrowheads="1"/>
            </p:cNvSpPr>
            <p:nvPr/>
          </p:nvSpPr>
          <p:spPr bwMode="auto">
            <a:xfrm>
              <a:off x="3024" y="2592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</p:grpSp>
      <p:grpSp>
        <p:nvGrpSpPr>
          <p:cNvPr id="4110" name="Group 90"/>
          <p:cNvGrpSpPr>
            <a:grpSpLocks/>
          </p:cNvGrpSpPr>
          <p:nvPr/>
        </p:nvGrpSpPr>
        <p:grpSpPr bwMode="auto">
          <a:xfrm>
            <a:off x="6629400" y="2286000"/>
            <a:ext cx="457200" cy="2286000"/>
            <a:chOff x="3024" y="1440"/>
            <a:chExt cx="288" cy="1440"/>
          </a:xfrm>
        </p:grpSpPr>
        <p:sp>
          <p:nvSpPr>
            <p:cNvPr id="4137" name="Rectangle 91"/>
            <p:cNvSpPr>
              <a:spLocks noChangeArrowheads="1"/>
            </p:cNvSpPr>
            <p:nvPr/>
          </p:nvSpPr>
          <p:spPr bwMode="auto">
            <a:xfrm>
              <a:off x="3024" y="1440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38" name="Rectangle 92"/>
            <p:cNvSpPr>
              <a:spLocks noChangeArrowheads="1"/>
            </p:cNvSpPr>
            <p:nvPr/>
          </p:nvSpPr>
          <p:spPr bwMode="auto">
            <a:xfrm>
              <a:off x="3024" y="1728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39" name="Rectangle 93"/>
            <p:cNvSpPr>
              <a:spLocks noChangeArrowheads="1"/>
            </p:cNvSpPr>
            <p:nvPr/>
          </p:nvSpPr>
          <p:spPr bwMode="auto">
            <a:xfrm>
              <a:off x="3024" y="2016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0" name="Rectangle 94"/>
            <p:cNvSpPr>
              <a:spLocks noChangeArrowheads="1"/>
            </p:cNvSpPr>
            <p:nvPr/>
          </p:nvSpPr>
          <p:spPr bwMode="auto">
            <a:xfrm>
              <a:off x="3024" y="2304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4141" name="Rectangle 95"/>
            <p:cNvSpPr>
              <a:spLocks noChangeArrowheads="1"/>
            </p:cNvSpPr>
            <p:nvPr/>
          </p:nvSpPr>
          <p:spPr bwMode="auto">
            <a:xfrm>
              <a:off x="3024" y="2592"/>
              <a:ext cx="288" cy="288"/>
            </a:xfrm>
            <a:prstGeom prst="rect">
              <a:avLst/>
            </a:prstGeom>
            <a:noFill/>
            <a:ln w="38100">
              <a:solidFill>
                <a:srgbClr val="3399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</p:grpSp>
      <p:sp>
        <p:nvSpPr>
          <p:cNvPr id="4111" name="Text Box 96"/>
          <p:cNvSpPr txBox="1">
            <a:spLocks noChangeArrowheads="1"/>
          </p:cNvSpPr>
          <p:nvPr/>
        </p:nvSpPr>
        <p:spPr bwMode="auto">
          <a:xfrm>
            <a:off x="4876800" y="190500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a   b    c    d    e</a:t>
            </a:r>
          </a:p>
        </p:txBody>
      </p:sp>
      <p:sp>
        <p:nvSpPr>
          <p:cNvPr id="4112" name="Text Box 101"/>
          <p:cNvSpPr txBox="1">
            <a:spLocks noChangeArrowheads="1"/>
          </p:cNvSpPr>
          <p:nvPr/>
        </p:nvSpPr>
        <p:spPr bwMode="auto">
          <a:xfrm>
            <a:off x="4860925" y="22606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13" name="Text Box 102"/>
          <p:cNvSpPr txBox="1">
            <a:spLocks noChangeArrowheads="1"/>
          </p:cNvSpPr>
          <p:nvPr/>
        </p:nvSpPr>
        <p:spPr bwMode="auto">
          <a:xfrm>
            <a:off x="5257800" y="22860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14" name="Text Box 103"/>
          <p:cNvSpPr txBox="1">
            <a:spLocks noChangeArrowheads="1"/>
          </p:cNvSpPr>
          <p:nvPr/>
        </p:nvSpPr>
        <p:spPr bwMode="auto">
          <a:xfrm>
            <a:off x="5715000" y="22860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15" name="Text Box 104"/>
          <p:cNvSpPr txBox="1">
            <a:spLocks noChangeArrowheads="1"/>
          </p:cNvSpPr>
          <p:nvPr/>
        </p:nvSpPr>
        <p:spPr bwMode="auto">
          <a:xfrm>
            <a:off x="6172200" y="22860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16" name="Text Box 105"/>
          <p:cNvSpPr txBox="1">
            <a:spLocks noChangeArrowheads="1"/>
          </p:cNvSpPr>
          <p:nvPr/>
        </p:nvSpPr>
        <p:spPr bwMode="auto">
          <a:xfrm>
            <a:off x="6629400" y="22860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17" name="Text Box 106"/>
          <p:cNvSpPr txBox="1">
            <a:spLocks noChangeArrowheads="1"/>
          </p:cNvSpPr>
          <p:nvPr/>
        </p:nvSpPr>
        <p:spPr bwMode="auto">
          <a:xfrm>
            <a:off x="4800600" y="27432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18" name="Text Box 107"/>
          <p:cNvSpPr txBox="1">
            <a:spLocks noChangeArrowheads="1"/>
          </p:cNvSpPr>
          <p:nvPr/>
        </p:nvSpPr>
        <p:spPr bwMode="auto">
          <a:xfrm>
            <a:off x="5257800" y="27432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19" name="Text Box 108"/>
          <p:cNvSpPr txBox="1">
            <a:spLocks noChangeArrowheads="1"/>
          </p:cNvSpPr>
          <p:nvPr/>
        </p:nvSpPr>
        <p:spPr bwMode="auto">
          <a:xfrm>
            <a:off x="5715000" y="27432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20" name="Text Box 109"/>
          <p:cNvSpPr txBox="1">
            <a:spLocks noChangeArrowheads="1"/>
          </p:cNvSpPr>
          <p:nvPr/>
        </p:nvSpPr>
        <p:spPr bwMode="auto">
          <a:xfrm>
            <a:off x="6172200" y="27432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21" name="Text Box 110"/>
          <p:cNvSpPr txBox="1">
            <a:spLocks noChangeArrowheads="1"/>
          </p:cNvSpPr>
          <p:nvPr/>
        </p:nvSpPr>
        <p:spPr bwMode="auto">
          <a:xfrm>
            <a:off x="6629400" y="27432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22" name="Text Box 111"/>
          <p:cNvSpPr txBox="1">
            <a:spLocks noChangeArrowheads="1"/>
          </p:cNvSpPr>
          <p:nvPr/>
        </p:nvSpPr>
        <p:spPr bwMode="auto">
          <a:xfrm>
            <a:off x="4800600" y="32004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23" name="Text Box 112"/>
          <p:cNvSpPr txBox="1">
            <a:spLocks noChangeArrowheads="1"/>
          </p:cNvSpPr>
          <p:nvPr/>
        </p:nvSpPr>
        <p:spPr bwMode="auto">
          <a:xfrm>
            <a:off x="5257800" y="32004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24" name="Text Box 113"/>
          <p:cNvSpPr txBox="1">
            <a:spLocks noChangeArrowheads="1"/>
          </p:cNvSpPr>
          <p:nvPr/>
        </p:nvSpPr>
        <p:spPr bwMode="auto">
          <a:xfrm>
            <a:off x="5715000" y="32004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25" name="Text Box 114"/>
          <p:cNvSpPr txBox="1">
            <a:spLocks noChangeArrowheads="1"/>
          </p:cNvSpPr>
          <p:nvPr/>
        </p:nvSpPr>
        <p:spPr bwMode="auto">
          <a:xfrm>
            <a:off x="6172200" y="32004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26" name="Text Box 115"/>
          <p:cNvSpPr txBox="1">
            <a:spLocks noChangeArrowheads="1"/>
          </p:cNvSpPr>
          <p:nvPr/>
        </p:nvSpPr>
        <p:spPr bwMode="auto">
          <a:xfrm>
            <a:off x="6629400" y="32004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27" name="Text Box 116"/>
          <p:cNvSpPr txBox="1">
            <a:spLocks noChangeArrowheads="1"/>
          </p:cNvSpPr>
          <p:nvPr/>
        </p:nvSpPr>
        <p:spPr bwMode="auto">
          <a:xfrm>
            <a:off x="4800600" y="36576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28" name="Text Box 117"/>
          <p:cNvSpPr txBox="1">
            <a:spLocks noChangeArrowheads="1"/>
          </p:cNvSpPr>
          <p:nvPr/>
        </p:nvSpPr>
        <p:spPr bwMode="auto">
          <a:xfrm>
            <a:off x="5257800" y="36576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29" name="Text Box 118"/>
          <p:cNvSpPr txBox="1">
            <a:spLocks noChangeArrowheads="1"/>
          </p:cNvSpPr>
          <p:nvPr/>
        </p:nvSpPr>
        <p:spPr bwMode="auto">
          <a:xfrm>
            <a:off x="5715000" y="36576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30" name="Text Box 119"/>
          <p:cNvSpPr txBox="1">
            <a:spLocks noChangeArrowheads="1"/>
          </p:cNvSpPr>
          <p:nvPr/>
        </p:nvSpPr>
        <p:spPr bwMode="auto">
          <a:xfrm>
            <a:off x="6172200" y="36576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31" name="Text Box 120"/>
          <p:cNvSpPr txBox="1">
            <a:spLocks noChangeArrowheads="1"/>
          </p:cNvSpPr>
          <p:nvPr/>
        </p:nvSpPr>
        <p:spPr bwMode="auto">
          <a:xfrm>
            <a:off x="6629400" y="36576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32" name="Text Box 121"/>
          <p:cNvSpPr txBox="1">
            <a:spLocks noChangeArrowheads="1"/>
          </p:cNvSpPr>
          <p:nvPr/>
        </p:nvSpPr>
        <p:spPr bwMode="auto">
          <a:xfrm>
            <a:off x="4800600" y="41148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33" name="Text Box 122"/>
          <p:cNvSpPr txBox="1">
            <a:spLocks noChangeArrowheads="1"/>
          </p:cNvSpPr>
          <p:nvPr/>
        </p:nvSpPr>
        <p:spPr bwMode="auto">
          <a:xfrm>
            <a:off x="5257800" y="41148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34" name="Text Box 123"/>
          <p:cNvSpPr txBox="1">
            <a:spLocks noChangeArrowheads="1"/>
          </p:cNvSpPr>
          <p:nvPr/>
        </p:nvSpPr>
        <p:spPr bwMode="auto">
          <a:xfrm>
            <a:off x="5715000" y="41148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  <p:sp>
        <p:nvSpPr>
          <p:cNvPr id="4135" name="Text Box 124"/>
          <p:cNvSpPr txBox="1">
            <a:spLocks noChangeArrowheads="1"/>
          </p:cNvSpPr>
          <p:nvPr/>
        </p:nvSpPr>
        <p:spPr bwMode="auto">
          <a:xfrm>
            <a:off x="6172200" y="41148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1</a:t>
            </a:r>
          </a:p>
        </p:txBody>
      </p:sp>
      <p:sp>
        <p:nvSpPr>
          <p:cNvPr id="4136" name="Text Box 125"/>
          <p:cNvSpPr txBox="1">
            <a:spLocks noChangeArrowheads="1"/>
          </p:cNvSpPr>
          <p:nvPr/>
        </p:nvSpPr>
        <p:spPr bwMode="auto">
          <a:xfrm>
            <a:off x="6629400" y="4114800"/>
            <a:ext cx="373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622336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Adjacency Matrix Representation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altLang="en-US" sz="2400" dirty="0"/>
              <a:t>Memory required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O(V+V</a:t>
            </a:r>
            <a:r>
              <a:rPr lang="en-US" altLang="en-US" sz="2000" baseline="30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)=O(V</a:t>
            </a:r>
            <a:r>
              <a:rPr lang="en-US" altLang="en-US" sz="2000" baseline="30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Preferred when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The graph is </a:t>
            </a:r>
            <a:r>
              <a:rPr lang="en-US" altLang="en-US" sz="2000" b="1" dirty="0">
                <a:sym typeface="Symbol" panose="05050102010706020507" pitchFamily="18" charset="2"/>
              </a:rPr>
              <a:t>dense:</a:t>
            </a:r>
            <a:r>
              <a:rPr lang="en-US" altLang="en-US" sz="2000" dirty="0">
                <a:sym typeface="Symbol" panose="05050102010706020507" pitchFamily="18" charset="2"/>
              </a:rPr>
              <a:t> E = O(V</a:t>
            </a:r>
            <a:r>
              <a:rPr lang="en-US" altLang="en-US" sz="2000" baseline="30000" dirty="0">
                <a:sym typeface="Symbol" panose="05050102010706020507" pitchFamily="18" charset="2"/>
              </a:rPr>
              <a:t>2</a:t>
            </a:r>
            <a:r>
              <a:rPr lang="en-US" altLang="en-US" sz="2000" dirty="0">
                <a:sym typeface="Symbol" panose="05050102010706020507" pitchFamily="18" charset="2"/>
              </a:rPr>
              <a:t>)</a:t>
            </a:r>
          </a:p>
          <a:p>
            <a:pPr>
              <a:lnSpc>
                <a:spcPct val="110000"/>
              </a:lnSpc>
            </a:pPr>
            <a:r>
              <a:rPr lang="en-US" altLang="en-US" sz="2400" dirty="0">
                <a:sym typeface="Symbol" panose="05050102010706020507" pitchFamily="18" charset="2"/>
              </a:rPr>
              <a:t>Advantage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Can quickly determine </a:t>
            </a:r>
          </a:p>
          <a:p>
            <a:pPr lvl="1">
              <a:lnSpc>
                <a:spcPct val="110000"/>
              </a:lnSpc>
            </a:pPr>
            <a:r>
              <a:rPr lang="en-US" altLang="en-US" sz="2000" dirty="0">
                <a:sym typeface="Symbol" panose="05050102010706020507" pitchFamily="18" charset="2"/>
              </a:rPr>
              <a:t>if there is an edge between two vertices</a:t>
            </a:r>
          </a:p>
          <a:p>
            <a:pPr>
              <a:lnSpc>
                <a:spcPct val="130000"/>
              </a:lnSpc>
            </a:pPr>
            <a:r>
              <a:rPr lang="en-US" altLang="en-US" sz="2400" dirty="0"/>
              <a:t>Disadvantage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No quick way to determine the vertices adjacent </a:t>
            </a:r>
            <a:r>
              <a:rPr lang="en-US" altLang="en-US" sz="2000" b="1" u="sng" dirty="0"/>
              <a:t>from</a:t>
            </a:r>
            <a:r>
              <a:rPr lang="en-US" altLang="en-US" sz="2000" dirty="0"/>
              <a:t> another vertex.</a:t>
            </a:r>
          </a:p>
          <a:p>
            <a:pPr lvl="1">
              <a:lnSpc>
                <a:spcPct val="130000"/>
              </a:lnSpc>
            </a:pPr>
            <a:r>
              <a:rPr lang="en-US" altLang="en-US" sz="2000" dirty="0"/>
              <a:t>Listing all the neighbors of ANY vertex takes O(V) time.</a:t>
            </a:r>
          </a:p>
        </p:txBody>
      </p:sp>
    </p:spTree>
    <p:extLst>
      <p:ext uri="{BB962C8B-B14F-4D97-AF65-F5344CB8AC3E}">
        <p14:creationId xmlns:p14="http://schemas.microsoft.com/office/powerpoint/2010/main" val="2548914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Adjacency List Representation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6147" name="Group 5"/>
          <p:cNvGrpSpPr>
            <a:grpSpLocks/>
          </p:cNvGrpSpPr>
          <p:nvPr/>
        </p:nvGrpSpPr>
        <p:grpSpPr bwMode="auto">
          <a:xfrm>
            <a:off x="1219200" y="2133600"/>
            <a:ext cx="457200" cy="461963"/>
            <a:chOff x="1200" y="1488"/>
            <a:chExt cx="288" cy="291"/>
          </a:xfrm>
        </p:grpSpPr>
        <p:sp>
          <p:nvSpPr>
            <p:cNvPr id="6213" name="Oval 6"/>
            <p:cNvSpPr>
              <a:spLocks noChangeArrowheads="1"/>
            </p:cNvSpPr>
            <p:nvPr/>
          </p:nvSpPr>
          <p:spPr bwMode="auto">
            <a:xfrm>
              <a:off x="1200" y="1488"/>
              <a:ext cx="288" cy="288"/>
            </a:xfrm>
            <a:prstGeom prst="ellips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6214" name="Text Box 7"/>
            <p:cNvSpPr txBox="1">
              <a:spLocks noChangeArrowheads="1"/>
            </p:cNvSpPr>
            <p:nvPr/>
          </p:nvSpPr>
          <p:spPr bwMode="auto">
            <a:xfrm>
              <a:off x="1248" y="1488"/>
              <a:ext cx="219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Franklin Gothic Book" pitchFamily="34" charset="0"/>
                  <a:ea typeface="MS PGothic" panose="020B0600070205080204" pitchFamily="34" charset="-128"/>
                </a:rPr>
                <a:t>a</a:t>
              </a:r>
            </a:p>
          </p:txBody>
        </p:sp>
      </p:grpSp>
      <p:grpSp>
        <p:nvGrpSpPr>
          <p:cNvPr id="6148" name="Group 8"/>
          <p:cNvGrpSpPr>
            <a:grpSpLocks/>
          </p:cNvGrpSpPr>
          <p:nvPr/>
        </p:nvGrpSpPr>
        <p:grpSpPr bwMode="auto">
          <a:xfrm>
            <a:off x="1143000" y="3352800"/>
            <a:ext cx="457200" cy="457200"/>
            <a:chOff x="1200" y="1488"/>
            <a:chExt cx="288" cy="288"/>
          </a:xfrm>
        </p:grpSpPr>
        <p:sp>
          <p:nvSpPr>
            <p:cNvPr id="6211" name="Oval 9"/>
            <p:cNvSpPr>
              <a:spLocks noChangeArrowheads="1"/>
            </p:cNvSpPr>
            <p:nvPr/>
          </p:nvSpPr>
          <p:spPr bwMode="auto">
            <a:xfrm>
              <a:off x="1200" y="1488"/>
              <a:ext cx="288" cy="288"/>
            </a:xfrm>
            <a:prstGeom prst="ellips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6212" name="Text Box 10"/>
            <p:cNvSpPr txBox="1">
              <a:spLocks noChangeArrowheads="1"/>
            </p:cNvSpPr>
            <p:nvPr/>
          </p:nvSpPr>
          <p:spPr bwMode="auto">
            <a:xfrm>
              <a:off x="1248" y="1488"/>
              <a:ext cx="20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Franklin Gothic Book" pitchFamily="34" charset="0"/>
                  <a:ea typeface="MS PGothic" panose="020B0600070205080204" pitchFamily="34" charset="-128"/>
                </a:rPr>
                <a:t>c</a:t>
              </a:r>
            </a:p>
          </p:txBody>
        </p:sp>
      </p:grpSp>
      <p:sp>
        <p:nvSpPr>
          <p:cNvPr id="6149" name="Line 11"/>
          <p:cNvSpPr>
            <a:spLocks noChangeShapeType="1"/>
          </p:cNvSpPr>
          <p:nvPr/>
        </p:nvSpPr>
        <p:spPr bwMode="auto">
          <a:xfrm flipV="1">
            <a:off x="1371600" y="2590800"/>
            <a:ext cx="0" cy="7620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0" name="Line 12"/>
          <p:cNvSpPr>
            <a:spLocks noChangeShapeType="1"/>
          </p:cNvSpPr>
          <p:nvPr/>
        </p:nvSpPr>
        <p:spPr bwMode="auto">
          <a:xfrm flipH="1" flipV="1">
            <a:off x="1676400" y="2362200"/>
            <a:ext cx="6858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6151" name="Group 13"/>
          <p:cNvGrpSpPr>
            <a:grpSpLocks/>
          </p:cNvGrpSpPr>
          <p:nvPr/>
        </p:nvGrpSpPr>
        <p:grpSpPr bwMode="auto">
          <a:xfrm>
            <a:off x="2286000" y="3352800"/>
            <a:ext cx="457200" cy="461963"/>
            <a:chOff x="1200" y="1488"/>
            <a:chExt cx="288" cy="291"/>
          </a:xfrm>
        </p:grpSpPr>
        <p:sp>
          <p:nvSpPr>
            <p:cNvPr id="6209" name="Oval 14"/>
            <p:cNvSpPr>
              <a:spLocks noChangeArrowheads="1"/>
            </p:cNvSpPr>
            <p:nvPr/>
          </p:nvSpPr>
          <p:spPr bwMode="auto">
            <a:xfrm>
              <a:off x="1200" y="1488"/>
              <a:ext cx="288" cy="288"/>
            </a:xfrm>
            <a:prstGeom prst="ellips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6210" name="Text Box 15"/>
            <p:cNvSpPr txBox="1">
              <a:spLocks noChangeArrowheads="1"/>
            </p:cNvSpPr>
            <p:nvPr/>
          </p:nvSpPr>
          <p:spPr bwMode="auto">
            <a:xfrm>
              <a:off x="1248" y="1488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latin typeface="Franklin Gothic Book" pitchFamily="34" charset="0"/>
                  <a:ea typeface="MS PGothic" panose="020B0600070205080204" pitchFamily="34" charset="-128"/>
                </a:rPr>
                <a:t>d</a:t>
              </a:r>
            </a:p>
          </p:txBody>
        </p:sp>
      </p:grpSp>
      <p:grpSp>
        <p:nvGrpSpPr>
          <p:cNvPr id="6152" name="Group 17"/>
          <p:cNvGrpSpPr>
            <a:grpSpLocks/>
          </p:cNvGrpSpPr>
          <p:nvPr/>
        </p:nvGrpSpPr>
        <p:grpSpPr bwMode="auto">
          <a:xfrm>
            <a:off x="2362200" y="2133600"/>
            <a:ext cx="457200" cy="461963"/>
            <a:chOff x="1200" y="1488"/>
            <a:chExt cx="288" cy="291"/>
          </a:xfrm>
        </p:grpSpPr>
        <p:sp>
          <p:nvSpPr>
            <p:cNvPr id="6207" name="Oval 18"/>
            <p:cNvSpPr>
              <a:spLocks noChangeArrowheads="1"/>
            </p:cNvSpPr>
            <p:nvPr/>
          </p:nvSpPr>
          <p:spPr bwMode="auto">
            <a:xfrm>
              <a:off x="1200" y="1488"/>
              <a:ext cx="288" cy="288"/>
            </a:xfrm>
            <a:prstGeom prst="ellips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6208" name="Text Box 19"/>
            <p:cNvSpPr txBox="1">
              <a:spLocks noChangeArrowheads="1"/>
            </p:cNvSpPr>
            <p:nvPr/>
          </p:nvSpPr>
          <p:spPr bwMode="auto">
            <a:xfrm>
              <a:off x="1248" y="1488"/>
              <a:ext cx="220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>
                  <a:latin typeface="Franklin Gothic Book" pitchFamily="34" charset="0"/>
                  <a:ea typeface="MS PGothic" panose="020B0600070205080204" pitchFamily="34" charset="-128"/>
                </a:rPr>
                <a:t>b</a:t>
              </a:r>
            </a:p>
          </p:txBody>
        </p:sp>
      </p:grpSp>
      <p:grpSp>
        <p:nvGrpSpPr>
          <p:cNvPr id="6153" name="Group 20"/>
          <p:cNvGrpSpPr>
            <a:grpSpLocks/>
          </p:cNvGrpSpPr>
          <p:nvPr/>
        </p:nvGrpSpPr>
        <p:grpSpPr bwMode="auto">
          <a:xfrm>
            <a:off x="3276600" y="2743203"/>
            <a:ext cx="457200" cy="461963"/>
            <a:chOff x="1200" y="1488"/>
            <a:chExt cx="288" cy="291"/>
          </a:xfrm>
        </p:grpSpPr>
        <p:sp>
          <p:nvSpPr>
            <p:cNvPr id="6205" name="Oval 21"/>
            <p:cNvSpPr>
              <a:spLocks noChangeArrowheads="1"/>
            </p:cNvSpPr>
            <p:nvPr/>
          </p:nvSpPr>
          <p:spPr bwMode="auto">
            <a:xfrm>
              <a:off x="1200" y="1488"/>
              <a:ext cx="288" cy="288"/>
            </a:xfrm>
            <a:prstGeom prst="ellipse">
              <a:avLst/>
            </a:prstGeom>
            <a:noFill/>
            <a:ln w="38100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 sz="2400">
                <a:latin typeface="Franklin Gothic Book" pitchFamily="34" charset="0"/>
                <a:ea typeface="MS PGothic" panose="020B0600070205080204" pitchFamily="34" charset="-128"/>
              </a:endParaRPr>
            </a:p>
          </p:txBody>
        </p:sp>
        <p:sp>
          <p:nvSpPr>
            <p:cNvPr id="6206" name="Text Box 22"/>
            <p:cNvSpPr txBox="1">
              <a:spLocks noChangeArrowheads="1"/>
            </p:cNvSpPr>
            <p:nvPr/>
          </p:nvSpPr>
          <p:spPr bwMode="auto">
            <a:xfrm>
              <a:off x="1248" y="1488"/>
              <a:ext cx="224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37931725" indent="-37474525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400" dirty="0">
                  <a:latin typeface="Franklin Gothic Book" pitchFamily="34" charset="0"/>
                  <a:ea typeface="MS PGothic" panose="020B0600070205080204" pitchFamily="34" charset="-128"/>
                </a:rPr>
                <a:t>e</a:t>
              </a:r>
            </a:p>
          </p:txBody>
        </p:sp>
      </p:grpSp>
      <p:sp>
        <p:nvSpPr>
          <p:cNvPr id="6154" name="Line 23"/>
          <p:cNvSpPr>
            <a:spLocks noChangeShapeType="1"/>
          </p:cNvSpPr>
          <p:nvPr/>
        </p:nvSpPr>
        <p:spPr bwMode="auto">
          <a:xfrm flipH="1" flipV="1">
            <a:off x="1600200" y="3581400"/>
            <a:ext cx="6858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5" name="Line 24"/>
          <p:cNvSpPr>
            <a:spLocks noChangeShapeType="1"/>
          </p:cNvSpPr>
          <p:nvPr/>
        </p:nvSpPr>
        <p:spPr bwMode="auto">
          <a:xfrm flipV="1">
            <a:off x="2514600" y="2590800"/>
            <a:ext cx="0" cy="7620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6" name="Line 25"/>
          <p:cNvSpPr>
            <a:spLocks noChangeShapeType="1"/>
          </p:cNvSpPr>
          <p:nvPr/>
        </p:nvSpPr>
        <p:spPr bwMode="auto">
          <a:xfrm flipH="1" flipV="1">
            <a:off x="2819400" y="2438400"/>
            <a:ext cx="457200" cy="3810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7" name="Line 26"/>
          <p:cNvSpPr>
            <a:spLocks noChangeShapeType="1"/>
          </p:cNvSpPr>
          <p:nvPr/>
        </p:nvSpPr>
        <p:spPr bwMode="auto">
          <a:xfrm flipH="1">
            <a:off x="2743200" y="3124200"/>
            <a:ext cx="609600" cy="45720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58" name="Rectangle 27"/>
          <p:cNvSpPr>
            <a:spLocks noChangeArrowheads="1"/>
          </p:cNvSpPr>
          <p:nvPr/>
        </p:nvSpPr>
        <p:spPr bwMode="auto">
          <a:xfrm>
            <a:off x="4800600" y="2286000"/>
            <a:ext cx="457200" cy="4572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59" name="Rectangle 28"/>
          <p:cNvSpPr>
            <a:spLocks noChangeArrowheads="1"/>
          </p:cNvSpPr>
          <p:nvPr/>
        </p:nvSpPr>
        <p:spPr bwMode="auto">
          <a:xfrm>
            <a:off x="4800600" y="2743200"/>
            <a:ext cx="457200" cy="4572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0" name="Rectangle 29"/>
          <p:cNvSpPr>
            <a:spLocks noChangeArrowheads="1"/>
          </p:cNvSpPr>
          <p:nvPr/>
        </p:nvSpPr>
        <p:spPr bwMode="auto">
          <a:xfrm>
            <a:off x="4800600" y="3200400"/>
            <a:ext cx="457200" cy="4572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1" name="Rectangle 30"/>
          <p:cNvSpPr>
            <a:spLocks noChangeArrowheads="1"/>
          </p:cNvSpPr>
          <p:nvPr/>
        </p:nvSpPr>
        <p:spPr bwMode="auto">
          <a:xfrm>
            <a:off x="4800600" y="3657600"/>
            <a:ext cx="457200" cy="4572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2" name="Rectangle 31"/>
          <p:cNvSpPr>
            <a:spLocks noChangeArrowheads="1"/>
          </p:cNvSpPr>
          <p:nvPr/>
        </p:nvSpPr>
        <p:spPr bwMode="auto">
          <a:xfrm>
            <a:off x="4800600" y="4114800"/>
            <a:ext cx="457200" cy="4572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3" name="Rectangle 32"/>
          <p:cNvSpPr>
            <a:spLocks noChangeArrowheads="1"/>
          </p:cNvSpPr>
          <p:nvPr/>
        </p:nvSpPr>
        <p:spPr bwMode="auto">
          <a:xfrm>
            <a:off x="5791200" y="22860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4" name="Rectangle 35"/>
          <p:cNvSpPr>
            <a:spLocks noChangeArrowheads="1"/>
          </p:cNvSpPr>
          <p:nvPr/>
        </p:nvSpPr>
        <p:spPr bwMode="auto">
          <a:xfrm>
            <a:off x="6553200" y="22860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5" name="Rectangle 40"/>
          <p:cNvSpPr>
            <a:spLocks noChangeArrowheads="1"/>
          </p:cNvSpPr>
          <p:nvPr/>
        </p:nvSpPr>
        <p:spPr bwMode="auto">
          <a:xfrm>
            <a:off x="5791200" y="28194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6" name="Rectangle 41"/>
          <p:cNvSpPr>
            <a:spLocks noChangeArrowheads="1"/>
          </p:cNvSpPr>
          <p:nvPr/>
        </p:nvSpPr>
        <p:spPr bwMode="auto">
          <a:xfrm>
            <a:off x="6553200" y="28194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7" name="Rectangle 42"/>
          <p:cNvSpPr>
            <a:spLocks noChangeArrowheads="1"/>
          </p:cNvSpPr>
          <p:nvPr/>
        </p:nvSpPr>
        <p:spPr bwMode="auto">
          <a:xfrm>
            <a:off x="7315200" y="28194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8" name="Rectangle 43"/>
          <p:cNvSpPr>
            <a:spLocks noChangeArrowheads="1"/>
          </p:cNvSpPr>
          <p:nvPr/>
        </p:nvSpPr>
        <p:spPr bwMode="auto">
          <a:xfrm>
            <a:off x="5791200" y="32766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69" name="Rectangle 44"/>
          <p:cNvSpPr>
            <a:spLocks noChangeArrowheads="1"/>
          </p:cNvSpPr>
          <p:nvPr/>
        </p:nvSpPr>
        <p:spPr bwMode="auto">
          <a:xfrm>
            <a:off x="6553200" y="32766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70" name="Rectangle 45"/>
          <p:cNvSpPr>
            <a:spLocks noChangeArrowheads="1"/>
          </p:cNvSpPr>
          <p:nvPr/>
        </p:nvSpPr>
        <p:spPr bwMode="auto">
          <a:xfrm>
            <a:off x="5791200" y="37338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71" name="Rectangle 46"/>
          <p:cNvSpPr>
            <a:spLocks noChangeArrowheads="1"/>
          </p:cNvSpPr>
          <p:nvPr/>
        </p:nvSpPr>
        <p:spPr bwMode="auto">
          <a:xfrm>
            <a:off x="6553200" y="37338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72" name="Rectangle 47"/>
          <p:cNvSpPr>
            <a:spLocks noChangeArrowheads="1"/>
          </p:cNvSpPr>
          <p:nvPr/>
        </p:nvSpPr>
        <p:spPr bwMode="auto">
          <a:xfrm>
            <a:off x="7315200" y="37338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73" name="Rectangle 48"/>
          <p:cNvSpPr>
            <a:spLocks noChangeArrowheads="1"/>
          </p:cNvSpPr>
          <p:nvPr/>
        </p:nvSpPr>
        <p:spPr bwMode="auto">
          <a:xfrm>
            <a:off x="5791200" y="41910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74" name="Rectangle 49"/>
          <p:cNvSpPr>
            <a:spLocks noChangeArrowheads="1"/>
          </p:cNvSpPr>
          <p:nvPr/>
        </p:nvSpPr>
        <p:spPr bwMode="auto">
          <a:xfrm>
            <a:off x="6553200" y="4191000"/>
            <a:ext cx="381000" cy="381000"/>
          </a:xfrm>
          <a:prstGeom prst="rect">
            <a:avLst/>
          </a:prstGeom>
          <a:noFill/>
          <a:ln w="38100">
            <a:solidFill>
              <a:srgbClr val="33996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2400">
              <a:latin typeface="Franklin Gothic Book" pitchFamily="34" charset="0"/>
              <a:ea typeface="MS PGothic" panose="020B0600070205080204" pitchFamily="34" charset="-128"/>
            </a:endParaRPr>
          </a:p>
        </p:txBody>
      </p:sp>
      <p:sp>
        <p:nvSpPr>
          <p:cNvPr id="6175" name="Line 50"/>
          <p:cNvSpPr>
            <a:spLocks noChangeShapeType="1"/>
          </p:cNvSpPr>
          <p:nvPr/>
        </p:nvSpPr>
        <p:spPr bwMode="auto">
          <a:xfrm flipH="1" flipV="1">
            <a:off x="5029200" y="2438400"/>
            <a:ext cx="762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6" name="Line 51"/>
          <p:cNvSpPr>
            <a:spLocks noChangeShapeType="1"/>
          </p:cNvSpPr>
          <p:nvPr/>
        </p:nvSpPr>
        <p:spPr bwMode="auto">
          <a:xfrm flipH="1" flipV="1">
            <a:off x="5029200" y="2971800"/>
            <a:ext cx="762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7" name="Line 52"/>
          <p:cNvSpPr>
            <a:spLocks noChangeShapeType="1"/>
          </p:cNvSpPr>
          <p:nvPr/>
        </p:nvSpPr>
        <p:spPr bwMode="auto">
          <a:xfrm flipH="1" flipV="1">
            <a:off x="5029200" y="3429000"/>
            <a:ext cx="762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8" name="Line 53"/>
          <p:cNvSpPr>
            <a:spLocks noChangeShapeType="1"/>
          </p:cNvSpPr>
          <p:nvPr/>
        </p:nvSpPr>
        <p:spPr bwMode="auto">
          <a:xfrm flipH="1" flipV="1">
            <a:off x="5029200" y="3886200"/>
            <a:ext cx="762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79" name="Line 54"/>
          <p:cNvSpPr>
            <a:spLocks noChangeShapeType="1"/>
          </p:cNvSpPr>
          <p:nvPr/>
        </p:nvSpPr>
        <p:spPr bwMode="auto">
          <a:xfrm flipH="1" flipV="1">
            <a:off x="5029200" y="4343400"/>
            <a:ext cx="762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 type="oval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0" name="Line 55"/>
          <p:cNvSpPr>
            <a:spLocks noChangeShapeType="1"/>
          </p:cNvSpPr>
          <p:nvPr/>
        </p:nvSpPr>
        <p:spPr bwMode="auto">
          <a:xfrm flipH="1" flipV="1">
            <a:off x="6172200" y="24384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1" name="Line 56"/>
          <p:cNvSpPr>
            <a:spLocks noChangeShapeType="1"/>
          </p:cNvSpPr>
          <p:nvPr/>
        </p:nvSpPr>
        <p:spPr bwMode="auto">
          <a:xfrm flipH="1" flipV="1">
            <a:off x="6172200" y="29718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2" name="Line 57"/>
          <p:cNvSpPr>
            <a:spLocks noChangeShapeType="1"/>
          </p:cNvSpPr>
          <p:nvPr/>
        </p:nvSpPr>
        <p:spPr bwMode="auto">
          <a:xfrm flipH="1" flipV="1">
            <a:off x="6934200" y="29718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3" name="Line 58"/>
          <p:cNvSpPr>
            <a:spLocks noChangeShapeType="1"/>
          </p:cNvSpPr>
          <p:nvPr/>
        </p:nvSpPr>
        <p:spPr bwMode="auto">
          <a:xfrm flipH="1" flipV="1">
            <a:off x="6172200" y="34290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4" name="Line 59"/>
          <p:cNvSpPr>
            <a:spLocks noChangeShapeType="1"/>
          </p:cNvSpPr>
          <p:nvPr/>
        </p:nvSpPr>
        <p:spPr bwMode="auto">
          <a:xfrm flipH="1" flipV="1">
            <a:off x="6172200" y="38862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5" name="Line 60"/>
          <p:cNvSpPr>
            <a:spLocks noChangeShapeType="1"/>
          </p:cNvSpPr>
          <p:nvPr/>
        </p:nvSpPr>
        <p:spPr bwMode="auto">
          <a:xfrm flipH="1" flipV="1">
            <a:off x="6934200" y="38862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6" name="Line 61"/>
          <p:cNvSpPr>
            <a:spLocks noChangeShapeType="1"/>
          </p:cNvSpPr>
          <p:nvPr/>
        </p:nvSpPr>
        <p:spPr bwMode="auto">
          <a:xfrm flipH="1" flipV="1">
            <a:off x="6172200" y="4343400"/>
            <a:ext cx="381000" cy="0"/>
          </a:xfrm>
          <a:prstGeom prst="line">
            <a:avLst/>
          </a:prstGeom>
          <a:noFill/>
          <a:ln w="38100">
            <a:solidFill>
              <a:srgbClr val="339966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87" name="Text Box 62"/>
          <p:cNvSpPr txBox="1">
            <a:spLocks noChangeArrowheads="1"/>
          </p:cNvSpPr>
          <p:nvPr/>
        </p:nvSpPr>
        <p:spPr bwMode="auto">
          <a:xfrm>
            <a:off x="4419600" y="22860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6188" name="Text Box 63"/>
          <p:cNvSpPr txBox="1">
            <a:spLocks noChangeArrowheads="1"/>
          </p:cNvSpPr>
          <p:nvPr/>
        </p:nvSpPr>
        <p:spPr bwMode="auto">
          <a:xfrm>
            <a:off x="4419600" y="2743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6189" name="Text Box 64"/>
          <p:cNvSpPr txBox="1">
            <a:spLocks noChangeArrowheads="1"/>
          </p:cNvSpPr>
          <p:nvPr/>
        </p:nvSpPr>
        <p:spPr bwMode="auto">
          <a:xfrm>
            <a:off x="4464050" y="3200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6190" name="Text Box 65"/>
          <p:cNvSpPr txBox="1">
            <a:spLocks noChangeArrowheads="1"/>
          </p:cNvSpPr>
          <p:nvPr/>
        </p:nvSpPr>
        <p:spPr bwMode="auto">
          <a:xfrm>
            <a:off x="441960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6191" name="Text Box 66"/>
          <p:cNvSpPr txBox="1">
            <a:spLocks noChangeArrowheads="1"/>
          </p:cNvSpPr>
          <p:nvPr/>
        </p:nvSpPr>
        <p:spPr bwMode="auto">
          <a:xfrm>
            <a:off x="4419600" y="4114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6192" name="Text Box 69"/>
          <p:cNvSpPr txBox="1">
            <a:spLocks noChangeArrowheads="1"/>
          </p:cNvSpPr>
          <p:nvPr/>
        </p:nvSpPr>
        <p:spPr bwMode="auto">
          <a:xfrm>
            <a:off x="5791200" y="2209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6193" name="Text Box 70"/>
          <p:cNvSpPr txBox="1">
            <a:spLocks noChangeArrowheads="1"/>
          </p:cNvSpPr>
          <p:nvPr/>
        </p:nvSpPr>
        <p:spPr bwMode="auto">
          <a:xfrm>
            <a:off x="6553200" y="2209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6194" name="Text Box 71"/>
          <p:cNvSpPr txBox="1">
            <a:spLocks noChangeArrowheads="1"/>
          </p:cNvSpPr>
          <p:nvPr/>
        </p:nvSpPr>
        <p:spPr bwMode="auto">
          <a:xfrm>
            <a:off x="5791200" y="2743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6195" name="Text Box 72"/>
          <p:cNvSpPr txBox="1">
            <a:spLocks noChangeArrowheads="1"/>
          </p:cNvSpPr>
          <p:nvPr/>
        </p:nvSpPr>
        <p:spPr bwMode="auto">
          <a:xfrm>
            <a:off x="6629400" y="2743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6196" name="Text Box 73"/>
          <p:cNvSpPr txBox="1">
            <a:spLocks noChangeArrowheads="1"/>
          </p:cNvSpPr>
          <p:nvPr/>
        </p:nvSpPr>
        <p:spPr bwMode="auto">
          <a:xfrm>
            <a:off x="7391400" y="27432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6197" name="Text Box 74"/>
          <p:cNvSpPr txBox="1">
            <a:spLocks noChangeArrowheads="1"/>
          </p:cNvSpPr>
          <p:nvPr/>
        </p:nvSpPr>
        <p:spPr bwMode="auto">
          <a:xfrm>
            <a:off x="5867400" y="3200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a</a:t>
            </a:r>
          </a:p>
        </p:txBody>
      </p:sp>
      <p:sp>
        <p:nvSpPr>
          <p:cNvPr id="6198" name="Text Box 75"/>
          <p:cNvSpPr txBox="1">
            <a:spLocks noChangeArrowheads="1"/>
          </p:cNvSpPr>
          <p:nvPr/>
        </p:nvSpPr>
        <p:spPr bwMode="auto">
          <a:xfrm>
            <a:off x="6553200" y="32004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6199" name="Text Box 76"/>
          <p:cNvSpPr txBox="1">
            <a:spLocks noChangeArrowheads="1"/>
          </p:cNvSpPr>
          <p:nvPr/>
        </p:nvSpPr>
        <p:spPr bwMode="auto">
          <a:xfrm>
            <a:off x="586740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6200" name="Text Box 77"/>
          <p:cNvSpPr txBox="1">
            <a:spLocks noChangeArrowheads="1"/>
          </p:cNvSpPr>
          <p:nvPr/>
        </p:nvSpPr>
        <p:spPr bwMode="auto">
          <a:xfrm>
            <a:off x="655320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c</a:t>
            </a:r>
          </a:p>
        </p:txBody>
      </p:sp>
      <p:sp>
        <p:nvSpPr>
          <p:cNvPr id="6201" name="Text Box 78"/>
          <p:cNvSpPr txBox="1">
            <a:spLocks noChangeArrowheads="1"/>
          </p:cNvSpPr>
          <p:nvPr/>
        </p:nvSpPr>
        <p:spPr bwMode="auto">
          <a:xfrm>
            <a:off x="7315200" y="36576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e</a:t>
            </a:r>
          </a:p>
        </p:txBody>
      </p:sp>
      <p:sp>
        <p:nvSpPr>
          <p:cNvPr id="6202" name="Text Box 79"/>
          <p:cNvSpPr txBox="1">
            <a:spLocks noChangeArrowheads="1"/>
          </p:cNvSpPr>
          <p:nvPr/>
        </p:nvSpPr>
        <p:spPr bwMode="auto">
          <a:xfrm>
            <a:off x="5867400" y="4114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b</a:t>
            </a:r>
          </a:p>
        </p:txBody>
      </p:sp>
      <p:sp>
        <p:nvSpPr>
          <p:cNvPr id="6203" name="Text Box 80"/>
          <p:cNvSpPr txBox="1">
            <a:spLocks noChangeArrowheads="1"/>
          </p:cNvSpPr>
          <p:nvPr/>
        </p:nvSpPr>
        <p:spPr bwMode="auto">
          <a:xfrm>
            <a:off x="6629400" y="4114800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37931725" indent="-37474525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sz="2400">
                <a:latin typeface="Franklin Gothic Book" pitchFamily="34" charset="0"/>
                <a:ea typeface="MS PGothic" panose="020B0600070205080204" pitchFamily="34" charset="-128"/>
              </a:rPr>
              <a:t>d</a:t>
            </a:r>
          </a:p>
        </p:txBody>
      </p:sp>
      <p:sp>
        <p:nvSpPr>
          <p:cNvPr id="466001" name="Text Box 81"/>
          <p:cNvSpPr txBox="1">
            <a:spLocks noChangeArrowheads="1"/>
          </p:cNvSpPr>
          <p:nvPr/>
        </p:nvSpPr>
        <p:spPr bwMode="auto">
          <a:xfrm>
            <a:off x="914400" y="4956175"/>
            <a:ext cx="489108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1pPr>
            <a:lvl2pPr marL="37931725" indent="-37474525"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2pPr>
            <a:lvl3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3pPr>
            <a:lvl4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4pPr>
            <a:lvl5pPr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r>
              <a:rPr lang="en-US" altLang="en-US" sz="2800" i="0" dirty="0">
                <a:latin typeface="+mn-lt"/>
              </a:rPr>
              <a:t>Space-efficient for sparse graphs</a:t>
            </a:r>
          </a:p>
        </p:txBody>
      </p:sp>
    </p:spTree>
    <p:extLst>
      <p:ext uri="{BB962C8B-B14F-4D97-AF65-F5344CB8AC3E}">
        <p14:creationId xmlns:p14="http://schemas.microsoft.com/office/powerpoint/2010/main" val="39671754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altLang="en-US" dirty="0"/>
              <a:t>Adjacency List Representation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30000"/>
              </a:lnSpc>
              <a:defRPr/>
            </a:pPr>
            <a:r>
              <a:rPr lang="en-US" sz="2400" dirty="0"/>
              <a:t>Memory required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sz="2000" dirty="0">
                <a:sym typeface="Symbol" pitchFamily="18" charset="2"/>
              </a:rPr>
              <a:t>O(V + E)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sz="2400" dirty="0"/>
              <a:t>Preferred when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sz="2000" dirty="0"/>
              <a:t>for</a:t>
            </a:r>
            <a:r>
              <a:rPr lang="en-US" sz="2000" b="1" dirty="0"/>
              <a:t> sparse </a:t>
            </a:r>
            <a:r>
              <a:rPr lang="en-US" sz="2000" dirty="0"/>
              <a:t>graphs: </a:t>
            </a:r>
            <a:r>
              <a:rPr lang="en-US" sz="2000" dirty="0">
                <a:sym typeface="Symbol" pitchFamily="18" charset="2"/>
              </a:rPr>
              <a:t>E = O(V) </a:t>
            </a:r>
            <a:endParaRPr lang="en-US" sz="2000" dirty="0"/>
          </a:p>
          <a:p>
            <a:pPr eaLnBrk="1" hangingPunct="1">
              <a:lnSpc>
                <a:spcPct val="130000"/>
              </a:lnSpc>
              <a:defRPr/>
            </a:pPr>
            <a:r>
              <a:rPr lang="en-US" sz="2400" dirty="0"/>
              <a:t>Disadvantage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sz="2000" dirty="0"/>
              <a:t>No quick way to determine whether there is an edge between vertices u and v</a:t>
            </a:r>
          </a:p>
          <a:p>
            <a:pPr eaLnBrk="1" hangingPunct="1">
              <a:lnSpc>
                <a:spcPct val="130000"/>
              </a:lnSpc>
              <a:defRPr/>
            </a:pPr>
            <a:r>
              <a:rPr lang="en-US" sz="2400" dirty="0">
                <a:sym typeface="Symbol" pitchFamily="18" charset="2"/>
              </a:rPr>
              <a:t>Advantage</a:t>
            </a:r>
          </a:p>
          <a:p>
            <a:pPr lvl="1" eaLnBrk="1" hangingPunct="1">
              <a:lnSpc>
                <a:spcPct val="130000"/>
              </a:lnSpc>
              <a:defRPr/>
            </a:pPr>
            <a:r>
              <a:rPr lang="en-US" sz="2000" dirty="0">
                <a:sym typeface="Symbol" pitchFamily="18" charset="2"/>
              </a:rPr>
              <a:t>Can quickly determine all the vertices adjacent </a:t>
            </a:r>
            <a:r>
              <a:rPr lang="en-US" sz="2000" b="1" u="sng" dirty="0">
                <a:sym typeface="Symbol" pitchFamily="18" charset="2"/>
              </a:rPr>
              <a:t>from</a:t>
            </a:r>
            <a:r>
              <a:rPr lang="en-US" sz="2000" dirty="0">
                <a:sym typeface="Symbol" pitchFamily="18" charset="2"/>
              </a:rPr>
              <a:t> a given vertex, </a:t>
            </a:r>
            <a:r>
              <a:rPr lang="en-US" sz="2000" i="1" dirty="0">
                <a:sym typeface="Symbol" pitchFamily="18" charset="2"/>
              </a:rPr>
              <a:t>v:</a:t>
            </a:r>
            <a:r>
              <a:rPr lang="en-US" sz="2000" dirty="0">
                <a:sym typeface="Symbol" pitchFamily="18" charset="2"/>
              </a:rPr>
              <a:t> takes O(N(v)) time, where N(v) is the number of neighbors of v.</a:t>
            </a:r>
            <a:endParaRPr lang="en-US" sz="2000" dirty="0"/>
          </a:p>
        </p:txBody>
      </p:sp>
      <p:sp>
        <p:nvSpPr>
          <p:cNvPr id="123910" name="Line 6"/>
          <p:cNvSpPr>
            <a:spLocks noChangeShapeType="1"/>
          </p:cNvSpPr>
          <p:nvPr/>
        </p:nvSpPr>
        <p:spPr bwMode="auto">
          <a:xfrm flipV="1">
            <a:off x="2362200" y="1954213"/>
            <a:ext cx="1295400" cy="304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1" name="Line 7"/>
          <p:cNvSpPr>
            <a:spLocks noChangeShapeType="1"/>
          </p:cNvSpPr>
          <p:nvPr/>
        </p:nvSpPr>
        <p:spPr bwMode="auto">
          <a:xfrm>
            <a:off x="2362200" y="2259013"/>
            <a:ext cx="1219200" cy="3048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3912" name="Text Box 8"/>
          <p:cNvSpPr txBox="1">
            <a:spLocks noChangeArrowheads="1"/>
          </p:cNvSpPr>
          <p:nvPr/>
        </p:nvSpPr>
        <p:spPr bwMode="auto">
          <a:xfrm>
            <a:off x="3657600" y="1725613"/>
            <a:ext cx="39370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dirty="0">
                <a:solidFill>
                  <a:srgbClr val="FF9933"/>
                </a:solidFill>
                <a:latin typeface="Arial" panose="020B0604020202020204" pitchFamily="34" charset="0"/>
              </a:rPr>
              <a:t>O(V) for sparse graphs since E=O(V)</a:t>
            </a:r>
          </a:p>
        </p:txBody>
      </p:sp>
      <p:sp>
        <p:nvSpPr>
          <p:cNvPr id="123913" name="Text Box 9"/>
          <p:cNvSpPr txBox="1">
            <a:spLocks noChangeArrowheads="1"/>
          </p:cNvSpPr>
          <p:nvPr/>
        </p:nvSpPr>
        <p:spPr bwMode="auto">
          <a:xfrm>
            <a:off x="3657600" y="2335213"/>
            <a:ext cx="4041775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●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lr>
                <a:schemeClr val="tx2"/>
              </a:buClr>
              <a:buSzPct val="85000"/>
              <a:buFont typeface="Times New Roman" panose="02020603050405020304" pitchFamily="18" charset="0"/>
              <a:buChar char="■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lr>
                <a:schemeClr val="accent1"/>
              </a:buClr>
              <a:buSzPct val="85000"/>
              <a:buFont typeface="Times New Roman" panose="02020603050405020304" pitchFamily="18" charset="0"/>
              <a:buChar char="○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lr>
                <a:schemeClr val="accent1"/>
              </a:buClr>
              <a:buSzPct val="65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solidFill>
                  <a:srgbClr val="FF9933"/>
                </a:solidFill>
                <a:latin typeface="Arial" panose="020B0604020202020204" pitchFamily="34" charset="0"/>
              </a:rPr>
              <a:t>O(V</a:t>
            </a:r>
            <a:r>
              <a:rPr lang="en-US" altLang="en-US" sz="1800" baseline="30000">
                <a:solidFill>
                  <a:srgbClr val="FF9933"/>
                </a:solidFill>
                <a:latin typeface="Arial" panose="020B0604020202020204" pitchFamily="34" charset="0"/>
              </a:rPr>
              <a:t>2</a:t>
            </a:r>
            <a:r>
              <a:rPr lang="en-US" altLang="en-US" sz="1800">
                <a:solidFill>
                  <a:srgbClr val="FF9933"/>
                </a:solidFill>
                <a:latin typeface="Arial" panose="020B0604020202020204" pitchFamily="34" charset="0"/>
              </a:rPr>
              <a:t>) for dense graphs since E=O(V</a:t>
            </a:r>
            <a:r>
              <a:rPr lang="en-US" altLang="en-US" sz="1800" baseline="30000">
                <a:solidFill>
                  <a:srgbClr val="FF9933"/>
                </a:solidFill>
                <a:latin typeface="Arial" panose="020B0604020202020204" pitchFamily="34" charset="0"/>
              </a:rPr>
              <a:t>2</a:t>
            </a:r>
            <a:r>
              <a:rPr lang="en-US" altLang="en-US" sz="1800">
                <a:solidFill>
                  <a:srgbClr val="FF9933"/>
                </a:solidFill>
                <a:latin typeface="Arial" panose="020B0604020202020204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05967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>
                <a:sym typeface="Symbol" panose="05050102010706020507" pitchFamily="18" charset="2"/>
              </a:rPr>
              <a:t>Graph Searching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Given: a graph G = (V, E), directed or undirected</a:t>
            </a:r>
          </a:p>
          <a:p>
            <a:r>
              <a:rPr lang="en-US" altLang="en-US"/>
              <a:t>Goal: methodically explore every vertex and every edge</a:t>
            </a:r>
          </a:p>
          <a:p>
            <a:r>
              <a:rPr lang="en-US" altLang="en-US"/>
              <a:t>Ultimately: build a tree on the graph</a:t>
            </a:r>
          </a:p>
          <a:p>
            <a:pPr lvl="1"/>
            <a:r>
              <a:rPr lang="en-US" altLang="en-US"/>
              <a:t>Pick a vertex as the root</a:t>
            </a:r>
          </a:p>
          <a:p>
            <a:pPr lvl="1"/>
            <a:r>
              <a:rPr lang="en-US" altLang="en-US"/>
              <a:t>Choose certain edges to produce a tree</a:t>
            </a:r>
          </a:p>
          <a:p>
            <a:pPr lvl="1"/>
            <a:r>
              <a:rPr lang="en-US" altLang="en-US"/>
              <a:t>Note: might also build a </a:t>
            </a:r>
            <a:r>
              <a:rPr lang="en-US" altLang="en-US" i="1">
                <a:solidFill>
                  <a:schemeClr val="tx2"/>
                </a:solidFill>
              </a:rPr>
              <a:t>forest</a:t>
            </a:r>
            <a:r>
              <a:rPr lang="en-US" altLang="en-US"/>
              <a:t> if graph is not connected</a:t>
            </a:r>
          </a:p>
        </p:txBody>
      </p:sp>
    </p:spTree>
    <p:extLst>
      <p:ext uri="{BB962C8B-B14F-4D97-AF65-F5344CB8AC3E}">
        <p14:creationId xmlns:p14="http://schemas.microsoft.com/office/powerpoint/2010/main" val="4601497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Graph Traversals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latin typeface="Franklin Gothic Book" pitchFamily="34" charset="0"/>
              </a:rPr>
              <a:t>Ways to traverse/search a graph</a:t>
            </a:r>
          </a:p>
          <a:p>
            <a:pPr lvl="1"/>
            <a:r>
              <a:rPr lang="en-US" altLang="en-US" dirty="0">
                <a:latin typeface="Franklin Gothic Book" pitchFamily="34" charset="0"/>
              </a:rPr>
              <a:t>Visit every vertex exactly once</a:t>
            </a:r>
          </a:p>
          <a:p>
            <a:endParaRPr lang="en-US" altLang="en-US" dirty="0">
              <a:latin typeface="Franklin Gothic Book" pitchFamily="34" charset="0"/>
            </a:endParaRPr>
          </a:p>
          <a:p>
            <a:r>
              <a:rPr lang="en-US" altLang="en-US" dirty="0">
                <a:latin typeface="Franklin Gothic Book" pitchFamily="34" charset="0"/>
              </a:rPr>
              <a:t>Breadth-First Search</a:t>
            </a:r>
          </a:p>
          <a:p>
            <a:r>
              <a:rPr lang="en-US" altLang="en-US" dirty="0">
                <a:latin typeface="Franklin Gothic Book" pitchFamily="34" charset="0"/>
              </a:rPr>
              <a:t>Depth-First Search</a:t>
            </a:r>
          </a:p>
        </p:txBody>
      </p:sp>
    </p:spTree>
    <p:extLst>
      <p:ext uri="{BB962C8B-B14F-4D97-AF65-F5344CB8AC3E}">
        <p14:creationId xmlns:p14="http://schemas.microsoft.com/office/powerpoint/2010/main" val="4090952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“Explore” a graph, turning it into a tree</a:t>
            </a:r>
          </a:p>
          <a:p>
            <a:pPr lvl="1"/>
            <a:r>
              <a:rPr lang="en-US" altLang="en-US" dirty="0"/>
              <a:t>One vertex at a time</a:t>
            </a:r>
          </a:p>
          <a:p>
            <a:pPr lvl="1"/>
            <a:r>
              <a:rPr lang="en-US" altLang="en-US" dirty="0"/>
              <a:t>Expand frontier of explored vertices across the </a:t>
            </a:r>
            <a:r>
              <a:rPr lang="en-US" altLang="en-US" i="1" dirty="0">
                <a:solidFill>
                  <a:schemeClr val="tx2"/>
                </a:solidFill>
              </a:rPr>
              <a:t>breadth</a:t>
            </a:r>
            <a:r>
              <a:rPr lang="en-US" altLang="en-US" dirty="0"/>
              <a:t> of the frontier</a:t>
            </a:r>
          </a:p>
          <a:p>
            <a:r>
              <a:rPr lang="en-US" altLang="en-US" dirty="0"/>
              <a:t>Builds a tree over the graph</a:t>
            </a:r>
          </a:p>
          <a:p>
            <a:pPr lvl="1"/>
            <a:r>
              <a:rPr lang="en-US" altLang="en-US" dirty="0"/>
              <a:t>Pick a </a:t>
            </a:r>
            <a:r>
              <a:rPr lang="en-US" altLang="en-US" i="1" dirty="0">
                <a:solidFill>
                  <a:schemeClr val="tx2"/>
                </a:solidFill>
              </a:rPr>
              <a:t>source vertex</a:t>
            </a:r>
            <a:r>
              <a:rPr lang="en-US" altLang="en-US" dirty="0"/>
              <a:t> to be the root</a:t>
            </a:r>
          </a:p>
          <a:p>
            <a:pPr lvl="1"/>
            <a:r>
              <a:rPr lang="en-US" altLang="en-US" dirty="0"/>
              <a:t>Find (“discover”) all of its children, then their children, etc.</a:t>
            </a:r>
          </a:p>
        </p:txBody>
      </p:sp>
    </p:spTree>
    <p:extLst>
      <p:ext uri="{BB962C8B-B14F-4D97-AF65-F5344CB8AC3E}">
        <p14:creationId xmlns:p14="http://schemas.microsoft.com/office/powerpoint/2010/main" val="22669625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Associate vertex “colors” to guide the algorithm</a:t>
            </a:r>
          </a:p>
          <a:p>
            <a:pPr lvl="1"/>
            <a:r>
              <a:rPr lang="en-US" altLang="en-US" dirty="0"/>
              <a:t>White vertices have not been discovered</a:t>
            </a:r>
          </a:p>
          <a:p>
            <a:pPr lvl="2"/>
            <a:r>
              <a:rPr lang="en-US" altLang="en-US" dirty="0"/>
              <a:t>All vertices start out white</a:t>
            </a:r>
          </a:p>
          <a:p>
            <a:pPr lvl="1"/>
            <a:r>
              <a:rPr lang="en-US" altLang="en-US" dirty="0"/>
              <a:t>Grey vertices are discovered but not fully explored</a:t>
            </a:r>
          </a:p>
          <a:p>
            <a:pPr lvl="2"/>
            <a:r>
              <a:rPr lang="en-US" altLang="en-US" dirty="0"/>
              <a:t>They may be adjacent to white vertices</a:t>
            </a:r>
          </a:p>
          <a:p>
            <a:pPr lvl="1"/>
            <a:r>
              <a:rPr lang="en-US" altLang="en-US" dirty="0"/>
              <a:t>Black vertices are discovered and fully explored</a:t>
            </a:r>
          </a:p>
          <a:p>
            <a:pPr lvl="2"/>
            <a:r>
              <a:rPr lang="en-US" altLang="en-US" dirty="0"/>
              <a:t>They are adjacent only to black and gray vertices</a:t>
            </a:r>
          </a:p>
          <a:p>
            <a:r>
              <a:rPr lang="en-US" altLang="en-US" dirty="0"/>
              <a:t>Explore vertices by scanning adjacency list of grey vertices</a:t>
            </a:r>
          </a:p>
        </p:txBody>
      </p:sp>
    </p:spTree>
    <p:extLst>
      <p:ext uri="{BB962C8B-B14F-4D97-AF65-F5344CB8AC3E}">
        <p14:creationId xmlns:p14="http://schemas.microsoft.com/office/powerpoint/2010/main" val="27554130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BFS Trees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Franklin Gothic Book" pitchFamily="34" charset="0"/>
              </a:rPr>
              <a:t>BFS tree is not necessarily unique for a given graph</a:t>
            </a:r>
          </a:p>
          <a:p>
            <a:r>
              <a:rPr lang="en-US" altLang="en-US">
                <a:latin typeface="Franklin Gothic Book" pitchFamily="34" charset="0"/>
              </a:rPr>
              <a:t>Depends on the order in which neighboring vertices are processed</a:t>
            </a:r>
          </a:p>
          <a:p>
            <a:r>
              <a:rPr lang="en-US" altLang="en-US">
                <a:latin typeface="Franklin Gothic Book" pitchFamily="34" charset="0"/>
              </a:rPr>
              <a:t>During the breadth-first search, assign an integer to each vertex</a:t>
            </a:r>
          </a:p>
          <a:p>
            <a:r>
              <a:rPr lang="en-US" altLang="en-US">
                <a:latin typeface="Franklin Gothic Book" pitchFamily="34" charset="0"/>
              </a:rPr>
              <a:t>Indicate the distance of each vertex from the source s</a:t>
            </a:r>
          </a:p>
          <a:p>
            <a:endParaRPr lang="en-US" altLang="en-US">
              <a:latin typeface="Franklin Gothic Boo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57589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Font typeface="Times New Roman" panose="02020603050405020304" pitchFamily="18" charset="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BFS(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1.         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each vertex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− {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            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2.                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u.color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WHITE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3.                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∞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4.                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NIL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5.        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s.color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GRAY                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6.        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s.d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                              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7.        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s.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NIL                          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8.        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Ø                             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         ENQUEUE(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10        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≠ Ø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11.                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= DEQUEUE(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                    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12.                 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each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l-G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G.Adj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                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13.                       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v.color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WHITE        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14.                             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v.color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GRAY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15.                              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+ 1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16.                              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r>
              <a:rPr lang="el-GR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17.                              ENQUEUE(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18.                 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u.color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BLACK</a:t>
            </a:r>
          </a:p>
        </p:txBody>
      </p:sp>
    </p:spTree>
    <p:extLst>
      <p:ext uri="{BB962C8B-B14F-4D97-AF65-F5344CB8AC3E}">
        <p14:creationId xmlns:p14="http://schemas.microsoft.com/office/powerpoint/2010/main" val="775462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339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 dirty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 sz="4000" i="0" dirty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340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1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2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3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4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5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6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4347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4348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4349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4350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4351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4352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4353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4354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4355" name="AutoShape 19"/>
          <p:cNvCxnSpPr>
            <a:cxnSpLocks noChangeShapeType="1"/>
            <a:stCxn id="14340" idx="0"/>
            <a:endCxn id="14339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6" name="AutoShape 20"/>
          <p:cNvCxnSpPr>
            <a:cxnSpLocks noChangeShapeType="1"/>
            <a:stCxn id="14339" idx="6"/>
            <a:endCxn id="14341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7" name="AutoShape 21"/>
          <p:cNvCxnSpPr>
            <a:cxnSpLocks noChangeShapeType="1"/>
            <a:stCxn id="14341" idx="4"/>
            <a:endCxn id="14342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8" name="AutoShape 22"/>
          <p:cNvCxnSpPr>
            <a:cxnSpLocks noChangeShapeType="1"/>
            <a:stCxn id="14342" idx="7"/>
            <a:endCxn id="14343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59" name="AutoShape 23"/>
          <p:cNvCxnSpPr>
            <a:cxnSpLocks noChangeShapeType="1"/>
            <a:stCxn id="14342" idx="6"/>
            <a:endCxn id="14344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60" name="AutoShape 24"/>
          <p:cNvCxnSpPr>
            <a:cxnSpLocks noChangeShapeType="1"/>
            <a:stCxn id="14344" idx="0"/>
            <a:endCxn id="14343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61" name="AutoShape 25"/>
          <p:cNvCxnSpPr>
            <a:cxnSpLocks noChangeShapeType="1"/>
            <a:stCxn id="14343" idx="6"/>
            <a:endCxn id="14345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62" name="AutoShape 26"/>
          <p:cNvCxnSpPr>
            <a:cxnSpLocks noChangeShapeType="1"/>
            <a:stCxn id="14344" idx="6"/>
            <a:endCxn id="14346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4363" name="AutoShape 27"/>
          <p:cNvCxnSpPr>
            <a:cxnSpLocks noChangeShapeType="1"/>
            <a:stCxn id="14346" idx="0"/>
            <a:endCxn id="14345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187997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363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5364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65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5366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67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68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69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70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5371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5372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5373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5374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5375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5376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5377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5378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5379" name="AutoShape 19"/>
          <p:cNvCxnSpPr>
            <a:cxnSpLocks noChangeShapeType="1"/>
            <a:stCxn id="15364" idx="0"/>
            <a:endCxn id="15363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0" name="AutoShape 20"/>
          <p:cNvCxnSpPr>
            <a:cxnSpLocks noChangeShapeType="1"/>
            <a:stCxn id="15363" idx="6"/>
            <a:endCxn id="15365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1" name="AutoShape 21"/>
          <p:cNvCxnSpPr>
            <a:cxnSpLocks noChangeShapeType="1"/>
            <a:stCxn id="15365" idx="4"/>
            <a:endCxn id="15366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2" name="AutoShape 22"/>
          <p:cNvCxnSpPr>
            <a:cxnSpLocks noChangeShapeType="1"/>
            <a:stCxn id="15366" idx="7"/>
            <a:endCxn id="15367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3" name="AutoShape 23"/>
          <p:cNvCxnSpPr>
            <a:cxnSpLocks noChangeShapeType="1"/>
            <a:stCxn id="15366" idx="6"/>
            <a:endCxn id="15368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4" name="AutoShape 24"/>
          <p:cNvCxnSpPr>
            <a:cxnSpLocks noChangeShapeType="1"/>
            <a:stCxn id="15368" idx="0"/>
            <a:endCxn id="15367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5" name="AutoShape 25"/>
          <p:cNvCxnSpPr>
            <a:cxnSpLocks noChangeShapeType="1"/>
            <a:stCxn id="15367" idx="6"/>
            <a:endCxn id="15369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6" name="AutoShape 26"/>
          <p:cNvCxnSpPr>
            <a:cxnSpLocks noChangeShapeType="1"/>
            <a:stCxn id="15368" idx="6"/>
            <a:endCxn id="15370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387" name="AutoShape 27"/>
          <p:cNvCxnSpPr>
            <a:cxnSpLocks noChangeShapeType="1"/>
            <a:stCxn id="15370" idx="0"/>
            <a:endCxn id="15369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388" name="Rectangle 28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5389" name="Rectangle 29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</p:spTree>
    <p:extLst>
      <p:ext uri="{BB962C8B-B14F-4D97-AF65-F5344CB8AC3E}">
        <p14:creationId xmlns:p14="http://schemas.microsoft.com/office/powerpoint/2010/main" val="2672966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387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8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89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6390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6391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92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93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94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6395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6396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6397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6398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6399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6400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6401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6402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6403" name="AutoShape 19"/>
          <p:cNvCxnSpPr>
            <a:cxnSpLocks noChangeShapeType="1"/>
            <a:stCxn id="16388" idx="0"/>
            <a:endCxn id="16387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4" name="AutoShape 20"/>
          <p:cNvCxnSpPr>
            <a:cxnSpLocks noChangeShapeType="1"/>
            <a:stCxn id="16387" idx="6"/>
            <a:endCxn id="16389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5" name="AutoShape 21"/>
          <p:cNvCxnSpPr>
            <a:cxnSpLocks noChangeShapeType="1"/>
            <a:stCxn id="16389" idx="4"/>
            <a:endCxn id="16390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6" name="AutoShape 22"/>
          <p:cNvCxnSpPr>
            <a:cxnSpLocks noChangeShapeType="1"/>
            <a:stCxn id="16390" idx="7"/>
            <a:endCxn id="16391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7" name="AutoShape 23"/>
          <p:cNvCxnSpPr>
            <a:cxnSpLocks noChangeShapeType="1"/>
            <a:stCxn id="16390" idx="6"/>
            <a:endCxn id="16392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8" name="AutoShape 24"/>
          <p:cNvCxnSpPr>
            <a:cxnSpLocks noChangeShapeType="1"/>
            <a:stCxn id="16392" idx="0"/>
            <a:endCxn id="16391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09" name="AutoShape 25"/>
          <p:cNvCxnSpPr>
            <a:cxnSpLocks noChangeShapeType="1"/>
            <a:stCxn id="16391" idx="6"/>
            <a:endCxn id="16393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10" name="AutoShape 26"/>
          <p:cNvCxnSpPr>
            <a:cxnSpLocks noChangeShapeType="1"/>
            <a:stCxn id="16392" idx="6"/>
            <a:endCxn id="16394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411" name="AutoShape 27"/>
          <p:cNvCxnSpPr>
            <a:cxnSpLocks noChangeShapeType="1"/>
            <a:stCxn id="16394" idx="0"/>
            <a:endCxn id="16393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6412" name="Rectangle 28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6413" name="Rectangle 29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16414" name="Rectangle 30"/>
          <p:cNvSpPr>
            <a:spLocks noChangeArrowheads="1"/>
          </p:cNvSpPr>
          <p:nvPr/>
        </p:nvSpPr>
        <p:spPr bwMode="auto">
          <a:xfrm>
            <a:off x="3200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r</a:t>
            </a:r>
          </a:p>
        </p:txBody>
      </p:sp>
    </p:spTree>
    <p:extLst>
      <p:ext uri="{BB962C8B-B14F-4D97-AF65-F5344CB8AC3E}">
        <p14:creationId xmlns:p14="http://schemas.microsoft.com/office/powerpoint/2010/main" val="3403793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411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7412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7413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7414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7415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7416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7417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7418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7419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7420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7421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7422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7423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7424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7425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7426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7427" name="AutoShape 19"/>
          <p:cNvCxnSpPr>
            <a:cxnSpLocks noChangeShapeType="1"/>
            <a:stCxn id="17412" idx="0"/>
            <a:endCxn id="17411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28" name="AutoShape 20"/>
          <p:cNvCxnSpPr>
            <a:cxnSpLocks noChangeShapeType="1"/>
            <a:stCxn id="17411" idx="6"/>
            <a:endCxn id="17413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29" name="AutoShape 21"/>
          <p:cNvCxnSpPr>
            <a:cxnSpLocks noChangeShapeType="1"/>
            <a:stCxn id="17413" idx="4"/>
            <a:endCxn id="17414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30" name="AutoShape 22"/>
          <p:cNvCxnSpPr>
            <a:cxnSpLocks noChangeShapeType="1"/>
            <a:stCxn id="17414" idx="7"/>
            <a:endCxn id="17415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31" name="AutoShape 23"/>
          <p:cNvCxnSpPr>
            <a:cxnSpLocks noChangeShapeType="1"/>
            <a:stCxn id="17414" idx="6"/>
            <a:endCxn id="17416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32" name="AutoShape 24"/>
          <p:cNvCxnSpPr>
            <a:cxnSpLocks noChangeShapeType="1"/>
            <a:stCxn id="17416" idx="0"/>
            <a:endCxn id="17415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33" name="AutoShape 25"/>
          <p:cNvCxnSpPr>
            <a:cxnSpLocks noChangeShapeType="1"/>
            <a:stCxn id="17415" idx="6"/>
            <a:endCxn id="17417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34" name="AutoShape 26"/>
          <p:cNvCxnSpPr>
            <a:cxnSpLocks noChangeShapeType="1"/>
            <a:stCxn id="17416" idx="6"/>
            <a:endCxn id="17418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7435" name="AutoShape 27"/>
          <p:cNvCxnSpPr>
            <a:cxnSpLocks noChangeShapeType="1"/>
            <a:stCxn id="17418" idx="0"/>
            <a:endCxn id="17417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436" name="Rectangle 28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7437" name="Rectangle 29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17438" name="Rectangle 30"/>
          <p:cNvSpPr>
            <a:spLocks noChangeArrowheads="1"/>
          </p:cNvSpPr>
          <p:nvPr/>
        </p:nvSpPr>
        <p:spPr bwMode="auto">
          <a:xfrm>
            <a:off x="3200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7439" name="Rectangle 31"/>
          <p:cNvSpPr>
            <a:spLocks noChangeArrowheads="1"/>
          </p:cNvSpPr>
          <p:nvPr/>
        </p:nvSpPr>
        <p:spPr bwMode="auto">
          <a:xfrm>
            <a:off x="3886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95405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435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6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8437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8438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8439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8440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8441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42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8443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8444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8445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8446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8447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8448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8449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50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8451" name="AutoShape 19"/>
          <p:cNvCxnSpPr>
            <a:cxnSpLocks noChangeShapeType="1"/>
            <a:stCxn id="18436" idx="0"/>
            <a:endCxn id="18435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2" name="AutoShape 20"/>
          <p:cNvCxnSpPr>
            <a:cxnSpLocks noChangeShapeType="1"/>
            <a:stCxn id="18435" idx="6"/>
            <a:endCxn id="18437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3" name="AutoShape 21"/>
          <p:cNvCxnSpPr>
            <a:cxnSpLocks noChangeShapeType="1"/>
            <a:stCxn id="18437" idx="4"/>
            <a:endCxn id="18438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4" name="AutoShape 22"/>
          <p:cNvCxnSpPr>
            <a:cxnSpLocks noChangeShapeType="1"/>
            <a:stCxn id="18438" idx="7"/>
            <a:endCxn id="18439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5" name="AutoShape 23"/>
          <p:cNvCxnSpPr>
            <a:cxnSpLocks noChangeShapeType="1"/>
            <a:stCxn id="18438" idx="6"/>
            <a:endCxn id="18440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6" name="AutoShape 24"/>
          <p:cNvCxnSpPr>
            <a:cxnSpLocks noChangeShapeType="1"/>
            <a:stCxn id="18440" idx="0"/>
            <a:endCxn id="18439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7" name="AutoShape 25"/>
          <p:cNvCxnSpPr>
            <a:cxnSpLocks noChangeShapeType="1"/>
            <a:stCxn id="18439" idx="6"/>
            <a:endCxn id="18441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8" name="AutoShape 26"/>
          <p:cNvCxnSpPr>
            <a:cxnSpLocks noChangeShapeType="1"/>
            <a:stCxn id="18440" idx="6"/>
            <a:endCxn id="18442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8459" name="AutoShape 27"/>
          <p:cNvCxnSpPr>
            <a:cxnSpLocks noChangeShapeType="1"/>
            <a:stCxn id="18442" idx="0"/>
            <a:endCxn id="18441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8460" name="Rectangle 28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18461" name="Rectangle 29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8462" name="Rectangle 30"/>
          <p:cNvSpPr>
            <a:spLocks noChangeArrowheads="1"/>
          </p:cNvSpPr>
          <p:nvPr/>
        </p:nvSpPr>
        <p:spPr bwMode="auto">
          <a:xfrm>
            <a:off x="3200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8463" name="Rectangle 31"/>
          <p:cNvSpPr>
            <a:spLocks noChangeArrowheads="1"/>
          </p:cNvSpPr>
          <p:nvPr/>
        </p:nvSpPr>
        <p:spPr bwMode="auto">
          <a:xfrm>
            <a:off x="3886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v</a:t>
            </a:r>
          </a:p>
        </p:txBody>
      </p:sp>
    </p:spTree>
    <p:extLst>
      <p:ext uri="{BB962C8B-B14F-4D97-AF65-F5344CB8AC3E}">
        <p14:creationId xmlns:p14="http://schemas.microsoft.com/office/powerpoint/2010/main" val="19089777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459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9460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9461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19462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19463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9464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19465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19466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</a:t>
            </a:r>
          </a:p>
        </p:txBody>
      </p:sp>
      <p:sp>
        <p:nvSpPr>
          <p:cNvPr id="19467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19468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19469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9470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19471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9472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19473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9474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19475" name="AutoShape 19"/>
          <p:cNvCxnSpPr>
            <a:cxnSpLocks noChangeShapeType="1"/>
            <a:stCxn id="19460" idx="0"/>
            <a:endCxn id="19459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6" name="AutoShape 20"/>
          <p:cNvCxnSpPr>
            <a:cxnSpLocks noChangeShapeType="1"/>
            <a:stCxn id="19459" idx="6"/>
            <a:endCxn id="19461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7" name="AutoShape 21"/>
          <p:cNvCxnSpPr>
            <a:cxnSpLocks noChangeShapeType="1"/>
            <a:stCxn id="19461" idx="4"/>
            <a:endCxn id="19462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8" name="AutoShape 22"/>
          <p:cNvCxnSpPr>
            <a:cxnSpLocks noChangeShapeType="1"/>
            <a:stCxn id="19462" idx="7"/>
            <a:endCxn id="19463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79" name="AutoShape 23"/>
          <p:cNvCxnSpPr>
            <a:cxnSpLocks noChangeShapeType="1"/>
            <a:stCxn id="19462" idx="6"/>
            <a:endCxn id="19464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80" name="AutoShape 24"/>
          <p:cNvCxnSpPr>
            <a:cxnSpLocks noChangeShapeType="1"/>
            <a:stCxn id="19464" idx="0"/>
            <a:endCxn id="19463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81" name="AutoShape 25"/>
          <p:cNvCxnSpPr>
            <a:cxnSpLocks noChangeShapeType="1"/>
            <a:stCxn id="19463" idx="6"/>
            <a:endCxn id="19465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82" name="AutoShape 26"/>
          <p:cNvCxnSpPr>
            <a:cxnSpLocks noChangeShapeType="1"/>
            <a:stCxn id="19464" idx="6"/>
            <a:endCxn id="19466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9483" name="AutoShape 27"/>
          <p:cNvCxnSpPr>
            <a:cxnSpLocks noChangeShapeType="1"/>
            <a:stCxn id="19466" idx="0"/>
            <a:endCxn id="19465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9484" name="Rectangle 28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19485" name="Rectangle 29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19486" name="Rectangle 30"/>
          <p:cNvSpPr>
            <a:spLocks noChangeArrowheads="1"/>
          </p:cNvSpPr>
          <p:nvPr/>
        </p:nvSpPr>
        <p:spPr bwMode="auto">
          <a:xfrm>
            <a:off x="3200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19487" name="Rectangle 31"/>
          <p:cNvSpPr>
            <a:spLocks noChangeArrowheads="1"/>
          </p:cNvSpPr>
          <p:nvPr/>
        </p:nvSpPr>
        <p:spPr bwMode="auto">
          <a:xfrm>
            <a:off x="3886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u</a:t>
            </a:r>
          </a:p>
        </p:txBody>
      </p:sp>
    </p:spTree>
    <p:extLst>
      <p:ext uri="{BB962C8B-B14F-4D97-AF65-F5344CB8AC3E}">
        <p14:creationId xmlns:p14="http://schemas.microsoft.com/office/powerpoint/2010/main" val="40456781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0483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0484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0485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0486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0487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0488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0489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0490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0491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0492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0493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0494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0495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0496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0497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0498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0499" name="AutoShape 19"/>
          <p:cNvCxnSpPr>
            <a:cxnSpLocks noChangeShapeType="1"/>
            <a:stCxn id="20484" idx="0"/>
            <a:endCxn id="20483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0" name="AutoShape 20"/>
          <p:cNvCxnSpPr>
            <a:cxnSpLocks noChangeShapeType="1"/>
            <a:stCxn id="20483" idx="6"/>
            <a:endCxn id="20485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1" name="AutoShape 21"/>
          <p:cNvCxnSpPr>
            <a:cxnSpLocks noChangeShapeType="1"/>
            <a:stCxn id="20485" idx="4"/>
            <a:endCxn id="20486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2" name="AutoShape 22"/>
          <p:cNvCxnSpPr>
            <a:cxnSpLocks noChangeShapeType="1"/>
            <a:stCxn id="20486" idx="7"/>
            <a:endCxn id="20487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3" name="AutoShape 23"/>
          <p:cNvCxnSpPr>
            <a:cxnSpLocks noChangeShapeType="1"/>
            <a:stCxn id="20486" idx="6"/>
            <a:endCxn id="20488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4" name="AutoShape 24"/>
          <p:cNvCxnSpPr>
            <a:cxnSpLocks noChangeShapeType="1"/>
            <a:stCxn id="20488" idx="0"/>
            <a:endCxn id="20487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5" name="AutoShape 25"/>
          <p:cNvCxnSpPr>
            <a:cxnSpLocks noChangeShapeType="1"/>
            <a:stCxn id="20487" idx="6"/>
            <a:endCxn id="20489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6" name="AutoShape 26"/>
          <p:cNvCxnSpPr>
            <a:cxnSpLocks noChangeShapeType="1"/>
            <a:stCxn id="20488" idx="6"/>
            <a:endCxn id="20490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0507" name="AutoShape 27"/>
          <p:cNvCxnSpPr>
            <a:cxnSpLocks noChangeShapeType="1"/>
            <a:stCxn id="20490" idx="0"/>
            <a:endCxn id="20489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0508" name="Rectangle 28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0509" name="Rectangle 29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0510" name="Rectangle 30"/>
          <p:cNvSpPr>
            <a:spLocks noChangeArrowheads="1"/>
          </p:cNvSpPr>
          <p:nvPr/>
        </p:nvSpPr>
        <p:spPr bwMode="auto">
          <a:xfrm>
            <a:off x="3200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0511" name="Rectangle 31"/>
          <p:cNvSpPr>
            <a:spLocks noChangeArrowheads="1"/>
          </p:cNvSpPr>
          <p:nvPr/>
        </p:nvSpPr>
        <p:spPr bwMode="auto">
          <a:xfrm>
            <a:off x="38862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8331245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1507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1508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1509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1510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1511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1512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1513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1514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1515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1516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1517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18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1519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1520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1521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1522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1523" name="AutoShape 19"/>
          <p:cNvCxnSpPr>
            <a:cxnSpLocks noChangeShapeType="1"/>
            <a:stCxn id="21508" idx="0"/>
            <a:endCxn id="21507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4" name="AutoShape 20"/>
          <p:cNvCxnSpPr>
            <a:cxnSpLocks noChangeShapeType="1"/>
            <a:stCxn id="21507" idx="6"/>
            <a:endCxn id="21509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5" name="AutoShape 21"/>
          <p:cNvCxnSpPr>
            <a:cxnSpLocks noChangeShapeType="1"/>
            <a:stCxn id="21509" idx="4"/>
            <a:endCxn id="21510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6" name="AutoShape 22"/>
          <p:cNvCxnSpPr>
            <a:cxnSpLocks noChangeShapeType="1"/>
            <a:stCxn id="21510" idx="7"/>
            <a:endCxn id="21511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7" name="AutoShape 23"/>
          <p:cNvCxnSpPr>
            <a:cxnSpLocks noChangeShapeType="1"/>
            <a:stCxn id="21510" idx="6"/>
            <a:endCxn id="21512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8" name="AutoShape 24"/>
          <p:cNvCxnSpPr>
            <a:cxnSpLocks noChangeShapeType="1"/>
            <a:stCxn id="21512" idx="0"/>
            <a:endCxn id="21511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29" name="AutoShape 25"/>
          <p:cNvCxnSpPr>
            <a:cxnSpLocks noChangeShapeType="1"/>
            <a:stCxn id="21511" idx="6"/>
            <a:endCxn id="21513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30" name="AutoShape 26"/>
          <p:cNvCxnSpPr>
            <a:cxnSpLocks noChangeShapeType="1"/>
            <a:stCxn id="21512" idx="6"/>
            <a:endCxn id="21514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1531" name="AutoShape 27"/>
          <p:cNvCxnSpPr>
            <a:cxnSpLocks noChangeShapeType="1"/>
            <a:stCxn id="21514" idx="0"/>
            <a:endCxn id="21513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1532" name="Rectangle 28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1533" name="Rectangle 29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1534" name="Rectangle 30"/>
          <p:cNvSpPr>
            <a:spLocks noChangeArrowheads="1"/>
          </p:cNvSpPr>
          <p:nvPr/>
        </p:nvSpPr>
        <p:spPr bwMode="auto">
          <a:xfrm>
            <a:off x="32004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25679868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531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2532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2533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2534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2535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2536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2537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2538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2539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2540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2541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2542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2543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2544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2545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2546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2547" name="AutoShape 19"/>
          <p:cNvCxnSpPr>
            <a:cxnSpLocks noChangeShapeType="1"/>
            <a:stCxn id="22532" idx="0"/>
            <a:endCxn id="22531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8" name="AutoShape 20"/>
          <p:cNvCxnSpPr>
            <a:cxnSpLocks noChangeShapeType="1"/>
            <a:stCxn id="22531" idx="6"/>
            <a:endCxn id="22533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49" name="AutoShape 21"/>
          <p:cNvCxnSpPr>
            <a:cxnSpLocks noChangeShapeType="1"/>
            <a:stCxn id="22533" idx="4"/>
            <a:endCxn id="22534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0" name="AutoShape 22"/>
          <p:cNvCxnSpPr>
            <a:cxnSpLocks noChangeShapeType="1"/>
            <a:stCxn id="22534" idx="7"/>
            <a:endCxn id="22535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1" name="AutoShape 23"/>
          <p:cNvCxnSpPr>
            <a:cxnSpLocks noChangeShapeType="1"/>
            <a:stCxn id="22534" idx="6"/>
            <a:endCxn id="22536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2" name="AutoShape 24"/>
          <p:cNvCxnSpPr>
            <a:cxnSpLocks noChangeShapeType="1"/>
            <a:stCxn id="22536" idx="0"/>
            <a:endCxn id="22535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3" name="AutoShape 25"/>
          <p:cNvCxnSpPr>
            <a:cxnSpLocks noChangeShapeType="1"/>
            <a:stCxn id="22535" idx="6"/>
            <a:endCxn id="22537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4" name="AutoShape 26"/>
          <p:cNvCxnSpPr>
            <a:cxnSpLocks noChangeShapeType="1"/>
            <a:stCxn id="22536" idx="6"/>
            <a:endCxn id="22538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2555" name="AutoShape 27"/>
          <p:cNvCxnSpPr>
            <a:cxnSpLocks noChangeShapeType="1"/>
            <a:stCxn id="22538" idx="0"/>
            <a:endCxn id="22537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2556" name="Rectangle 28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2557" name="Rectangle 29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>
                <a:latin typeface="Times New Roman" panose="02020603050405020304" pitchFamily="18" charset="0"/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3545645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Search: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3555" name="Oval 3"/>
          <p:cNvSpPr>
            <a:spLocks noChangeArrowheads="1"/>
          </p:cNvSpPr>
          <p:nvPr/>
        </p:nvSpPr>
        <p:spPr bwMode="auto">
          <a:xfrm>
            <a:off x="11430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  <a:endParaRPr lang="en-US" altLang="en-US" sz="4000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3556" name="Oval 4"/>
          <p:cNvSpPr>
            <a:spLocks noChangeArrowheads="1"/>
          </p:cNvSpPr>
          <p:nvPr/>
        </p:nvSpPr>
        <p:spPr bwMode="auto">
          <a:xfrm>
            <a:off x="11430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3557" name="Oval 5"/>
          <p:cNvSpPr>
            <a:spLocks noChangeArrowheads="1"/>
          </p:cNvSpPr>
          <p:nvPr/>
        </p:nvSpPr>
        <p:spPr bwMode="auto">
          <a:xfrm>
            <a:off x="32004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0</a:t>
            </a:r>
          </a:p>
        </p:txBody>
      </p:sp>
      <p:sp>
        <p:nvSpPr>
          <p:cNvPr id="23558" name="Oval 6"/>
          <p:cNvSpPr>
            <a:spLocks noChangeArrowheads="1"/>
          </p:cNvSpPr>
          <p:nvPr/>
        </p:nvSpPr>
        <p:spPr bwMode="auto">
          <a:xfrm>
            <a:off x="32004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1</a:t>
            </a:r>
          </a:p>
        </p:txBody>
      </p:sp>
      <p:sp>
        <p:nvSpPr>
          <p:cNvPr id="23559" name="Oval 7"/>
          <p:cNvSpPr>
            <a:spLocks noChangeArrowheads="1"/>
          </p:cNvSpPr>
          <p:nvPr/>
        </p:nvSpPr>
        <p:spPr bwMode="auto">
          <a:xfrm>
            <a:off x="52578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3560" name="Oval 8"/>
          <p:cNvSpPr>
            <a:spLocks noChangeArrowheads="1"/>
          </p:cNvSpPr>
          <p:nvPr/>
        </p:nvSpPr>
        <p:spPr bwMode="auto">
          <a:xfrm>
            <a:off x="52578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2</a:t>
            </a:r>
          </a:p>
        </p:txBody>
      </p:sp>
      <p:sp>
        <p:nvSpPr>
          <p:cNvPr id="23561" name="Oval 9"/>
          <p:cNvSpPr>
            <a:spLocks noChangeArrowheads="1"/>
          </p:cNvSpPr>
          <p:nvPr/>
        </p:nvSpPr>
        <p:spPr bwMode="auto">
          <a:xfrm>
            <a:off x="7315200" y="2133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3562" name="Oval 10"/>
          <p:cNvSpPr>
            <a:spLocks noChangeArrowheads="1"/>
          </p:cNvSpPr>
          <p:nvPr/>
        </p:nvSpPr>
        <p:spPr bwMode="auto">
          <a:xfrm>
            <a:off x="7315200" y="3657600"/>
            <a:ext cx="762000" cy="7620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i="0">
                <a:solidFill>
                  <a:schemeClr val="accent1"/>
                </a:solidFill>
                <a:latin typeface="Times New Roman" panose="02020603050405020304" pitchFamily="18" charset="0"/>
                <a:sym typeface="Symbol" panose="05050102010706020507" pitchFamily="18" charset="2"/>
              </a:rPr>
              <a:t>3</a:t>
            </a:r>
          </a:p>
        </p:txBody>
      </p:sp>
      <p:sp>
        <p:nvSpPr>
          <p:cNvPr id="23563" name="Text Box 11"/>
          <p:cNvSpPr txBox="1">
            <a:spLocks noChangeArrowheads="1"/>
          </p:cNvSpPr>
          <p:nvPr/>
        </p:nvSpPr>
        <p:spPr bwMode="auto">
          <a:xfrm>
            <a:off x="1382713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r</a:t>
            </a:r>
          </a:p>
        </p:txBody>
      </p:sp>
      <p:sp>
        <p:nvSpPr>
          <p:cNvPr id="23564" name="Text Box 12"/>
          <p:cNvSpPr txBox="1">
            <a:spLocks noChangeArrowheads="1"/>
          </p:cNvSpPr>
          <p:nvPr/>
        </p:nvSpPr>
        <p:spPr bwMode="auto">
          <a:xfrm>
            <a:off x="3429000" y="1676400"/>
            <a:ext cx="2825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s</a:t>
            </a:r>
          </a:p>
        </p:txBody>
      </p:sp>
      <p:sp>
        <p:nvSpPr>
          <p:cNvPr id="23565" name="Text Box 13"/>
          <p:cNvSpPr txBox="1">
            <a:spLocks noChangeArrowheads="1"/>
          </p:cNvSpPr>
          <p:nvPr/>
        </p:nvSpPr>
        <p:spPr bwMode="auto">
          <a:xfrm>
            <a:off x="5489575" y="1676400"/>
            <a:ext cx="254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3566" name="Text Box 14"/>
          <p:cNvSpPr txBox="1">
            <a:spLocks noChangeArrowheads="1"/>
          </p:cNvSpPr>
          <p:nvPr/>
        </p:nvSpPr>
        <p:spPr bwMode="auto">
          <a:xfrm>
            <a:off x="7500938" y="1676400"/>
            <a:ext cx="325437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u</a:t>
            </a:r>
          </a:p>
        </p:txBody>
      </p:sp>
      <p:sp>
        <p:nvSpPr>
          <p:cNvPr id="23567" name="Text Box 15"/>
          <p:cNvSpPr txBox="1">
            <a:spLocks noChangeArrowheads="1"/>
          </p:cNvSpPr>
          <p:nvPr/>
        </p:nvSpPr>
        <p:spPr bwMode="auto">
          <a:xfrm>
            <a:off x="1365250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v</a:t>
            </a:r>
          </a:p>
        </p:txBody>
      </p:sp>
      <p:sp>
        <p:nvSpPr>
          <p:cNvPr id="23568" name="Text Box 16"/>
          <p:cNvSpPr txBox="1">
            <a:spLocks noChangeArrowheads="1"/>
          </p:cNvSpPr>
          <p:nvPr/>
        </p:nvSpPr>
        <p:spPr bwMode="auto">
          <a:xfrm>
            <a:off x="3416300" y="4419600"/>
            <a:ext cx="354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w</a:t>
            </a:r>
          </a:p>
        </p:txBody>
      </p:sp>
      <p:sp>
        <p:nvSpPr>
          <p:cNvPr id="23569" name="Text Box 17"/>
          <p:cNvSpPr txBox="1">
            <a:spLocks noChangeArrowheads="1"/>
          </p:cNvSpPr>
          <p:nvPr/>
        </p:nvSpPr>
        <p:spPr bwMode="auto">
          <a:xfrm>
            <a:off x="5516563" y="4419600"/>
            <a:ext cx="3111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x</a:t>
            </a:r>
          </a:p>
        </p:txBody>
      </p:sp>
      <p:sp>
        <p:nvSpPr>
          <p:cNvPr id="23570" name="Text Box 18"/>
          <p:cNvSpPr txBox="1">
            <a:spLocks noChangeArrowheads="1"/>
          </p:cNvSpPr>
          <p:nvPr/>
        </p:nvSpPr>
        <p:spPr bwMode="auto">
          <a:xfrm>
            <a:off x="7604125" y="4419600"/>
            <a:ext cx="29686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latin typeface="Times New Roman" panose="02020603050405020304" pitchFamily="18" charset="0"/>
              </a:rPr>
              <a:t>y</a:t>
            </a:r>
          </a:p>
        </p:txBody>
      </p:sp>
      <p:cxnSp>
        <p:nvCxnSpPr>
          <p:cNvPr id="23571" name="AutoShape 19"/>
          <p:cNvCxnSpPr>
            <a:cxnSpLocks noChangeShapeType="1"/>
            <a:stCxn id="23556" idx="0"/>
            <a:endCxn id="23555" idx="4"/>
          </p:cNvCxnSpPr>
          <p:nvPr/>
        </p:nvCxnSpPr>
        <p:spPr bwMode="auto">
          <a:xfrm flipV="1">
            <a:off x="15240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2" name="AutoShape 20"/>
          <p:cNvCxnSpPr>
            <a:cxnSpLocks noChangeShapeType="1"/>
            <a:stCxn id="23555" idx="6"/>
            <a:endCxn id="23557" idx="2"/>
          </p:cNvCxnSpPr>
          <p:nvPr/>
        </p:nvCxnSpPr>
        <p:spPr bwMode="auto">
          <a:xfrm>
            <a:off x="19192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3" name="AutoShape 21"/>
          <p:cNvCxnSpPr>
            <a:cxnSpLocks noChangeShapeType="1"/>
            <a:stCxn id="23557" idx="4"/>
            <a:endCxn id="23558" idx="0"/>
          </p:cNvCxnSpPr>
          <p:nvPr/>
        </p:nvCxnSpPr>
        <p:spPr bwMode="auto">
          <a:xfrm>
            <a:off x="3581400" y="2909888"/>
            <a:ext cx="0" cy="73342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4" name="AutoShape 22"/>
          <p:cNvCxnSpPr>
            <a:cxnSpLocks noChangeShapeType="1"/>
            <a:stCxn id="23558" idx="7"/>
            <a:endCxn id="23559" idx="3"/>
          </p:cNvCxnSpPr>
          <p:nvPr/>
        </p:nvCxnSpPr>
        <p:spPr bwMode="auto">
          <a:xfrm flipV="1">
            <a:off x="3851275" y="2798763"/>
            <a:ext cx="1517650" cy="955675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5" name="AutoShape 23"/>
          <p:cNvCxnSpPr>
            <a:cxnSpLocks noChangeShapeType="1"/>
            <a:stCxn id="23558" idx="6"/>
            <a:endCxn id="23560" idx="2"/>
          </p:cNvCxnSpPr>
          <p:nvPr/>
        </p:nvCxnSpPr>
        <p:spPr bwMode="auto">
          <a:xfrm>
            <a:off x="39766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6" name="AutoShape 24"/>
          <p:cNvCxnSpPr>
            <a:cxnSpLocks noChangeShapeType="1"/>
            <a:stCxn id="23560" idx="0"/>
            <a:endCxn id="23559" idx="4"/>
          </p:cNvCxnSpPr>
          <p:nvPr/>
        </p:nvCxnSpPr>
        <p:spPr bwMode="auto">
          <a:xfrm flipV="1">
            <a:off x="56388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7" name="AutoShape 25"/>
          <p:cNvCxnSpPr>
            <a:cxnSpLocks noChangeShapeType="1"/>
            <a:stCxn id="23559" idx="6"/>
            <a:endCxn id="23561" idx="2"/>
          </p:cNvCxnSpPr>
          <p:nvPr/>
        </p:nvCxnSpPr>
        <p:spPr bwMode="auto">
          <a:xfrm>
            <a:off x="6034088" y="2514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8" name="AutoShape 26"/>
          <p:cNvCxnSpPr>
            <a:cxnSpLocks noChangeShapeType="1"/>
            <a:stCxn id="23560" idx="6"/>
            <a:endCxn id="23562" idx="2"/>
          </p:cNvCxnSpPr>
          <p:nvPr/>
        </p:nvCxnSpPr>
        <p:spPr bwMode="auto">
          <a:xfrm>
            <a:off x="6034088" y="4038600"/>
            <a:ext cx="1266825" cy="0"/>
          </a:xfrm>
          <a:prstGeom prst="straightConnector1">
            <a:avLst/>
          </a:prstGeom>
          <a:noFill/>
          <a:ln w="76200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579" name="AutoShape 27"/>
          <p:cNvCxnSpPr>
            <a:cxnSpLocks noChangeShapeType="1"/>
            <a:stCxn id="23562" idx="0"/>
            <a:endCxn id="23561" idx="4"/>
          </p:cNvCxnSpPr>
          <p:nvPr/>
        </p:nvCxnSpPr>
        <p:spPr bwMode="auto">
          <a:xfrm flipV="1">
            <a:off x="7696200" y="2909888"/>
            <a:ext cx="0" cy="7334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23580" name="Rectangle 28"/>
          <p:cNvSpPr>
            <a:spLocks noChangeArrowheads="1"/>
          </p:cNvSpPr>
          <p:nvPr/>
        </p:nvSpPr>
        <p:spPr bwMode="auto">
          <a:xfrm>
            <a:off x="18288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3200" b="1">
                <a:latin typeface="Times New Roman" panose="02020603050405020304" pitchFamily="18" charset="0"/>
              </a:rPr>
              <a:t>Q:</a:t>
            </a:r>
          </a:p>
        </p:txBody>
      </p:sp>
      <p:sp>
        <p:nvSpPr>
          <p:cNvPr id="23581" name="Rectangle 29"/>
          <p:cNvSpPr>
            <a:spLocks noChangeArrowheads="1"/>
          </p:cNvSpPr>
          <p:nvPr/>
        </p:nvSpPr>
        <p:spPr bwMode="auto">
          <a:xfrm>
            <a:off x="2514600" y="5562600"/>
            <a:ext cx="685800" cy="609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800" b="1" i="0">
                <a:latin typeface="Times New Roman" panose="02020603050405020304" pitchFamily="18" charset="0"/>
                <a:cs typeface="Times New Roman" panose="02020603050405020304" pitchFamily="18" charset="0"/>
              </a:rPr>
              <a:t>Ø</a:t>
            </a:r>
            <a:endParaRPr lang="en-US" altLang="en-US" sz="2800" b="1" i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251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BFS Running Time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/>
              <a:t>Initialization of each vertex takes </a:t>
            </a:r>
            <a:r>
              <a:rPr lang="en-US" altLang="en-US" sz="2800" b="1" i="1"/>
              <a:t>O</a:t>
            </a:r>
            <a:r>
              <a:rPr lang="en-US" altLang="en-US" sz="2800" b="1"/>
              <a:t>(</a:t>
            </a:r>
            <a:r>
              <a:rPr lang="en-US" altLang="en-US" sz="2800" b="1" i="1"/>
              <a:t>V</a:t>
            </a:r>
            <a:r>
              <a:rPr lang="en-US" altLang="en-US" sz="2800" b="1"/>
              <a:t>)</a:t>
            </a:r>
            <a:r>
              <a:rPr lang="en-US" altLang="en-US" sz="2800"/>
              <a:t> time</a:t>
            </a:r>
          </a:p>
          <a:p>
            <a:r>
              <a:rPr lang="en-US" altLang="en-US" sz="2800"/>
              <a:t>Every vertex is enqueued once and dequeued once, taking </a:t>
            </a:r>
            <a:r>
              <a:rPr lang="en-US" altLang="en-US" sz="2800" b="1" i="1"/>
              <a:t>O</a:t>
            </a:r>
            <a:r>
              <a:rPr lang="en-US" altLang="en-US" sz="2800" b="1"/>
              <a:t>(</a:t>
            </a:r>
            <a:r>
              <a:rPr lang="en-US" altLang="en-US" sz="2800" b="1" i="1"/>
              <a:t>V</a:t>
            </a:r>
            <a:r>
              <a:rPr lang="en-US" altLang="en-US" sz="2800" b="1"/>
              <a:t>) </a:t>
            </a:r>
            <a:r>
              <a:rPr lang="en-US" altLang="en-US" sz="2800"/>
              <a:t>time</a:t>
            </a:r>
          </a:p>
          <a:p>
            <a:r>
              <a:rPr lang="en-US" altLang="en-US" sz="2800"/>
              <a:t>When a vertex is dequeued, all its neighbors are checked to see if they are unvisited, taking time proportional to number of neighbors of the vertex, and summing to </a:t>
            </a:r>
            <a:r>
              <a:rPr lang="en-US" altLang="en-US" sz="2800" b="1" i="1"/>
              <a:t>O</a:t>
            </a:r>
            <a:r>
              <a:rPr lang="en-US" altLang="en-US" sz="2800" b="1"/>
              <a:t>(</a:t>
            </a:r>
            <a:r>
              <a:rPr lang="en-US" altLang="en-US" sz="2800" b="1" i="1"/>
              <a:t>E</a:t>
            </a:r>
            <a:r>
              <a:rPr lang="en-US" altLang="en-US" sz="2800" b="1"/>
              <a:t>) </a:t>
            </a:r>
            <a:r>
              <a:rPr lang="en-US" altLang="en-US" sz="2800"/>
              <a:t>over all iterations</a:t>
            </a:r>
          </a:p>
          <a:p>
            <a:r>
              <a:rPr lang="en-US" altLang="en-US" sz="2800"/>
              <a:t>Total time is </a:t>
            </a:r>
            <a:r>
              <a:rPr lang="en-US" altLang="en-US" sz="2800" b="1" i="1"/>
              <a:t>O</a:t>
            </a:r>
            <a:r>
              <a:rPr lang="en-US" altLang="en-US" sz="2800" b="1"/>
              <a:t>(</a:t>
            </a:r>
            <a:r>
              <a:rPr lang="en-US" altLang="en-US" sz="2800" b="1" i="1"/>
              <a:t>V+E</a:t>
            </a:r>
            <a:r>
              <a:rPr lang="en-US" altLang="en-US" sz="2800" b="1"/>
              <a:t>)</a:t>
            </a:r>
            <a:endParaRPr lang="en-US" altLang="en-US" sz="2800"/>
          </a:p>
        </p:txBody>
      </p:sp>
    </p:spTree>
    <p:extLst>
      <p:ext uri="{BB962C8B-B14F-4D97-AF65-F5344CB8AC3E}">
        <p14:creationId xmlns:p14="http://schemas.microsoft.com/office/powerpoint/2010/main" val="21480766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Breadth-First Search: Properties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BFS calculates the </a:t>
            </a:r>
            <a:r>
              <a:rPr lang="en-US" altLang="en-US" i="1" dirty="0">
                <a:solidFill>
                  <a:schemeClr val="tx2"/>
                </a:solidFill>
              </a:rPr>
              <a:t>shortest-path distance</a:t>
            </a:r>
            <a:r>
              <a:rPr lang="en-US" altLang="en-US" dirty="0"/>
              <a:t> to the source node</a:t>
            </a:r>
          </a:p>
          <a:p>
            <a:pPr lvl="1"/>
            <a:r>
              <a:rPr lang="en-US" altLang="en-US" dirty="0"/>
              <a:t>Shortest-path distance </a:t>
            </a:r>
            <a:r>
              <a:rPr lang="en-US" altLang="en-US" dirty="0">
                <a:sym typeface="Symbol" panose="05050102010706020507" pitchFamily="18" charset="2"/>
              </a:rPr>
              <a:t>(</a:t>
            </a:r>
            <a:r>
              <a:rPr lang="en-US" altLang="en-US" dirty="0" err="1">
                <a:sym typeface="Symbol" panose="05050102010706020507" pitchFamily="18" charset="2"/>
              </a:rPr>
              <a:t>s,v</a:t>
            </a:r>
            <a:r>
              <a:rPr lang="en-US" altLang="en-US" dirty="0">
                <a:sym typeface="Symbol" panose="05050102010706020507" pitchFamily="18" charset="2"/>
              </a:rPr>
              <a:t>) </a:t>
            </a:r>
            <a:r>
              <a:rPr lang="en-US" altLang="en-US" dirty="0"/>
              <a:t>= minimum number of edges from s to v, or </a:t>
            </a:r>
            <a:r>
              <a:rPr lang="en-US" altLang="en-US" dirty="0">
                <a:sym typeface="Symbol" panose="05050102010706020507" pitchFamily="18" charset="2"/>
              </a:rPr>
              <a:t> if v not reachable from s</a:t>
            </a:r>
            <a:endParaRPr lang="en-US" altLang="en-US" dirty="0"/>
          </a:p>
          <a:p>
            <a:r>
              <a:rPr lang="en-US" altLang="en-US" dirty="0">
                <a:sym typeface="Symbol" panose="05050102010706020507" pitchFamily="18" charset="2"/>
              </a:rPr>
              <a:t>BFS builds </a:t>
            </a:r>
            <a:r>
              <a:rPr lang="en-US" altLang="en-US" i="1" dirty="0">
                <a:solidFill>
                  <a:schemeClr val="tx2"/>
                </a:solidFill>
                <a:sym typeface="Symbol" panose="05050102010706020507" pitchFamily="18" charset="2"/>
              </a:rPr>
              <a:t>breadth-first tree</a:t>
            </a:r>
            <a:r>
              <a:rPr lang="en-US" altLang="en-US" dirty="0">
                <a:sym typeface="Symbol" panose="05050102010706020507" pitchFamily="18" charset="2"/>
              </a:rPr>
              <a:t>, in which paths to root represent shortest paths in G</a:t>
            </a:r>
          </a:p>
          <a:p>
            <a:pPr lvl="1"/>
            <a:r>
              <a:rPr lang="en-US" altLang="en-US" dirty="0">
                <a:sym typeface="Symbol" panose="05050102010706020507" pitchFamily="18" charset="2"/>
              </a:rPr>
              <a:t>Thus we can use BFS to calculate shortest path from one vertex to another in O(V+E) time</a:t>
            </a:r>
          </a:p>
        </p:txBody>
      </p:sp>
    </p:spTree>
    <p:extLst>
      <p:ext uri="{BB962C8B-B14F-4D97-AF65-F5344CB8AC3E}">
        <p14:creationId xmlns:p14="http://schemas.microsoft.com/office/powerpoint/2010/main" val="2621222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Depth-First Search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i="1">
                <a:solidFill>
                  <a:schemeClr val="tx2"/>
                </a:solidFill>
              </a:rPr>
              <a:t>Depth-first search</a:t>
            </a:r>
            <a:r>
              <a:rPr lang="en-US" altLang="en-US"/>
              <a:t> is another strategy for exploring a graph</a:t>
            </a:r>
          </a:p>
          <a:p>
            <a:pPr lvl="1"/>
            <a:r>
              <a:rPr lang="en-US" altLang="en-US"/>
              <a:t>Explore “deeper” in the graph whenever possible</a:t>
            </a:r>
          </a:p>
          <a:p>
            <a:pPr lvl="1"/>
            <a:r>
              <a:rPr lang="en-US" altLang="en-US"/>
              <a:t>Edges are explored out of the most recently discovered vertex </a:t>
            </a:r>
            <a:r>
              <a:rPr lang="en-US" altLang="en-US" i="1"/>
              <a:t>v</a:t>
            </a:r>
            <a:r>
              <a:rPr lang="en-US" altLang="en-US"/>
              <a:t> that still has unexplored edges</a:t>
            </a:r>
          </a:p>
          <a:p>
            <a:pPr lvl="1"/>
            <a:r>
              <a:rPr lang="en-US" altLang="en-US"/>
              <a:t>When all of </a:t>
            </a:r>
            <a:r>
              <a:rPr lang="en-US" altLang="en-US" i="1"/>
              <a:t>v</a:t>
            </a:r>
            <a:r>
              <a:rPr lang="en-US" altLang="en-US"/>
              <a:t>’s edges have been explored, backtrack to the vertex from which </a:t>
            </a:r>
            <a:r>
              <a:rPr lang="en-US" altLang="en-US" i="1"/>
              <a:t>v</a:t>
            </a:r>
            <a:r>
              <a:rPr lang="en-US" altLang="en-US"/>
              <a:t> was discovered</a:t>
            </a:r>
          </a:p>
          <a:p>
            <a:pPr lvl="1">
              <a:buFont typeface="Times New Roman" panose="02020603050405020304" pitchFamily="18" charset="0"/>
              <a:buNone/>
            </a:pP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104351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Depth-First Search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Vertices initially colored white</a:t>
            </a:r>
          </a:p>
          <a:p>
            <a:r>
              <a:rPr lang="en-US" altLang="en-US"/>
              <a:t>Then colored gray when discovered</a:t>
            </a:r>
          </a:p>
          <a:p>
            <a:r>
              <a:rPr lang="en-US" altLang="en-US"/>
              <a:t>Then black when finished</a:t>
            </a:r>
          </a:p>
        </p:txBody>
      </p:sp>
    </p:spTree>
    <p:extLst>
      <p:ext uri="{BB962C8B-B14F-4D97-AF65-F5344CB8AC3E}">
        <p14:creationId xmlns:p14="http://schemas.microsoft.com/office/powerpoint/2010/main" val="86977859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DFS Tree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>
                <a:latin typeface="Franklin Gothic Book" pitchFamily="34" charset="0"/>
              </a:rPr>
              <a:t>Actually might be a DFS forest (collection of trees)</a:t>
            </a:r>
          </a:p>
          <a:p>
            <a:r>
              <a:rPr lang="en-US" altLang="en-US">
                <a:latin typeface="Franklin Gothic Book" pitchFamily="34" charset="0"/>
              </a:rPr>
              <a:t>Keep track of parents</a:t>
            </a:r>
          </a:p>
        </p:txBody>
      </p:sp>
    </p:spTree>
    <p:extLst>
      <p:ext uri="{BB962C8B-B14F-4D97-AF65-F5344CB8AC3E}">
        <p14:creationId xmlns:p14="http://schemas.microsoft.com/office/powerpoint/2010/main" val="28971110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Depth-First Search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 (</a:t>
            </a:r>
            <a:r>
              <a:rPr lang="en-US" sz="24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1.     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each vertex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G.V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2.        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u.color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WHITE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3.           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u.</a:t>
            </a:r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NIL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4.    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5.     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each vertex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G.V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Times New Roman" panose="02020603050405020304" pitchFamily="18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6.        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u.color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 WHITE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                DFS-V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  </a:t>
            </a:r>
          </a:p>
        </p:txBody>
      </p:sp>
      <p:sp>
        <p:nvSpPr>
          <p:cNvPr id="29700" name="Rectangle 4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4800600" y="1524000"/>
            <a:ext cx="4152900" cy="4343400"/>
          </a:xfrm>
        </p:spPr>
        <p:txBody>
          <a:bodyPr/>
          <a:lstStyle/>
          <a:p>
            <a:pPr marL="0" indent="0">
              <a:buFont typeface="Times New Roman" panose="02020603050405020304" pitchFamily="18" charset="0"/>
              <a:buNone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DFS-V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ISIT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G, u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     time = time + 1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2.    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time</a:t>
            </a:r>
          </a:p>
          <a:p>
            <a:pPr marL="0" indent="0">
              <a:buFont typeface="Times New Roman" panose="02020603050405020304" pitchFamily="18" charset="0"/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3.    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u.color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GRAY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4.     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each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l-G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ϵ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G.Adj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5.        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v.color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== WHITE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6.                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</a:t>
            </a:r>
            <a:r>
              <a:rPr lang="el-GR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 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7.                  DFS-V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ISIT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8.    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u.color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BLACK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9.     time = time + 1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10.   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4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time  </a:t>
            </a:r>
          </a:p>
        </p:txBody>
      </p:sp>
      <p:sp>
        <p:nvSpPr>
          <p:cNvPr id="29701" name="Line 5"/>
          <p:cNvSpPr>
            <a:spLocks noChangeShapeType="1"/>
          </p:cNvSpPr>
          <p:nvPr/>
        </p:nvSpPr>
        <p:spPr bwMode="auto">
          <a:xfrm flipV="1">
            <a:off x="4495800" y="1524000"/>
            <a:ext cx="0" cy="4495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6474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DFS Example</a:t>
            </a:r>
          </a:p>
        </p:txBody>
      </p:sp>
      <p:sp>
        <p:nvSpPr>
          <p:cNvPr id="30723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4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5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6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7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8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29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0730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800" b="1" i="0">
              <a:solidFill>
                <a:schemeClr val="accent1"/>
              </a:solidFill>
              <a:latin typeface="Times New Roman" panose="02020603050405020304" pitchFamily="18" charset="0"/>
            </a:endParaRPr>
          </a:p>
        </p:txBody>
      </p:sp>
      <p:cxnSp>
        <p:nvCxnSpPr>
          <p:cNvPr id="30731" name="AutoShape 11"/>
          <p:cNvCxnSpPr>
            <a:cxnSpLocks noChangeShapeType="1"/>
            <a:stCxn id="30723" idx="3"/>
            <a:endCxn id="30729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2" name="AutoShape 12"/>
          <p:cNvCxnSpPr>
            <a:cxnSpLocks noChangeShapeType="1"/>
            <a:stCxn id="30729" idx="5"/>
            <a:endCxn id="30728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3" name="AutoShape 13"/>
          <p:cNvCxnSpPr>
            <a:cxnSpLocks noChangeShapeType="1"/>
            <a:stCxn id="30729" idx="6"/>
            <a:endCxn id="30727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4" name="AutoShape 14"/>
          <p:cNvCxnSpPr>
            <a:cxnSpLocks noChangeShapeType="1"/>
            <a:stCxn id="30727" idx="2"/>
            <a:endCxn id="30728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5" name="AutoShape 15"/>
          <p:cNvCxnSpPr>
            <a:cxnSpLocks noChangeShapeType="1"/>
            <a:stCxn id="30728" idx="0"/>
            <a:endCxn id="30723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6" name="AutoShape 16"/>
          <p:cNvCxnSpPr>
            <a:cxnSpLocks noChangeShapeType="1"/>
            <a:stCxn id="30723" idx="5"/>
            <a:endCxn id="30727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7" name="AutoShape 17"/>
          <p:cNvCxnSpPr>
            <a:cxnSpLocks noChangeShapeType="1"/>
            <a:stCxn id="30724" idx="4"/>
            <a:endCxn id="30727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8" name="AutoShape 18"/>
          <p:cNvCxnSpPr>
            <a:cxnSpLocks noChangeShapeType="1"/>
            <a:stCxn id="30723" idx="6"/>
            <a:endCxn id="30724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39" name="AutoShape 19"/>
          <p:cNvCxnSpPr>
            <a:cxnSpLocks noChangeShapeType="1"/>
            <a:stCxn id="30725" idx="2"/>
            <a:endCxn id="30724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0" name="AutoShape 20"/>
          <p:cNvCxnSpPr>
            <a:cxnSpLocks noChangeShapeType="1"/>
            <a:stCxn id="30724" idx="5"/>
            <a:endCxn id="30730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1" name="AutoShape 21"/>
          <p:cNvCxnSpPr>
            <a:cxnSpLocks noChangeShapeType="1"/>
            <a:stCxn id="30725" idx="3"/>
            <a:endCxn id="30730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2" name="AutoShape 22"/>
          <p:cNvCxnSpPr>
            <a:cxnSpLocks noChangeShapeType="1"/>
            <a:stCxn id="30725" idx="4"/>
            <a:endCxn id="30726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3" name="AutoShape 23"/>
          <p:cNvCxnSpPr>
            <a:cxnSpLocks noChangeShapeType="1"/>
            <a:stCxn id="30726" idx="2"/>
            <a:endCxn id="30727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0744" name="AutoShape 24"/>
          <p:cNvCxnSpPr>
            <a:cxnSpLocks noChangeShapeType="1"/>
            <a:stCxn id="30730" idx="3"/>
            <a:endCxn id="30727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0745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0746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36" name="Group 35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" name="TextBox 2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81135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747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1748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1749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1750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1751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| </a:t>
            </a:r>
          </a:p>
        </p:txBody>
      </p:sp>
      <p:sp>
        <p:nvSpPr>
          <p:cNvPr id="31752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 dirty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1753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1754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1755" name="AutoShape 11"/>
          <p:cNvCxnSpPr>
            <a:cxnSpLocks noChangeShapeType="1"/>
            <a:stCxn id="31747" idx="3"/>
            <a:endCxn id="31753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6" name="AutoShape 12"/>
          <p:cNvCxnSpPr>
            <a:cxnSpLocks noChangeShapeType="1"/>
            <a:stCxn id="31753" idx="5"/>
            <a:endCxn id="31752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7" name="AutoShape 13"/>
          <p:cNvCxnSpPr>
            <a:cxnSpLocks noChangeShapeType="1"/>
            <a:stCxn id="31753" idx="6"/>
            <a:endCxn id="31751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8" name="AutoShape 14"/>
          <p:cNvCxnSpPr>
            <a:cxnSpLocks noChangeShapeType="1"/>
            <a:stCxn id="31751" idx="2"/>
            <a:endCxn id="31752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59" name="AutoShape 15"/>
          <p:cNvCxnSpPr>
            <a:cxnSpLocks noChangeShapeType="1"/>
            <a:stCxn id="31752" idx="0"/>
            <a:endCxn id="31747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0" name="AutoShape 16"/>
          <p:cNvCxnSpPr>
            <a:cxnSpLocks noChangeShapeType="1"/>
            <a:stCxn id="31747" idx="5"/>
            <a:endCxn id="31751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1" name="AutoShape 17"/>
          <p:cNvCxnSpPr>
            <a:cxnSpLocks noChangeShapeType="1"/>
            <a:stCxn id="31748" idx="4"/>
            <a:endCxn id="31751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2" name="AutoShape 18"/>
          <p:cNvCxnSpPr>
            <a:cxnSpLocks noChangeShapeType="1"/>
            <a:stCxn id="31747" idx="6"/>
            <a:endCxn id="31748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3" name="AutoShape 19"/>
          <p:cNvCxnSpPr>
            <a:cxnSpLocks noChangeShapeType="1"/>
            <a:stCxn id="31749" idx="2"/>
            <a:endCxn id="31748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4" name="AutoShape 20"/>
          <p:cNvCxnSpPr>
            <a:cxnSpLocks noChangeShapeType="1"/>
            <a:stCxn id="31748" idx="5"/>
            <a:endCxn id="31754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5" name="AutoShape 21"/>
          <p:cNvCxnSpPr>
            <a:cxnSpLocks noChangeShapeType="1"/>
            <a:stCxn id="31749" idx="3"/>
            <a:endCxn id="31754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6" name="AutoShape 22"/>
          <p:cNvCxnSpPr>
            <a:cxnSpLocks noChangeShapeType="1"/>
            <a:stCxn id="31749" idx="4"/>
            <a:endCxn id="31750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7" name="AutoShape 23"/>
          <p:cNvCxnSpPr>
            <a:cxnSpLocks noChangeShapeType="1"/>
            <a:stCxn id="31750" idx="2"/>
            <a:endCxn id="31751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1768" name="AutoShape 24"/>
          <p:cNvCxnSpPr>
            <a:cxnSpLocks noChangeShapeType="1"/>
            <a:stCxn id="31754" idx="3"/>
            <a:endCxn id="31751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1769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1770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sp>
        <p:nvSpPr>
          <p:cNvPr id="31771" name="Oval 27"/>
          <p:cNvSpPr>
            <a:spLocks noChangeArrowheads="1"/>
          </p:cNvSpPr>
          <p:nvPr/>
        </p:nvSpPr>
        <p:spPr bwMode="auto">
          <a:xfrm>
            <a:off x="1524000" y="1828800"/>
            <a:ext cx="1066800" cy="685800"/>
          </a:xfrm>
          <a:prstGeom prst="ellips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>
                <a:latin typeface="Times New Roman" panose="02020603050405020304" pitchFamily="18" charset="0"/>
              </a:rPr>
              <a:t>d      f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99475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771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2772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2773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2774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2775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| </a:t>
            </a:r>
          </a:p>
        </p:txBody>
      </p:sp>
      <p:sp>
        <p:nvSpPr>
          <p:cNvPr id="32776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 dirty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2777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32778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2779" name="AutoShape 11"/>
          <p:cNvCxnSpPr>
            <a:cxnSpLocks noChangeShapeType="1"/>
            <a:stCxn id="32771" idx="3"/>
            <a:endCxn id="32777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0" name="AutoShape 12"/>
          <p:cNvCxnSpPr>
            <a:cxnSpLocks noChangeShapeType="1"/>
            <a:stCxn id="32777" idx="5"/>
            <a:endCxn id="32776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1" name="AutoShape 13"/>
          <p:cNvCxnSpPr>
            <a:cxnSpLocks noChangeShapeType="1"/>
            <a:stCxn id="32777" idx="6"/>
            <a:endCxn id="32775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2" name="AutoShape 14"/>
          <p:cNvCxnSpPr>
            <a:cxnSpLocks noChangeShapeType="1"/>
            <a:stCxn id="32775" idx="2"/>
            <a:endCxn id="32776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3" name="AutoShape 15"/>
          <p:cNvCxnSpPr>
            <a:cxnSpLocks noChangeShapeType="1"/>
            <a:stCxn id="32776" idx="0"/>
            <a:endCxn id="32771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4" name="AutoShape 16"/>
          <p:cNvCxnSpPr>
            <a:cxnSpLocks noChangeShapeType="1"/>
            <a:stCxn id="32771" idx="5"/>
            <a:endCxn id="32775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5" name="AutoShape 17"/>
          <p:cNvCxnSpPr>
            <a:cxnSpLocks noChangeShapeType="1"/>
            <a:stCxn id="32772" idx="4"/>
            <a:endCxn id="32775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6" name="AutoShape 18"/>
          <p:cNvCxnSpPr>
            <a:cxnSpLocks noChangeShapeType="1"/>
            <a:stCxn id="32771" idx="6"/>
            <a:endCxn id="32772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7" name="AutoShape 19"/>
          <p:cNvCxnSpPr>
            <a:cxnSpLocks noChangeShapeType="1"/>
            <a:stCxn id="32773" idx="2"/>
            <a:endCxn id="32772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8" name="AutoShape 20"/>
          <p:cNvCxnSpPr>
            <a:cxnSpLocks noChangeShapeType="1"/>
            <a:stCxn id="32772" idx="5"/>
            <a:endCxn id="32778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89" name="AutoShape 21"/>
          <p:cNvCxnSpPr>
            <a:cxnSpLocks noChangeShapeType="1"/>
            <a:stCxn id="32773" idx="3"/>
            <a:endCxn id="32778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90" name="AutoShape 22"/>
          <p:cNvCxnSpPr>
            <a:cxnSpLocks noChangeShapeType="1"/>
            <a:stCxn id="32773" idx="4"/>
            <a:endCxn id="32774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91" name="AutoShape 23"/>
          <p:cNvCxnSpPr>
            <a:cxnSpLocks noChangeShapeType="1"/>
            <a:stCxn id="32774" idx="2"/>
            <a:endCxn id="32775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2792" name="AutoShape 24"/>
          <p:cNvCxnSpPr>
            <a:cxnSpLocks noChangeShapeType="1"/>
            <a:stCxn id="32778" idx="3"/>
            <a:endCxn id="32775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2793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2794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095893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3795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 dirty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3796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3797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3798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3799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| </a:t>
            </a:r>
          </a:p>
        </p:txBody>
      </p:sp>
      <p:sp>
        <p:nvSpPr>
          <p:cNvPr id="33800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 dirty="0">
                <a:solidFill>
                  <a:schemeClr val="accent1"/>
                </a:solidFill>
                <a:latin typeface="Courier New" panose="02070309020205020404" pitchFamily="49" charset="0"/>
              </a:rPr>
              <a:t>3 |  </a:t>
            </a:r>
          </a:p>
        </p:txBody>
      </p:sp>
      <p:sp>
        <p:nvSpPr>
          <p:cNvPr id="33801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 dirty="0">
                <a:solidFill>
                  <a:schemeClr val="accent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33802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3803" name="AutoShape 11"/>
          <p:cNvCxnSpPr>
            <a:cxnSpLocks noChangeShapeType="1"/>
            <a:stCxn id="33795" idx="3"/>
            <a:endCxn id="33801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4" name="AutoShape 12"/>
          <p:cNvCxnSpPr>
            <a:cxnSpLocks noChangeShapeType="1"/>
            <a:stCxn id="33801" idx="5"/>
            <a:endCxn id="33800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5" name="AutoShape 13"/>
          <p:cNvCxnSpPr>
            <a:cxnSpLocks noChangeShapeType="1"/>
            <a:stCxn id="33801" idx="6"/>
            <a:endCxn id="33799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6" name="AutoShape 14"/>
          <p:cNvCxnSpPr>
            <a:cxnSpLocks noChangeShapeType="1"/>
            <a:stCxn id="33799" idx="2"/>
            <a:endCxn id="33800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7" name="AutoShape 15"/>
          <p:cNvCxnSpPr>
            <a:cxnSpLocks noChangeShapeType="1"/>
            <a:stCxn id="33800" idx="0"/>
            <a:endCxn id="33795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8" name="AutoShape 16"/>
          <p:cNvCxnSpPr>
            <a:cxnSpLocks noChangeShapeType="1"/>
            <a:stCxn id="33795" idx="5"/>
            <a:endCxn id="33799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09" name="AutoShape 17"/>
          <p:cNvCxnSpPr>
            <a:cxnSpLocks noChangeShapeType="1"/>
            <a:stCxn id="33796" idx="4"/>
            <a:endCxn id="33799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0" name="AutoShape 18"/>
          <p:cNvCxnSpPr>
            <a:cxnSpLocks noChangeShapeType="1"/>
            <a:stCxn id="33795" idx="6"/>
            <a:endCxn id="33796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1" name="AutoShape 19"/>
          <p:cNvCxnSpPr>
            <a:cxnSpLocks noChangeShapeType="1"/>
            <a:stCxn id="33797" idx="2"/>
            <a:endCxn id="33796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2" name="AutoShape 20"/>
          <p:cNvCxnSpPr>
            <a:cxnSpLocks noChangeShapeType="1"/>
            <a:stCxn id="33796" idx="5"/>
            <a:endCxn id="33802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3" name="AutoShape 21"/>
          <p:cNvCxnSpPr>
            <a:cxnSpLocks noChangeShapeType="1"/>
            <a:stCxn id="33797" idx="3"/>
            <a:endCxn id="33802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4" name="AutoShape 22"/>
          <p:cNvCxnSpPr>
            <a:cxnSpLocks noChangeShapeType="1"/>
            <a:stCxn id="33797" idx="4"/>
            <a:endCxn id="33798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5" name="AutoShape 23"/>
          <p:cNvCxnSpPr>
            <a:cxnSpLocks noChangeShapeType="1"/>
            <a:stCxn id="33798" idx="2"/>
            <a:endCxn id="33799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3816" name="AutoShape 24"/>
          <p:cNvCxnSpPr>
            <a:cxnSpLocks noChangeShapeType="1"/>
            <a:stCxn id="33802" idx="3"/>
            <a:endCxn id="33799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3817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3818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0987167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4819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4820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4821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4822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4823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| </a:t>
            </a:r>
          </a:p>
        </p:txBody>
      </p:sp>
      <p:sp>
        <p:nvSpPr>
          <p:cNvPr id="34824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34825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34826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4827" name="AutoShape 11"/>
          <p:cNvCxnSpPr>
            <a:cxnSpLocks noChangeShapeType="1"/>
            <a:stCxn id="34819" idx="3"/>
            <a:endCxn id="34825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8" name="AutoShape 12"/>
          <p:cNvCxnSpPr>
            <a:cxnSpLocks noChangeShapeType="1"/>
            <a:stCxn id="34825" idx="5"/>
            <a:endCxn id="34824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29" name="AutoShape 13"/>
          <p:cNvCxnSpPr>
            <a:cxnSpLocks noChangeShapeType="1"/>
            <a:stCxn id="34825" idx="6"/>
            <a:endCxn id="34823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0" name="AutoShape 14"/>
          <p:cNvCxnSpPr>
            <a:cxnSpLocks noChangeShapeType="1"/>
            <a:stCxn id="34823" idx="2"/>
            <a:endCxn id="34824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1" name="AutoShape 15"/>
          <p:cNvCxnSpPr>
            <a:cxnSpLocks noChangeShapeType="1"/>
            <a:stCxn id="34824" idx="0"/>
            <a:endCxn id="34819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2" name="AutoShape 16"/>
          <p:cNvCxnSpPr>
            <a:cxnSpLocks noChangeShapeType="1"/>
            <a:stCxn id="34819" idx="5"/>
            <a:endCxn id="34823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3" name="AutoShape 17"/>
          <p:cNvCxnSpPr>
            <a:cxnSpLocks noChangeShapeType="1"/>
            <a:stCxn id="34820" idx="4"/>
            <a:endCxn id="34823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4" name="AutoShape 18"/>
          <p:cNvCxnSpPr>
            <a:cxnSpLocks noChangeShapeType="1"/>
            <a:stCxn id="34819" idx="6"/>
            <a:endCxn id="34820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5" name="AutoShape 19"/>
          <p:cNvCxnSpPr>
            <a:cxnSpLocks noChangeShapeType="1"/>
            <a:stCxn id="34821" idx="2"/>
            <a:endCxn id="34820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6" name="AutoShape 20"/>
          <p:cNvCxnSpPr>
            <a:cxnSpLocks noChangeShapeType="1"/>
            <a:stCxn id="34820" idx="5"/>
            <a:endCxn id="34826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7" name="AutoShape 21"/>
          <p:cNvCxnSpPr>
            <a:cxnSpLocks noChangeShapeType="1"/>
            <a:stCxn id="34821" idx="3"/>
            <a:endCxn id="34826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8" name="AutoShape 22"/>
          <p:cNvCxnSpPr>
            <a:cxnSpLocks noChangeShapeType="1"/>
            <a:stCxn id="34821" idx="4"/>
            <a:endCxn id="34822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39" name="AutoShape 23"/>
          <p:cNvCxnSpPr>
            <a:cxnSpLocks noChangeShapeType="1"/>
            <a:stCxn id="34822" idx="2"/>
            <a:endCxn id="34823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4840" name="AutoShape 24"/>
          <p:cNvCxnSpPr>
            <a:cxnSpLocks noChangeShapeType="1"/>
            <a:stCxn id="34826" idx="3"/>
            <a:endCxn id="34823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841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4842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1503604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843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5844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5845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5846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5847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 </a:t>
            </a:r>
          </a:p>
        </p:txBody>
      </p:sp>
      <p:sp>
        <p:nvSpPr>
          <p:cNvPr id="35848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35849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35850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5851" name="AutoShape 11"/>
          <p:cNvCxnSpPr>
            <a:cxnSpLocks noChangeShapeType="1"/>
            <a:stCxn id="35843" idx="3"/>
            <a:endCxn id="35849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2" name="AutoShape 12"/>
          <p:cNvCxnSpPr>
            <a:cxnSpLocks noChangeShapeType="1"/>
            <a:stCxn id="35849" idx="5"/>
            <a:endCxn id="35848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3" name="AutoShape 13"/>
          <p:cNvCxnSpPr>
            <a:cxnSpLocks noChangeShapeType="1"/>
            <a:stCxn id="35849" idx="6"/>
            <a:endCxn id="35847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4" name="AutoShape 14"/>
          <p:cNvCxnSpPr>
            <a:cxnSpLocks noChangeShapeType="1"/>
            <a:stCxn id="35847" idx="2"/>
            <a:endCxn id="35848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5" name="AutoShape 15"/>
          <p:cNvCxnSpPr>
            <a:cxnSpLocks noChangeShapeType="1"/>
            <a:stCxn id="35848" idx="0"/>
            <a:endCxn id="35843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6" name="AutoShape 16"/>
          <p:cNvCxnSpPr>
            <a:cxnSpLocks noChangeShapeType="1"/>
            <a:stCxn id="35843" idx="5"/>
            <a:endCxn id="35847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7" name="AutoShape 17"/>
          <p:cNvCxnSpPr>
            <a:cxnSpLocks noChangeShapeType="1"/>
            <a:stCxn id="35844" idx="4"/>
            <a:endCxn id="35847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8" name="AutoShape 18"/>
          <p:cNvCxnSpPr>
            <a:cxnSpLocks noChangeShapeType="1"/>
            <a:stCxn id="35843" idx="6"/>
            <a:endCxn id="35844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59" name="AutoShape 19"/>
          <p:cNvCxnSpPr>
            <a:cxnSpLocks noChangeShapeType="1"/>
            <a:stCxn id="35845" idx="2"/>
            <a:endCxn id="35844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0" name="AutoShape 20"/>
          <p:cNvCxnSpPr>
            <a:cxnSpLocks noChangeShapeType="1"/>
            <a:stCxn id="35844" idx="5"/>
            <a:endCxn id="35850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1" name="AutoShape 21"/>
          <p:cNvCxnSpPr>
            <a:cxnSpLocks noChangeShapeType="1"/>
            <a:stCxn id="35845" idx="3"/>
            <a:endCxn id="35850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2" name="AutoShape 22"/>
          <p:cNvCxnSpPr>
            <a:cxnSpLocks noChangeShapeType="1"/>
            <a:stCxn id="35845" idx="4"/>
            <a:endCxn id="35846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3" name="AutoShape 23"/>
          <p:cNvCxnSpPr>
            <a:cxnSpLocks noChangeShapeType="1"/>
            <a:stCxn id="35846" idx="2"/>
            <a:endCxn id="35847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5864" name="AutoShape 24"/>
          <p:cNvCxnSpPr>
            <a:cxnSpLocks noChangeShapeType="1"/>
            <a:stCxn id="35850" idx="3"/>
            <a:endCxn id="35847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5865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866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254352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867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6868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6869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6870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6871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36872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36873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 </a:t>
            </a:r>
          </a:p>
        </p:txBody>
      </p:sp>
      <p:sp>
        <p:nvSpPr>
          <p:cNvPr id="36874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6875" name="AutoShape 11"/>
          <p:cNvCxnSpPr>
            <a:cxnSpLocks noChangeShapeType="1"/>
            <a:stCxn id="36867" idx="3"/>
            <a:endCxn id="36873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76" name="AutoShape 12"/>
          <p:cNvCxnSpPr>
            <a:cxnSpLocks noChangeShapeType="1"/>
            <a:stCxn id="36873" idx="5"/>
            <a:endCxn id="36872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77" name="AutoShape 13"/>
          <p:cNvCxnSpPr>
            <a:cxnSpLocks noChangeShapeType="1"/>
            <a:stCxn id="36873" idx="6"/>
            <a:endCxn id="36871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78" name="AutoShape 14"/>
          <p:cNvCxnSpPr>
            <a:cxnSpLocks noChangeShapeType="1"/>
            <a:stCxn id="36871" idx="2"/>
            <a:endCxn id="36872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79" name="AutoShape 15"/>
          <p:cNvCxnSpPr>
            <a:cxnSpLocks noChangeShapeType="1"/>
            <a:stCxn id="36872" idx="0"/>
            <a:endCxn id="36867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0" name="AutoShape 16"/>
          <p:cNvCxnSpPr>
            <a:cxnSpLocks noChangeShapeType="1"/>
            <a:stCxn id="36867" idx="5"/>
            <a:endCxn id="36871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1" name="AutoShape 17"/>
          <p:cNvCxnSpPr>
            <a:cxnSpLocks noChangeShapeType="1"/>
            <a:stCxn id="36868" idx="4"/>
            <a:endCxn id="36871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2" name="AutoShape 18"/>
          <p:cNvCxnSpPr>
            <a:cxnSpLocks noChangeShapeType="1"/>
            <a:stCxn id="36867" idx="6"/>
            <a:endCxn id="36868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3" name="AutoShape 19"/>
          <p:cNvCxnSpPr>
            <a:cxnSpLocks noChangeShapeType="1"/>
            <a:stCxn id="36869" idx="2"/>
            <a:endCxn id="36868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4" name="AutoShape 20"/>
          <p:cNvCxnSpPr>
            <a:cxnSpLocks noChangeShapeType="1"/>
            <a:stCxn id="36868" idx="5"/>
            <a:endCxn id="36874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5" name="AutoShape 21"/>
          <p:cNvCxnSpPr>
            <a:cxnSpLocks noChangeShapeType="1"/>
            <a:stCxn id="36869" idx="3"/>
            <a:endCxn id="36874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6" name="AutoShape 22"/>
          <p:cNvCxnSpPr>
            <a:cxnSpLocks noChangeShapeType="1"/>
            <a:stCxn id="36869" idx="4"/>
            <a:endCxn id="36870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7" name="AutoShape 23"/>
          <p:cNvCxnSpPr>
            <a:cxnSpLocks noChangeShapeType="1"/>
            <a:stCxn id="36870" idx="2"/>
            <a:endCxn id="36871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6888" name="AutoShape 24"/>
          <p:cNvCxnSpPr>
            <a:cxnSpLocks noChangeShapeType="1"/>
            <a:stCxn id="36874" idx="3"/>
            <a:endCxn id="36871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6889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890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591275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7891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7892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 dirty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7893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7894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7895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37896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37897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37898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7899" name="AutoShape 11"/>
          <p:cNvCxnSpPr>
            <a:cxnSpLocks noChangeShapeType="1"/>
            <a:stCxn id="37891" idx="3"/>
            <a:endCxn id="37897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0" name="AutoShape 12"/>
          <p:cNvCxnSpPr>
            <a:cxnSpLocks noChangeShapeType="1"/>
            <a:stCxn id="37897" idx="5"/>
            <a:endCxn id="37896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1" name="AutoShape 13"/>
          <p:cNvCxnSpPr>
            <a:cxnSpLocks noChangeShapeType="1"/>
            <a:stCxn id="37897" idx="6"/>
            <a:endCxn id="37895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2" name="AutoShape 14"/>
          <p:cNvCxnSpPr>
            <a:cxnSpLocks noChangeShapeType="1"/>
            <a:stCxn id="37895" idx="2"/>
            <a:endCxn id="37896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3" name="AutoShape 15"/>
          <p:cNvCxnSpPr>
            <a:cxnSpLocks noChangeShapeType="1"/>
            <a:stCxn id="37896" idx="0"/>
            <a:endCxn id="37891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4" name="AutoShape 16"/>
          <p:cNvCxnSpPr>
            <a:cxnSpLocks noChangeShapeType="1"/>
            <a:stCxn id="37891" idx="5"/>
            <a:endCxn id="37895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5" name="AutoShape 17"/>
          <p:cNvCxnSpPr>
            <a:cxnSpLocks noChangeShapeType="1"/>
            <a:stCxn id="37892" idx="4"/>
            <a:endCxn id="37895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6" name="AutoShape 18"/>
          <p:cNvCxnSpPr>
            <a:cxnSpLocks noChangeShapeType="1"/>
            <a:stCxn id="37891" idx="6"/>
            <a:endCxn id="37892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7" name="AutoShape 19"/>
          <p:cNvCxnSpPr>
            <a:cxnSpLocks noChangeShapeType="1"/>
            <a:stCxn id="37893" idx="2"/>
            <a:endCxn id="37892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8" name="AutoShape 20"/>
          <p:cNvCxnSpPr>
            <a:cxnSpLocks noChangeShapeType="1"/>
            <a:stCxn id="37892" idx="5"/>
            <a:endCxn id="37898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09" name="AutoShape 21"/>
          <p:cNvCxnSpPr>
            <a:cxnSpLocks noChangeShapeType="1"/>
            <a:stCxn id="37893" idx="3"/>
            <a:endCxn id="37898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0" name="AutoShape 22"/>
          <p:cNvCxnSpPr>
            <a:cxnSpLocks noChangeShapeType="1"/>
            <a:stCxn id="37893" idx="4"/>
            <a:endCxn id="37894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1" name="AutoShape 23"/>
          <p:cNvCxnSpPr>
            <a:cxnSpLocks noChangeShapeType="1"/>
            <a:stCxn id="37894" idx="2"/>
            <a:endCxn id="37895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7912" name="AutoShape 24"/>
          <p:cNvCxnSpPr>
            <a:cxnSpLocks noChangeShapeType="1"/>
            <a:stCxn id="37898" idx="3"/>
            <a:endCxn id="37895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7913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914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727475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8915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8916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  </a:t>
            </a:r>
          </a:p>
        </p:txBody>
      </p:sp>
      <p:sp>
        <p:nvSpPr>
          <p:cNvPr id="38917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8918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8919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38920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38921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38922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cxnSp>
        <p:nvCxnSpPr>
          <p:cNvPr id="38923" name="AutoShape 11"/>
          <p:cNvCxnSpPr>
            <a:cxnSpLocks noChangeShapeType="1"/>
            <a:stCxn id="38915" idx="3"/>
            <a:endCxn id="38921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4" name="AutoShape 12"/>
          <p:cNvCxnSpPr>
            <a:cxnSpLocks noChangeShapeType="1"/>
            <a:stCxn id="38921" idx="5"/>
            <a:endCxn id="38920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5" name="AutoShape 13"/>
          <p:cNvCxnSpPr>
            <a:cxnSpLocks noChangeShapeType="1"/>
            <a:stCxn id="38921" idx="6"/>
            <a:endCxn id="38919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6" name="AutoShape 14"/>
          <p:cNvCxnSpPr>
            <a:cxnSpLocks noChangeShapeType="1"/>
            <a:stCxn id="38919" idx="2"/>
            <a:endCxn id="38920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7" name="AutoShape 15"/>
          <p:cNvCxnSpPr>
            <a:cxnSpLocks noChangeShapeType="1"/>
            <a:stCxn id="38920" idx="0"/>
            <a:endCxn id="38915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8" name="AutoShape 16"/>
          <p:cNvCxnSpPr>
            <a:cxnSpLocks noChangeShapeType="1"/>
            <a:stCxn id="38915" idx="5"/>
            <a:endCxn id="38919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29" name="AutoShape 17"/>
          <p:cNvCxnSpPr>
            <a:cxnSpLocks noChangeShapeType="1"/>
            <a:stCxn id="38916" idx="4"/>
            <a:endCxn id="38919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0" name="AutoShape 18"/>
          <p:cNvCxnSpPr>
            <a:cxnSpLocks noChangeShapeType="1"/>
            <a:stCxn id="38915" idx="6"/>
            <a:endCxn id="38916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1" name="AutoShape 19"/>
          <p:cNvCxnSpPr>
            <a:cxnSpLocks noChangeShapeType="1"/>
            <a:stCxn id="38917" idx="2"/>
            <a:endCxn id="38916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2" name="AutoShape 20"/>
          <p:cNvCxnSpPr>
            <a:cxnSpLocks noChangeShapeType="1"/>
            <a:stCxn id="38916" idx="5"/>
            <a:endCxn id="38922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3" name="AutoShape 21"/>
          <p:cNvCxnSpPr>
            <a:cxnSpLocks noChangeShapeType="1"/>
            <a:stCxn id="38917" idx="3"/>
            <a:endCxn id="38922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4" name="AutoShape 22"/>
          <p:cNvCxnSpPr>
            <a:cxnSpLocks noChangeShapeType="1"/>
            <a:stCxn id="38917" idx="4"/>
            <a:endCxn id="38918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5" name="AutoShape 23"/>
          <p:cNvCxnSpPr>
            <a:cxnSpLocks noChangeShapeType="1"/>
            <a:stCxn id="38918" idx="2"/>
            <a:endCxn id="38919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8936" name="AutoShape 24"/>
          <p:cNvCxnSpPr>
            <a:cxnSpLocks noChangeShapeType="1"/>
            <a:stCxn id="38922" idx="3"/>
            <a:endCxn id="38919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8937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8938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202736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9939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39940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  </a:t>
            </a:r>
          </a:p>
        </p:txBody>
      </p:sp>
      <p:sp>
        <p:nvSpPr>
          <p:cNvPr id="39941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9942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39943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39944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39945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39946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  </a:t>
            </a:r>
          </a:p>
        </p:txBody>
      </p:sp>
      <p:cxnSp>
        <p:nvCxnSpPr>
          <p:cNvPr id="39947" name="AutoShape 11"/>
          <p:cNvCxnSpPr>
            <a:cxnSpLocks noChangeShapeType="1"/>
            <a:stCxn id="39939" idx="3"/>
            <a:endCxn id="39945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8" name="AutoShape 12"/>
          <p:cNvCxnSpPr>
            <a:cxnSpLocks noChangeShapeType="1"/>
            <a:stCxn id="39945" idx="5"/>
            <a:endCxn id="39944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49" name="AutoShape 13"/>
          <p:cNvCxnSpPr>
            <a:cxnSpLocks noChangeShapeType="1"/>
            <a:stCxn id="39945" idx="6"/>
            <a:endCxn id="39943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0" name="AutoShape 14"/>
          <p:cNvCxnSpPr>
            <a:cxnSpLocks noChangeShapeType="1"/>
            <a:stCxn id="39943" idx="2"/>
            <a:endCxn id="39944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1" name="AutoShape 15"/>
          <p:cNvCxnSpPr>
            <a:cxnSpLocks noChangeShapeType="1"/>
            <a:stCxn id="39944" idx="0"/>
            <a:endCxn id="39939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2" name="AutoShape 16"/>
          <p:cNvCxnSpPr>
            <a:cxnSpLocks noChangeShapeType="1"/>
            <a:stCxn id="39939" idx="5"/>
            <a:endCxn id="39943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3" name="AutoShape 17"/>
          <p:cNvCxnSpPr>
            <a:cxnSpLocks noChangeShapeType="1"/>
            <a:stCxn id="39940" idx="4"/>
            <a:endCxn id="39943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4" name="AutoShape 18"/>
          <p:cNvCxnSpPr>
            <a:cxnSpLocks noChangeShapeType="1"/>
            <a:stCxn id="39939" idx="6"/>
            <a:endCxn id="39940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5" name="AutoShape 19"/>
          <p:cNvCxnSpPr>
            <a:cxnSpLocks noChangeShapeType="1"/>
            <a:stCxn id="39941" idx="2"/>
            <a:endCxn id="39940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6" name="AutoShape 20"/>
          <p:cNvCxnSpPr>
            <a:cxnSpLocks noChangeShapeType="1"/>
            <a:stCxn id="39940" idx="5"/>
            <a:endCxn id="39946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7" name="AutoShape 21"/>
          <p:cNvCxnSpPr>
            <a:cxnSpLocks noChangeShapeType="1"/>
            <a:stCxn id="39941" idx="3"/>
            <a:endCxn id="39946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8" name="AutoShape 22"/>
          <p:cNvCxnSpPr>
            <a:cxnSpLocks noChangeShapeType="1"/>
            <a:stCxn id="39941" idx="4"/>
            <a:endCxn id="39942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59" name="AutoShape 23"/>
          <p:cNvCxnSpPr>
            <a:cxnSpLocks noChangeShapeType="1"/>
            <a:stCxn id="39942" idx="2"/>
            <a:endCxn id="39943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39960" name="AutoShape 24"/>
          <p:cNvCxnSpPr>
            <a:cxnSpLocks noChangeShapeType="1"/>
            <a:stCxn id="39946" idx="3"/>
            <a:endCxn id="39943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9961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9962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881222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0963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40964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  </a:t>
            </a:r>
          </a:p>
        </p:txBody>
      </p:sp>
      <p:sp>
        <p:nvSpPr>
          <p:cNvPr id="40965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0966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0967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0968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0969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0970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0971" name="AutoShape 11"/>
          <p:cNvCxnSpPr>
            <a:cxnSpLocks noChangeShapeType="1"/>
            <a:stCxn id="40963" idx="3"/>
            <a:endCxn id="40969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2" name="AutoShape 12"/>
          <p:cNvCxnSpPr>
            <a:cxnSpLocks noChangeShapeType="1"/>
            <a:stCxn id="40969" idx="5"/>
            <a:endCxn id="40968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3" name="AutoShape 13"/>
          <p:cNvCxnSpPr>
            <a:cxnSpLocks noChangeShapeType="1"/>
            <a:stCxn id="40969" idx="6"/>
            <a:endCxn id="40967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4" name="AutoShape 14"/>
          <p:cNvCxnSpPr>
            <a:cxnSpLocks noChangeShapeType="1"/>
            <a:stCxn id="40967" idx="2"/>
            <a:endCxn id="40968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5" name="AutoShape 15"/>
          <p:cNvCxnSpPr>
            <a:cxnSpLocks noChangeShapeType="1"/>
            <a:stCxn id="40968" idx="0"/>
            <a:endCxn id="40963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6" name="AutoShape 16"/>
          <p:cNvCxnSpPr>
            <a:cxnSpLocks noChangeShapeType="1"/>
            <a:stCxn id="40963" idx="5"/>
            <a:endCxn id="40967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7" name="AutoShape 17"/>
          <p:cNvCxnSpPr>
            <a:cxnSpLocks noChangeShapeType="1"/>
            <a:stCxn id="40964" idx="4"/>
            <a:endCxn id="40967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8" name="AutoShape 18"/>
          <p:cNvCxnSpPr>
            <a:cxnSpLocks noChangeShapeType="1"/>
            <a:stCxn id="40963" idx="6"/>
            <a:endCxn id="40964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79" name="AutoShape 19"/>
          <p:cNvCxnSpPr>
            <a:cxnSpLocks noChangeShapeType="1"/>
            <a:stCxn id="40965" idx="2"/>
            <a:endCxn id="40964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80" name="AutoShape 20"/>
          <p:cNvCxnSpPr>
            <a:cxnSpLocks noChangeShapeType="1"/>
            <a:stCxn id="40964" idx="5"/>
            <a:endCxn id="40970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81" name="AutoShape 21"/>
          <p:cNvCxnSpPr>
            <a:cxnSpLocks noChangeShapeType="1"/>
            <a:stCxn id="40965" idx="3"/>
            <a:endCxn id="40970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82" name="AutoShape 22"/>
          <p:cNvCxnSpPr>
            <a:cxnSpLocks noChangeShapeType="1"/>
            <a:stCxn id="40965" idx="4"/>
            <a:endCxn id="40966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83" name="AutoShape 23"/>
          <p:cNvCxnSpPr>
            <a:cxnSpLocks noChangeShapeType="1"/>
            <a:stCxn id="40966" idx="2"/>
            <a:endCxn id="40967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0984" name="AutoShape 24"/>
          <p:cNvCxnSpPr>
            <a:cxnSpLocks noChangeShapeType="1"/>
            <a:stCxn id="40970" idx="3"/>
            <a:endCxn id="40967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0985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986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937525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1987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  </a:t>
            </a:r>
          </a:p>
        </p:txBody>
      </p:sp>
      <p:sp>
        <p:nvSpPr>
          <p:cNvPr id="41988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41989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1990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1991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1992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1993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1994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1995" name="AutoShape 11"/>
          <p:cNvCxnSpPr>
            <a:cxnSpLocks noChangeShapeType="1"/>
            <a:stCxn id="41987" idx="3"/>
            <a:endCxn id="41993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6" name="AutoShape 12"/>
          <p:cNvCxnSpPr>
            <a:cxnSpLocks noChangeShapeType="1"/>
            <a:stCxn id="41993" idx="5"/>
            <a:endCxn id="41992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7" name="AutoShape 13"/>
          <p:cNvCxnSpPr>
            <a:cxnSpLocks noChangeShapeType="1"/>
            <a:stCxn id="41993" idx="6"/>
            <a:endCxn id="41991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8" name="AutoShape 14"/>
          <p:cNvCxnSpPr>
            <a:cxnSpLocks noChangeShapeType="1"/>
            <a:stCxn id="41991" idx="2"/>
            <a:endCxn id="41992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1999" name="AutoShape 15"/>
          <p:cNvCxnSpPr>
            <a:cxnSpLocks noChangeShapeType="1"/>
            <a:stCxn id="41992" idx="0"/>
            <a:endCxn id="41987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0" name="AutoShape 16"/>
          <p:cNvCxnSpPr>
            <a:cxnSpLocks noChangeShapeType="1"/>
            <a:stCxn id="41987" idx="5"/>
            <a:endCxn id="41991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1" name="AutoShape 17"/>
          <p:cNvCxnSpPr>
            <a:cxnSpLocks noChangeShapeType="1"/>
            <a:stCxn id="41988" idx="4"/>
            <a:endCxn id="41991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2" name="AutoShape 18"/>
          <p:cNvCxnSpPr>
            <a:cxnSpLocks noChangeShapeType="1"/>
            <a:stCxn id="41987" idx="6"/>
            <a:endCxn id="41988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3" name="AutoShape 19"/>
          <p:cNvCxnSpPr>
            <a:cxnSpLocks noChangeShapeType="1"/>
            <a:stCxn id="41989" idx="2"/>
            <a:endCxn id="41988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4" name="AutoShape 20"/>
          <p:cNvCxnSpPr>
            <a:cxnSpLocks noChangeShapeType="1"/>
            <a:stCxn id="41988" idx="5"/>
            <a:endCxn id="41994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5" name="AutoShape 21"/>
          <p:cNvCxnSpPr>
            <a:cxnSpLocks noChangeShapeType="1"/>
            <a:stCxn id="41989" idx="3"/>
            <a:endCxn id="41994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6" name="AutoShape 22"/>
          <p:cNvCxnSpPr>
            <a:cxnSpLocks noChangeShapeType="1"/>
            <a:stCxn id="41989" idx="4"/>
            <a:endCxn id="41990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7" name="AutoShape 23"/>
          <p:cNvCxnSpPr>
            <a:cxnSpLocks noChangeShapeType="1"/>
            <a:stCxn id="41990" idx="2"/>
            <a:endCxn id="41991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2008" name="AutoShape 24"/>
          <p:cNvCxnSpPr>
            <a:cxnSpLocks noChangeShapeType="1"/>
            <a:stCxn id="41994" idx="3"/>
            <a:endCxn id="41991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2009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2010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3757287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3011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43012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43013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3014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3015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3016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3017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3018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3019" name="AutoShape 11"/>
          <p:cNvCxnSpPr>
            <a:cxnSpLocks noChangeShapeType="1"/>
            <a:stCxn id="43011" idx="3"/>
            <a:endCxn id="43017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0" name="AutoShape 12"/>
          <p:cNvCxnSpPr>
            <a:cxnSpLocks noChangeShapeType="1"/>
            <a:stCxn id="43017" idx="5"/>
            <a:endCxn id="43016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1" name="AutoShape 13"/>
          <p:cNvCxnSpPr>
            <a:cxnSpLocks noChangeShapeType="1"/>
            <a:stCxn id="43017" idx="6"/>
            <a:endCxn id="43015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2" name="AutoShape 14"/>
          <p:cNvCxnSpPr>
            <a:cxnSpLocks noChangeShapeType="1"/>
            <a:stCxn id="43015" idx="2"/>
            <a:endCxn id="43016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3" name="AutoShape 15"/>
          <p:cNvCxnSpPr>
            <a:cxnSpLocks noChangeShapeType="1"/>
            <a:stCxn id="43016" idx="0"/>
            <a:endCxn id="43011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4" name="AutoShape 16"/>
          <p:cNvCxnSpPr>
            <a:cxnSpLocks noChangeShapeType="1"/>
            <a:stCxn id="43011" idx="5"/>
            <a:endCxn id="43015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5" name="AutoShape 17"/>
          <p:cNvCxnSpPr>
            <a:cxnSpLocks noChangeShapeType="1"/>
            <a:stCxn id="43012" idx="4"/>
            <a:endCxn id="43015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6" name="AutoShape 18"/>
          <p:cNvCxnSpPr>
            <a:cxnSpLocks noChangeShapeType="1"/>
            <a:stCxn id="43011" idx="6"/>
            <a:endCxn id="43012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7" name="AutoShape 19"/>
          <p:cNvCxnSpPr>
            <a:cxnSpLocks noChangeShapeType="1"/>
            <a:stCxn id="43013" idx="2"/>
            <a:endCxn id="43012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8" name="AutoShape 20"/>
          <p:cNvCxnSpPr>
            <a:cxnSpLocks noChangeShapeType="1"/>
            <a:stCxn id="43012" idx="5"/>
            <a:endCxn id="43018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29" name="AutoShape 21"/>
          <p:cNvCxnSpPr>
            <a:cxnSpLocks noChangeShapeType="1"/>
            <a:stCxn id="43013" idx="3"/>
            <a:endCxn id="43018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30" name="AutoShape 22"/>
          <p:cNvCxnSpPr>
            <a:cxnSpLocks noChangeShapeType="1"/>
            <a:stCxn id="43013" idx="4"/>
            <a:endCxn id="43014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31" name="AutoShape 23"/>
          <p:cNvCxnSpPr>
            <a:cxnSpLocks noChangeShapeType="1"/>
            <a:stCxn id="43014" idx="2"/>
            <a:endCxn id="43015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3032" name="AutoShape 24"/>
          <p:cNvCxnSpPr>
            <a:cxnSpLocks noChangeShapeType="1"/>
            <a:stCxn id="43018" idx="3"/>
            <a:endCxn id="43015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3033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3034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03084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4035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44036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44037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13|  </a:t>
            </a:r>
          </a:p>
        </p:txBody>
      </p:sp>
      <p:sp>
        <p:nvSpPr>
          <p:cNvPr id="44038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  |  </a:t>
            </a:r>
          </a:p>
        </p:txBody>
      </p:sp>
      <p:sp>
        <p:nvSpPr>
          <p:cNvPr id="44039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4040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4041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4042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4043" name="AutoShape 11"/>
          <p:cNvCxnSpPr>
            <a:cxnSpLocks noChangeShapeType="1"/>
            <a:stCxn id="44035" idx="3"/>
            <a:endCxn id="44041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4" name="AutoShape 12"/>
          <p:cNvCxnSpPr>
            <a:cxnSpLocks noChangeShapeType="1"/>
            <a:stCxn id="44041" idx="5"/>
            <a:endCxn id="44040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5" name="AutoShape 13"/>
          <p:cNvCxnSpPr>
            <a:cxnSpLocks noChangeShapeType="1"/>
            <a:stCxn id="44041" idx="6"/>
            <a:endCxn id="44039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6" name="AutoShape 14"/>
          <p:cNvCxnSpPr>
            <a:cxnSpLocks noChangeShapeType="1"/>
            <a:stCxn id="44039" idx="2"/>
            <a:endCxn id="44040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7" name="AutoShape 15"/>
          <p:cNvCxnSpPr>
            <a:cxnSpLocks noChangeShapeType="1"/>
            <a:stCxn id="44040" idx="0"/>
            <a:endCxn id="44035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8" name="AutoShape 16"/>
          <p:cNvCxnSpPr>
            <a:cxnSpLocks noChangeShapeType="1"/>
            <a:stCxn id="44035" idx="5"/>
            <a:endCxn id="44039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49" name="AutoShape 17"/>
          <p:cNvCxnSpPr>
            <a:cxnSpLocks noChangeShapeType="1"/>
            <a:stCxn id="44036" idx="4"/>
            <a:endCxn id="44039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0" name="AutoShape 18"/>
          <p:cNvCxnSpPr>
            <a:cxnSpLocks noChangeShapeType="1"/>
            <a:stCxn id="44035" idx="6"/>
            <a:endCxn id="44036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1" name="AutoShape 19"/>
          <p:cNvCxnSpPr>
            <a:cxnSpLocks noChangeShapeType="1"/>
            <a:stCxn id="44037" idx="2"/>
            <a:endCxn id="44036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2" name="AutoShape 20"/>
          <p:cNvCxnSpPr>
            <a:cxnSpLocks noChangeShapeType="1"/>
            <a:stCxn id="44036" idx="5"/>
            <a:endCxn id="44042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3" name="AutoShape 21"/>
          <p:cNvCxnSpPr>
            <a:cxnSpLocks noChangeShapeType="1"/>
            <a:stCxn id="44037" idx="3"/>
            <a:endCxn id="44042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4" name="AutoShape 22"/>
          <p:cNvCxnSpPr>
            <a:cxnSpLocks noChangeShapeType="1"/>
            <a:stCxn id="44037" idx="4"/>
            <a:endCxn id="44038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5" name="AutoShape 23"/>
          <p:cNvCxnSpPr>
            <a:cxnSpLocks noChangeShapeType="1"/>
            <a:stCxn id="44038" idx="2"/>
            <a:endCxn id="44039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4056" name="AutoShape 24"/>
          <p:cNvCxnSpPr>
            <a:cxnSpLocks noChangeShapeType="1"/>
            <a:stCxn id="44042" idx="3"/>
            <a:endCxn id="44039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4057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4058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0958957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5059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45060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45061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13|  </a:t>
            </a:r>
          </a:p>
        </p:txBody>
      </p:sp>
      <p:sp>
        <p:nvSpPr>
          <p:cNvPr id="45062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14|  </a:t>
            </a:r>
          </a:p>
        </p:txBody>
      </p:sp>
      <p:sp>
        <p:nvSpPr>
          <p:cNvPr id="45063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5064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5065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5066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5067" name="AutoShape 11"/>
          <p:cNvCxnSpPr>
            <a:cxnSpLocks noChangeShapeType="1"/>
            <a:stCxn id="45059" idx="3"/>
            <a:endCxn id="45065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68" name="AutoShape 12"/>
          <p:cNvCxnSpPr>
            <a:cxnSpLocks noChangeShapeType="1"/>
            <a:stCxn id="45065" idx="5"/>
            <a:endCxn id="45064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69" name="AutoShape 13"/>
          <p:cNvCxnSpPr>
            <a:cxnSpLocks noChangeShapeType="1"/>
            <a:stCxn id="45065" idx="6"/>
            <a:endCxn id="45063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0" name="AutoShape 14"/>
          <p:cNvCxnSpPr>
            <a:cxnSpLocks noChangeShapeType="1"/>
            <a:stCxn id="45063" idx="2"/>
            <a:endCxn id="45064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1" name="AutoShape 15"/>
          <p:cNvCxnSpPr>
            <a:cxnSpLocks noChangeShapeType="1"/>
            <a:stCxn id="45064" idx="0"/>
            <a:endCxn id="45059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2" name="AutoShape 16"/>
          <p:cNvCxnSpPr>
            <a:cxnSpLocks noChangeShapeType="1"/>
            <a:stCxn id="45059" idx="5"/>
            <a:endCxn id="45063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3" name="AutoShape 17"/>
          <p:cNvCxnSpPr>
            <a:cxnSpLocks noChangeShapeType="1"/>
            <a:stCxn id="45060" idx="4"/>
            <a:endCxn id="45063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4" name="AutoShape 18"/>
          <p:cNvCxnSpPr>
            <a:cxnSpLocks noChangeShapeType="1"/>
            <a:stCxn id="45059" idx="6"/>
            <a:endCxn id="45060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5" name="AutoShape 19"/>
          <p:cNvCxnSpPr>
            <a:cxnSpLocks noChangeShapeType="1"/>
            <a:stCxn id="45061" idx="2"/>
            <a:endCxn id="45060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6" name="AutoShape 20"/>
          <p:cNvCxnSpPr>
            <a:cxnSpLocks noChangeShapeType="1"/>
            <a:stCxn id="45060" idx="5"/>
            <a:endCxn id="45066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7" name="AutoShape 21"/>
          <p:cNvCxnSpPr>
            <a:cxnSpLocks noChangeShapeType="1"/>
            <a:stCxn id="45061" idx="3"/>
            <a:endCxn id="45066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8" name="AutoShape 22"/>
          <p:cNvCxnSpPr>
            <a:cxnSpLocks noChangeShapeType="1"/>
            <a:stCxn id="45061" idx="4"/>
            <a:endCxn id="45062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79" name="AutoShape 23"/>
          <p:cNvCxnSpPr>
            <a:cxnSpLocks noChangeShapeType="1"/>
            <a:stCxn id="45062" idx="2"/>
            <a:endCxn id="45063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5080" name="AutoShape 24"/>
          <p:cNvCxnSpPr>
            <a:cxnSpLocks noChangeShapeType="1"/>
            <a:stCxn id="45066" idx="3"/>
            <a:endCxn id="45063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5081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5082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599547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6083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46084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46085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13|  </a:t>
            </a:r>
          </a:p>
        </p:txBody>
      </p:sp>
      <p:sp>
        <p:nvSpPr>
          <p:cNvPr id="46086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14|15</a:t>
            </a:r>
          </a:p>
        </p:txBody>
      </p:sp>
      <p:sp>
        <p:nvSpPr>
          <p:cNvPr id="46087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6088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6089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6090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6091" name="AutoShape 11"/>
          <p:cNvCxnSpPr>
            <a:cxnSpLocks noChangeShapeType="1"/>
            <a:stCxn id="46083" idx="3"/>
            <a:endCxn id="46089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2" name="AutoShape 12"/>
          <p:cNvCxnSpPr>
            <a:cxnSpLocks noChangeShapeType="1"/>
            <a:stCxn id="46089" idx="5"/>
            <a:endCxn id="46088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3" name="AutoShape 13"/>
          <p:cNvCxnSpPr>
            <a:cxnSpLocks noChangeShapeType="1"/>
            <a:stCxn id="46089" idx="6"/>
            <a:endCxn id="46087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4" name="AutoShape 14"/>
          <p:cNvCxnSpPr>
            <a:cxnSpLocks noChangeShapeType="1"/>
            <a:stCxn id="46087" idx="2"/>
            <a:endCxn id="46088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5" name="AutoShape 15"/>
          <p:cNvCxnSpPr>
            <a:cxnSpLocks noChangeShapeType="1"/>
            <a:stCxn id="46088" idx="0"/>
            <a:endCxn id="46083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6" name="AutoShape 16"/>
          <p:cNvCxnSpPr>
            <a:cxnSpLocks noChangeShapeType="1"/>
            <a:stCxn id="46083" idx="5"/>
            <a:endCxn id="46087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7" name="AutoShape 17"/>
          <p:cNvCxnSpPr>
            <a:cxnSpLocks noChangeShapeType="1"/>
            <a:stCxn id="46084" idx="4"/>
            <a:endCxn id="46087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8" name="AutoShape 18"/>
          <p:cNvCxnSpPr>
            <a:cxnSpLocks noChangeShapeType="1"/>
            <a:stCxn id="46083" idx="6"/>
            <a:endCxn id="46084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099" name="AutoShape 19"/>
          <p:cNvCxnSpPr>
            <a:cxnSpLocks noChangeShapeType="1"/>
            <a:stCxn id="46085" idx="2"/>
            <a:endCxn id="46084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0" name="AutoShape 20"/>
          <p:cNvCxnSpPr>
            <a:cxnSpLocks noChangeShapeType="1"/>
            <a:stCxn id="46084" idx="5"/>
            <a:endCxn id="46090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1" name="AutoShape 21"/>
          <p:cNvCxnSpPr>
            <a:cxnSpLocks noChangeShapeType="1"/>
            <a:stCxn id="46085" idx="3"/>
            <a:endCxn id="46090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2" name="AutoShape 22"/>
          <p:cNvCxnSpPr>
            <a:cxnSpLocks noChangeShapeType="1"/>
            <a:stCxn id="46085" idx="4"/>
            <a:endCxn id="46086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3" name="AutoShape 23"/>
          <p:cNvCxnSpPr>
            <a:cxnSpLocks noChangeShapeType="1"/>
            <a:stCxn id="46086" idx="2"/>
            <a:endCxn id="46087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6104" name="AutoShape 24"/>
          <p:cNvCxnSpPr>
            <a:cxnSpLocks noChangeShapeType="1"/>
            <a:stCxn id="46090" idx="3"/>
            <a:endCxn id="46087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6105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6106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7400294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/>
              <a:t>DFS Example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7107" name="Oval 3"/>
          <p:cNvSpPr>
            <a:spLocks noChangeArrowheads="1"/>
          </p:cNvSpPr>
          <p:nvPr/>
        </p:nvSpPr>
        <p:spPr bwMode="auto">
          <a:xfrm>
            <a:off x="1524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 |12</a:t>
            </a:r>
          </a:p>
        </p:txBody>
      </p:sp>
      <p:sp>
        <p:nvSpPr>
          <p:cNvPr id="47108" name="Oval 4"/>
          <p:cNvSpPr>
            <a:spLocks noChangeArrowheads="1"/>
          </p:cNvSpPr>
          <p:nvPr/>
        </p:nvSpPr>
        <p:spPr bwMode="auto">
          <a:xfrm>
            <a:off x="4191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8 |11</a:t>
            </a:r>
          </a:p>
        </p:txBody>
      </p:sp>
      <p:sp>
        <p:nvSpPr>
          <p:cNvPr id="47109" name="Oval 5"/>
          <p:cNvSpPr>
            <a:spLocks noChangeArrowheads="1"/>
          </p:cNvSpPr>
          <p:nvPr/>
        </p:nvSpPr>
        <p:spPr bwMode="auto">
          <a:xfrm>
            <a:off x="6858000" y="2362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13|16</a:t>
            </a:r>
          </a:p>
        </p:txBody>
      </p:sp>
      <p:sp>
        <p:nvSpPr>
          <p:cNvPr id="47110" name="Oval 6"/>
          <p:cNvSpPr>
            <a:spLocks noChangeArrowheads="1"/>
          </p:cNvSpPr>
          <p:nvPr/>
        </p:nvSpPr>
        <p:spPr bwMode="auto">
          <a:xfrm>
            <a:off x="6858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14|15</a:t>
            </a:r>
          </a:p>
        </p:txBody>
      </p:sp>
      <p:sp>
        <p:nvSpPr>
          <p:cNvPr id="47111" name="Oval 7"/>
          <p:cNvSpPr>
            <a:spLocks noChangeArrowheads="1"/>
          </p:cNvSpPr>
          <p:nvPr/>
        </p:nvSpPr>
        <p:spPr bwMode="auto">
          <a:xfrm>
            <a:off x="4191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5 | 6</a:t>
            </a:r>
          </a:p>
        </p:txBody>
      </p:sp>
      <p:sp>
        <p:nvSpPr>
          <p:cNvPr id="47112" name="Oval 8"/>
          <p:cNvSpPr>
            <a:spLocks noChangeArrowheads="1"/>
          </p:cNvSpPr>
          <p:nvPr/>
        </p:nvSpPr>
        <p:spPr bwMode="auto">
          <a:xfrm>
            <a:off x="1524000" y="47244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3 | 4</a:t>
            </a:r>
          </a:p>
        </p:txBody>
      </p:sp>
      <p:sp>
        <p:nvSpPr>
          <p:cNvPr id="47113" name="Oval 9"/>
          <p:cNvSpPr>
            <a:spLocks noChangeArrowheads="1"/>
          </p:cNvSpPr>
          <p:nvPr/>
        </p:nvSpPr>
        <p:spPr bwMode="auto">
          <a:xfrm>
            <a:off x="228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2 | 7</a:t>
            </a:r>
          </a:p>
        </p:txBody>
      </p:sp>
      <p:sp>
        <p:nvSpPr>
          <p:cNvPr id="47114" name="Oval 10"/>
          <p:cNvSpPr>
            <a:spLocks noChangeArrowheads="1"/>
          </p:cNvSpPr>
          <p:nvPr/>
        </p:nvSpPr>
        <p:spPr bwMode="auto">
          <a:xfrm>
            <a:off x="5562600" y="3505200"/>
            <a:ext cx="1066800" cy="685800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i="0">
                <a:solidFill>
                  <a:schemeClr val="accent1"/>
                </a:solidFill>
                <a:latin typeface="Courier New" panose="02070309020205020404" pitchFamily="49" charset="0"/>
              </a:rPr>
              <a:t>9 |10</a:t>
            </a:r>
          </a:p>
        </p:txBody>
      </p:sp>
      <p:cxnSp>
        <p:nvCxnSpPr>
          <p:cNvPr id="47115" name="AutoShape 11"/>
          <p:cNvCxnSpPr>
            <a:cxnSpLocks noChangeShapeType="1"/>
            <a:stCxn id="47107" idx="3"/>
            <a:endCxn id="47113" idx="7"/>
          </p:cNvCxnSpPr>
          <p:nvPr/>
        </p:nvCxnSpPr>
        <p:spPr bwMode="auto">
          <a:xfrm flipH="1">
            <a:off x="1139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6" name="AutoShape 12"/>
          <p:cNvCxnSpPr>
            <a:cxnSpLocks noChangeShapeType="1"/>
            <a:stCxn id="47113" idx="5"/>
            <a:endCxn id="47112" idx="1"/>
          </p:cNvCxnSpPr>
          <p:nvPr/>
        </p:nvCxnSpPr>
        <p:spPr bwMode="auto">
          <a:xfrm>
            <a:off x="1139825" y="4105275"/>
            <a:ext cx="539750" cy="7048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7" name="AutoShape 13"/>
          <p:cNvCxnSpPr>
            <a:cxnSpLocks noChangeShapeType="1"/>
            <a:stCxn id="47113" idx="6"/>
            <a:endCxn id="47111" idx="1"/>
          </p:cNvCxnSpPr>
          <p:nvPr/>
        </p:nvCxnSpPr>
        <p:spPr bwMode="auto">
          <a:xfrm>
            <a:off x="1309688" y="3848100"/>
            <a:ext cx="3036887" cy="9620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8" name="AutoShape 14"/>
          <p:cNvCxnSpPr>
            <a:cxnSpLocks noChangeShapeType="1"/>
            <a:stCxn id="47111" idx="2"/>
            <a:endCxn id="47112" idx="6"/>
          </p:cNvCxnSpPr>
          <p:nvPr/>
        </p:nvCxnSpPr>
        <p:spPr bwMode="auto">
          <a:xfrm flipH="1">
            <a:off x="2605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19" name="AutoShape 15"/>
          <p:cNvCxnSpPr>
            <a:cxnSpLocks noChangeShapeType="1"/>
            <a:stCxn id="47112" idx="0"/>
            <a:endCxn id="47107" idx="4"/>
          </p:cNvCxnSpPr>
          <p:nvPr/>
        </p:nvCxnSpPr>
        <p:spPr bwMode="auto">
          <a:xfrm flipV="1">
            <a:off x="2057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0" name="AutoShape 16"/>
          <p:cNvCxnSpPr>
            <a:cxnSpLocks noChangeShapeType="1"/>
            <a:stCxn id="47107" idx="5"/>
            <a:endCxn id="47111" idx="1"/>
          </p:cNvCxnSpPr>
          <p:nvPr/>
        </p:nvCxnSpPr>
        <p:spPr bwMode="auto">
          <a:xfrm>
            <a:off x="2435225" y="2962275"/>
            <a:ext cx="1911350" cy="1847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1" name="AutoShape 17"/>
          <p:cNvCxnSpPr>
            <a:cxnSpLocks noChangeShapeType="1"/>
            <a:stCxn id="47108" idx="4"/>
            <a:endCxn id="47111" idx="0"/>
          </p:cNvCxnSpPr>
          <p:nvPr/>
        </p:nvCxnSpPr>
        <p:spPr bwMode="auto">
          <a:xfrm>
            <a:off x="4724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2" name="AutoShape 18"/>
          <p:cNvCxnSpPr>
            <a:cxnSpLocks noChangeShapeType="1"/>
            <a:stCxn id="47107" idx="6"/>
            <a:endCxn id="47108" idx="2"/>
          </p:cNvCxnSpPr>
          <p:nvPr/>
        </p:nvCxnSpPr>
        <p:spPr bwMode="auto">
          <a:xfrm>
            <a:off x="2605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3" name="AutoShape 19"/>
          <p:cNvCxnSpPr>
            <a:cxnSpLocks noChangeShapeType="1"/>
            <a:stCxn id="47109" idx="2"/>
            <a:endCxn id="47108" idx="6"/>
          </p:cNvCxnSpPr>
          <p:nvPr/>
        </p:nvCxnSpPr>
        <p:spPr bwMode="auto">
          <a:xfrm flipH="1">
            <a:off x="5272088" y="27051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4" name="AutoShape 20"/>
          <p:cNvCxnSpPr>
            <a:cxnSpLocks noChangeShapeType="1"/>
            <a:stCxn id="47108" idx="5"/>
            <a:endCxn id="47114" idx="1"/>
          </p:cNvCxnSpPr>
          <p:nvPr/>
        </p:nvCxnSpPr>
        <p:spPr bwMode="auto">
          <a:xfrm>
            <a:off x="5102225" y="2962275"/>
            <a:ext cx="615950" cy="628650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5" name="AutoShape 21"/>
          <p:cNvCxnSpPr>
            <a:cxnSpLocks noChangeShapeType="1"/>
            <a:stCxn id="47109" idx="3"/>
            <a:endCxn id="47114" idx="7"/>
          </p:cNvCxnSpPr>
          <p:nvPr/>
        </p:nvCxnSpPr>
        <p:spPr bwMode="auto">
          <a:xfrm flipH="1">
            <a:off x="6473825" y="2962275"/>
            <a:ext cx="539750" cy="6286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6" name="AutoShape 22"/>
          <p:cNvCxnSpPr>
            <a:cxnSpLocks noChangeShapeType="1"/>
            <a:stCxn id="47109" idx="4"/>
            <a:endCxn id="47110" idx="0"/>
          </p:cNvCxnSpPr>
          <p:nvPr/>
        </p:nvCxnSpPr>
        <p:spPr bwMode="auto">
          <a:xfrm>
            <a:off x="7391400" y="3062288"/>
            <a:ext cx="0" cy="1647825"/>
          </a:xfrm>
          <a:prstGeom prst="straightConnector1">
            <a:avLst/>
          </a:prstGeom>
          <a:noFill/>
          <a:ln w="28575">
            <a:solidFill>
              <a:schemeClr val="tx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7" name="AutoShape 23"/>
          <p:cNvCxnSpPr>
            <a:cxnSpLocks noChangeShapeType="1"/>
            <a:stCxn id="47110" idx="2"/>
            <a:endCxn id="47111" idx="6"/>
          </p:cNvCxnSpPr>
          <p:nvPr/>
        </p:nvCxnSpPr>
        <p:spPr bwMode="auto">
          <a:xfrm flipH="1">
            <a:off x="5272088" y="5067300"/>
            <a:ext cx="1571625" cy="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47128" name="AutoShape 24"/>
          <p:cNvCxnSpPr>
            <a:cxnSpLocks noChangeShapeType="1"/>
            <a:stCxn id="47114" idx="3"/>
            <a:endCxn id="47111" idx="7"/>
          </p:cNvCxnSpPr>
          <p:nvPr/>
        </p:nvCxnSpPr>
        <p:spPr bwMode="auto">
          <a:xfrm flipH="1">
            <a:off x="5102225" y="4105275"/>
            <a:ext cx="615950" cy="704850"/>
          </a:xfrm>
          <a:prstGeom prst="straightConnector1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47129" name="Line 25"/>
          <p:cNvSpPr>
            <a:spLocks noChangeShapeType="1"/>
          </p:cNvSpPr>
          <p:nvPr/>
        </p:nvSpPr>
        <p:spPr bwMode="auto">
          <a:xfrm>
            <a:off x="457200" y="2133600"/>
            <a:ext cx="1066800" cy="381000"/>
          </a:xfrm>
          <a:prstGeom prst="line">
            <a:avLst/>
          </a:prstGeom>
          <a:noFill/>
          <a:ln w="28575">
            <a:solidFill>
              <a:schemeClr val="accent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7130" name="Text Box 26"/>
          <p:cNvSpPr txBox="1">
            <a:spLocks noChangeArrowheads="1"/>
          </p:cNvSpPr>
          <p:nvPr/>
        </p:nvSpPr>
        <p:spPr bwMode="auto">
          <a:xfrm>
            <a:off x="76200" y="1447800"/>
            <a:ext cx="8747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source</a:t>
            </a:r>
            <a:b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</a:br>
            <a:r>
              <a:rPr lang="en-US" altLang="en-US" b="1">
                <a:solidFill>
                  <a:schemeClr val="accent1"/>
                </a:solidFill>
                <a:latin typeface="Times New Roman" panose="02020603050405020304" pitchFamily="18" charset="0"/>
              </a:rPr>
              <a:t>vertex</a:t>
            </a:r>
          </a:p>
        </p:txBody>
      </p:sp>
      <p:grpSp>
        <p:nvGrpSpPr>
          <p:cNvPr id="29" name="Group 28"/>
          <p:cNvGrpSpPr/>
          <p:nvPr/>
        </p:nvGrpSpPr>
        <p:grpSpPr>
          <a:xfrm>
            <a:off x="552990" y="1969824"/>
            <a:ext cx="7371378" cy="3798133"/>
            <a:chOff x="552990" y="1969824"/>
            <a:chExt cx="7371378" cy="3798133"/>
          </a:xfrm>
        </p:grpSpPr>
        <p:sp>
          <p:nvSpPr>
            <p:cNvPr id="30" name="TextBox 29"/>
            <p:cNvSpPr txBox="1"/>
            <p:nvPr/>
          </p:nvSpPr>
          <p:spPr>
            <a:xfrm>
              <a:off x="1802757" y="1969824"/>
              <a:ext cx="93146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a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552990" y="3179928"/>
              <a:ext cx="4710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b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922650" y="5398625"/>
              <a:ext cx="120010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</a:t>
              </a: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503761" y="2018146"/>
              <a:ext cx="76832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d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217657" y="5308981"/>
              <a:ext cx="15414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e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6042427" y="4130584"/>
              <a:ext cx="56979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g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7290884" y="5387396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h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7196550" y="2041199"/>
              <a:ext cx="6334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f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9671814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/>
              <a:t>Running Time of DFS</a:t>
            </a:r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/>
              <a:t>initialization takes </a:t>
            </a:r>
            <a:r>
              <a:rPr lang="en-US" altLang="en-US" b="1" i="1"/>
              <a:t>O(V) </a:t>
            </a:r>
            <a:r>
              <a:rPr lang="en-US" altLang="en-US"/>
              <a:t>time</a:t>
            </a:r>
          </a:p>
          <a:p>
            <a:pPr>
              <a:lnSpc>
                <a:spcPct val="90000"/>
              </a:lnSpc>
            </a:pPr>
            <a:r>
              <a:rPr lang="en-US" altLang="en-US"/>
              <a:t>second for loop in non-recursive wrapper considers each vertex, so </a:t>
            </a:r>
            <a:r>
              <a:rPr lang="en-US" altLang="en-US" b="1" i="1"/>
              <a:t>O(V)</a:t>
            </a:r>
            <a:r>
              <a:rPr lang="en-US" altLang="en-US"/>
              <a:t> iterations</a:t>
            </a:r>
          </a:p>
          <a:p>
            <a:pPr>
              <a:lnSpc>
                <a:spcPct val="90000"/>
              </a:lnSpc>
            </a:pPr>
            <a:r>
              <a:rPr lang="en-US" altLang="en-US"/>
              <a:t>one recursive call is made for each vertex</a:t>
            </a:r>
          </a:p>
          <a:p>
            <a:pPr>
              <a:lnSpc>
                <a:spcPct val="90000"/>
              </a:lnSpc>
            </a:pPr>
            <a:r>
              <a:rPr lang="en-US" altLang="en-US"/>
              <a:t>in recursive call for vertex u, all its neighbors are checked; total time in all recursive calls is </a:t>
            </a:r>
            <a:r>
              <a:rPr lang="en-US" altLang="en-US" b="1" i="1"/>
              <a:t>O(E) </a:t>
            </a:r>
          </a:p>
          <a:p>
            <a:pPr>
              <a:lnSpc>
                <a:spcPct val="90000"/>
              </a:lnSpc>
            </a:pPr>
            <a:r>
              <a:rPr lang="en-US" altLang="en-US"/>
              <a:t>Total time is </a:t>
            </a:r>
            <a:r>
              <a:rPr lang="en-US" altLang="en-US" b="1" i="1"/>
              <a:t>O(V+E) </a:t>
            </a:r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7799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3418</TotalTime>
  <Words>1999</Words>
  <Application>Microsoft Office PowerPoint</Application>
  <PresentationFormat>On-screen Show (4:3)</PresentationFormat>
  <Paragraphs>674</Paragraphs>
  <Slides>46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5" baseType="lpstr">
      <vt:lpstr>Arial</vt:lpstr>
      <vt:lpstr>Britannic Bold</vt:lpstr>
      <vt:lpstr>Calibri</vt:lpstr>
      <vt:lpstr>Calibri Light</vt:lpstr>
      <vt:lpstr>Courier New</vt:lpstr>
      <vt:lpstr>Franklin Gothic Book</vt:lpstr>
      <vt:lpstr>Impact</vt:lpstr>
      <vt:lpstr>Times New Roman</vt:lpstr>
      <vt:lpstr>Office Theme</vt:lpstr>
      <vt:lpstr>Lecture 9 Graph-Based Algorithms</vt:lpstr>
      <vt:lpstr>Graphs</vt:lpstr>
      <vt:lpstr>Adjacency Matrix Representation</vt:lpstr>
      <vt:lpstr>Adjacency Matrix Representation</vt:lpstr>
      <vt:lpstr>Adjacency List Representation</vt:lpstr>
      <vt:lpstr>Adjacency List Representation</vt:lpstr>
      <vt:lpstr>Graph Searching</vt:lpstr>
      <vt:lpstr>Graph Traversals</vt:lpstr>
      <vt:lpstr>Breadth-First Search</vt:lpstr>
      <vt:lpstr>Breadth-First Search</vt:lpstr>
      <vt:lpstr>BFS Trees</vt:lpstr>
      <vt:lpstr>Breadth-First Search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Breadth-First Search: Example</vt:lpstr>
      <vt:lpstr>BFS Running Time</vt:lpstr>
      <vt:lpstr>Breadth-First Search: Properties</vt:lpstr>
      <vt:lpstr>Depth-First Search</vt:lpstr>
      <vt:lpstr>Depth-First Search</vt:lpstr>
      <vt:lpstr>DFS Tree</vt:lpstr>
      <vt:lpstr>Depth-First Search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DFS Example</vt:lpstr>
      <vt:lpstr>Running Time of DFS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tmriddle</dc:creator>
  <cp:lastModifiedBy>NSU</cp:lastModifiedBy>
  <cp:revision>146</cp:revision>
  <dcterms:created xsi:type="dcterms:W3CDTF">2014-09-11T18:03:18Z</dcterms:created>
  <dcterms:modified xsi:type="dcterms:W3CDTF">2025-11-30T05:30:30Z</dcterms:modified>
</cp:coreProperties>
</file>